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Playfair Display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Playfair Display SemiBol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7AA24B-9B3A-457C-AF3A-9F730004689C}">
  <a:tblStyle styleId="{B87AA24B-9B3A-457C-AF3A-9F730004689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layfairDisplay-bold.fntdata"/><Relationship Id="rId21" Type="http://schemas.openxmlformats.org/officeDocument/2006/relationships/font" Target="fonts/PlayfairDisplay-regular.fntdata"/><Relationship Id="rId24" Type="http://schemas.openxmlformats.org/officeDocument/2006/relationships/font" Target="fonts/PlayfairDisplay-boldItalic.fntdata"/><Relationship Id="rId23" Type="http://schemas.openxmlformats.org/officeDocument/2006/relationships/font" Target="fonts/PlayfairDisplay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layfairDisplay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ayfairDisplaySemiBold-italic.fntdata"/><Relationship Id="rId30" Type="http://schemas.openxmlformats.org/officeDocument/2006/relationships/font" Target="fonts/PlayfairDisplaySemiBol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PlayfairDisplaySemiBold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4.png"/><Relationship Id="rId6" Type="http://schemas.openxmlformats.org/officeDocument/2006/relationships/image" Target="../media/image23.png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6.png"/><Relationship Id="rId13" Type="http://schemas.openxmlformats.org/officeDocument/2006/relationships/image" Target="../media/image17.png"/><Relationship Id="rId1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image" Target="../media/image5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8.png"/><Relationship Id="rId6" Type="http://schemas.openxmlformats.org/officeDocument/2006/relationships/image" Target="../media/image23.png"/><Relationship Id="rId7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25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23.png"/><Relationship Id="rId6" Type="http://schemas.openxmlformats.org/officeDocument/2006/relationships/image" Target="../media/image26.png"/><Relationship Id="rId7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9" Type="http://schemas.openxmlformats.org/officeDocument/2006/relationships/image" Target="../media/image31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5.png"/><Relationship Id="rId9" Type="http://schemas.openxmlformats.org/officeDocument/2006/relationships/image" Target="../media/image3.png"/><Relationship Id="rId5" Type="http://schemas.openxmlformats.org/officeDocument/2006/relationships/image" Target="../media/image23.png"/><Relationship Id="rId6" Type="http://schemas.openxmlformats.org/officeDocument/2006/relationships/image" Target="../media/image30.png"/><Relationship Id="rId7" Type="http://schemas.openxmlformats.org/officeDocument/2006/relationships/image" Target="../media/image34.png"/><Relationship Id="rId8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3.png"/><Relationship Id="rId5" Type="http://schemas.openxmlformats.org/officeDocument/2006/relationships/image" Target="../media/image32.png"/><Relationship Id="rId6" Type="http://schemas.openxmlformats.org/officeDocument/2006/relationships/image" Target="../media/image23.png"/><Relationship Id="rId7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39.png"/><Relationship Id="rId6" Type="http://schemas.openxmlformats.org/officeDocument/2006/relationships/image" Target="../media/image23.png"/><Relationship Id="rId7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36.png"/><Relationship Id="rId6" Type="http://schemas.openxmlformats.org/officeDocument/2006/relationships/image" Target="../media/image23.png"/><Relationship Id="rId7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8125" y="1680269"/>
            <a:ext cx="1171575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2DD4B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Advanced Data Mining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38125" y="2625030"/>
            <a:ext cx="11715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1F5F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Associations and Correlations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76250" y="3645991"/>
            <a:ext cx="112395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From Market Basket Analysis to Multidimensional Rules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381625" y="4358431"/>
            <a:ext cx="1428750" cy="3810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476250" y="4682281"/>
            <a:ext cx="11239500" cy="14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by,	</a:t>
            </a:r>
            <a:br>
              <a:rPr lang="en-US" sz="210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10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Devansh Singh </a:t>
            </a:r>
            <a:endParaRPr sz="2100">
              <a:solidFill>
                <a:srgbClr val="CBD5E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[RA2311003030543]</a:t>
            </a:r>
            <a:endParaRPr sz="2100">
              <a:solidFill>
                <a:srgbClr val="CBD5E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{Core}- I</a:t>
            </a:r>
            <a:endParaRPr sz="2100">
              <a:solidFill>
                <a:srgbClr val="CBD5E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52075" y="144722"/>
            <a:ext cx="2026224" cy="68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05025"/>
            <a:ext cx="53816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476250" y="476250"/>
            <a:ext cx="117157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Market Basket Analysis (MBA)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476250" y="1228725"/>
            <a:ext cx="11239500" cy="285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476250" y="2052637"/>
            <a:ext cx="565070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D4B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Discovering Purchase Patterns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76250" y="2595562"/>
            <a:ext cx="53816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MBA is a data mining technique used to identify relationships between items frequently purchased together. It powers recommendation systems (e.g., "Customers who bought this also bought...").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05025"/>
            <a:ext cx="53816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809625" y="400526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Goal: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Find correlations in transactional datasets.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09625" y="445293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Application: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Supermarket placement, cross-selling, and inventory management.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09625" y="520541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Example: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If customers buy Bread, do they also buy Butter?</a:t>
            </a:r>
            <a:endParaRPr/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4005262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4452937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5205412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052075" y="144722"/>
            <a:ext cx="2026224" cy="68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638300"/>
            <a:ext cx="3555950" cy="4743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1638300"/>
            <a:ext cx="3555950" cy="4743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59650" y="1638300"/>
            <a:ext cx="3555950" cy="4743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4314825"/>
            <a:ext cx="2965400" cy="801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35314" y="4314825"/>
            <a:ext cx="1921073" cy="8780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86812" y="4314825"/>
            <a:ext cx="2301478" cy="87808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476250" y="476250"/>
            <a:ext cx="117157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Key Metrics: Support, Confidence, Lift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476250" y="1228725"/>
            <a:ext cx="11239500" cy="285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1724084" y="2686050"/>
            <a:ext cx="106013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D4B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Support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771525" y="3371850"/>
            <a:ext cx="2965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Frequency of itemset appearance.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5360759" y="2686050"/>
            <a:ext cx="147018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D4B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Confidence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4613225" y="3371850"/>
            <a:ext cx="2965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Likelihood B is bought if A is bought.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9707522" y="2686050"/>
            <a:ext cx="46005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D4B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Lift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454925" y="3371850"/>
            <a:ext cx="2965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Strength of association vs. chance.</a:t>
            </a:r>
            <a:endParaRPr/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996975" y="198120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09650" y="4505325"/>
            <a:ext cx="2536775" cy="420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95826" y="198120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373439" y="4505325"/>
            <a:ext cx="1492448" cy="4970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51801" y="198120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024937" y="4505325"/>
            <a:ext cx="1872853" cy="497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0052075" y="144722"/>
            <a:ext cx="2026224" cy="68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05025"/>
            <a:ext cx="53816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476250" y="476250"/>
            <a:ext cx="117157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Apriori Algorithm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476250" y="1228725"/>
            <a:ext cx="11239500" cy="285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476250" y="2205037"/>
            <a:ext cx="565070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D4B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The "Bottom-Up" Approach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476250" y="2747962"/>
            <a:ext cx="5381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Apriori iteratively identifies frequent itemsets by expanding from 1-itemsets to k-itemsets.</a:t>
            </a:r>
            <a:endParaRPr/>
          </a:p>
        </p:txBody>
      </p:sp>
      <p:pic>
        <p:nvPicPr>
          <p:cNvPr descr="image.png" id="145" name="Google Shape;14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05025"/>
            <a:ext cx="53816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809625" y="35480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Apriori Property: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If an itemset is frequent, all its subsets must also be frequent.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809625" y="430053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Pruning: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Effectively removes infrequent candidates to save computation.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09625" y="505301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Iterative: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Generate candidates → Prune based on Min Support → Repeat.</a:t>
            </a:r>
            <a:endParaRPr/>
          </a:p>
        </p:txBody>
      </p:sp>
      <p:pic>
        <p:nvPicPr>
          <p:cNvPr descr="image.png" id="149" name="Google Shape;14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3548062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4300537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5053012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052075" y="144722"/>
            <a:ext cx="2026224" cy="68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6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476250" y="476250"/>
            <a:ext cx="117157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Apriori in Action: Data Walkthrough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476250" y="1228725"/>
            <a:ext cx="11239500" cy="285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476250" y="1828800"/>
            <a:ext cx="11239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Scenario: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Min Support = 40%, Min Confidence = 60%. Total Transactions = 5.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476250" y="2647950"/>
            <a:ext cx="5381625" cy="3600450"/>
          </a:xfrm>
          <a:prstGeom prst="roundRect">
            <a:avLst>
              <a:gd fmla="val 0" name="adj"/>
            </a:avLst>
          </a:prstGeom>
          <a:solidFill>
            <a:srgbClr val="0F172A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6334125" y="2362200"/>
            <a:ext cx="565070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D4B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Calculation &amp; Result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334125" y="2905125"/>
            <a:ext cx="5381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 Support Check: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Milk (60%), Bread (80%), Butter (60%). Jam (20%) is pruned.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334125" y="3705225"/>
            <a:ext cx="5381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2. Frequent Pairs: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{Milk, Bread}, {Milk, Butter}, {Bread, Butter} (All 40%).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334125" y="4505325"/>
            <a:ext cx="5381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3. Rule Generation: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334125" y="5848350"/>
            <a:ext cx="5381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Conf = 40% / 60% =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66.7%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(Valid Rule)</a:t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476250" y="3228975"/>
            <a:ext cx="1042838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1519088" y="3228975"/>
            <a:ext cx="4338786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9" name="Google Shape;16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2250" y="5257800"/>
            <a:ext cx="1784746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/>
          <p:nvPr/>
        </p:nvSpPr>
        <p:spPr>
          <a:xfrm>
            <a:off x="476250" y="3843337"/>
            <a:ext cx="104283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1519088" y="3843337"/>
            <a:ext cx="433878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476250" y="4443412"/>
            <a:ext cx="104283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1519088" y="4443412"/>
            <a:ext cx="433878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476250" y="5043487"/>
            <a:ext cx="104283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1519088" y="5043487"/>
            <a:ext cx="433878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476250" y="5643562"/>
            <a:ext cx="104283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1519088" y="5643562"/>
            <a:ext cx="433878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8" name="Google Shape;178;p17"/>
          <p:cNvGraphicFramePr/>
          <p:nvPr/>
        </p:nvGraphicFramePr>
        <p:xfrm>
          <a:off x="476250" y="26479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{B87AA24B-9B3A-457C-AF3A-9F730004689C}</a:tableStyleId>
              </a:tblPr>
              <a:tblGrid>
                <a:gridCol w="1042850"/>
                <a:gridCol w="4338775"/>
              </a:tblGrid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CD34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CD34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Items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Milk, Bread, Butter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Milk, Bread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Bread, Butter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Milk, Butter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Bread, Jam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79" name="Google Shape;17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52075" y="144722"/>
            <a:ext cx="2026224" cy="68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3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105025"/>
            <a:ext cx="53816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476250" y="476250"/>
            <a:ext cx="117157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FP-Growth: No Candidate Generation</a:t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476250" y="1228725"/>
            <a:ext cx="11239500" cy="285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6334125" y="1828800"/>
            <a:ext cx="565070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D4B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Efficiency Over Apriori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6334125" y="2371725"/>
            <a:ext cx="5381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Apriori requires multiple database scans. FP-Growth is faster.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6667500" y="317182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Concept: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Compresses the dataset into a Frequent Pattern Tree (FP-Tree).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6667500" y="39243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Process: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Scans DB once to count items, then builds tree.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6667500" y="4676775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Mechanism: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Uses a divide-and-conquer strategy to extract frequent itemsets directly from the tree structure.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6667500" y="573405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Result: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Significantly faster for large, dense datasets.</a:t>
            </a:r>
            <a:endParaRPr/>
          </a:p>
        </p:txBody>
      </p:sp>
      <p:pic>
        <p:nvPicPr>
          <p:cNvPr descr="image.png" id="194" name="Google Shape;19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171825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92430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4676775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573405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8"/>
          <p:cNvPicPr preferRelativeResize="0"/>
          <p:nvPr/>
        </p:nvPicPr>
        <p:blipFill rotWithShape="1">
          <a:blip r:embed="rId6">
            <a:alphaModFix/>
          </a:blip>
          <a:srcRect b="6933" l="0" r="0" t="0"/>
          <a:stretch/>
        </p:blipFill>
        <p:spPr>
          <a:xfrm>
            <a:off x="476250" y="1371600"/>
            <a:ext cx="5381626" cy="5104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052075" y="144722"/>
            <a:ext cx="2026224" cy="68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476250" y="415379"/>
            <a:ext cx="117157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Mining with Vertical Data Format (ECLAT)</a:t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476250" y="1167854"/>
            <a:ext cx="11239500" cy="285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476250" y="1767929"/>
            <a:ext cx="11239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Horizontal formats store transactions. Vertical formats store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Transaction ID (TID) sets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for each item.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476250" y="5997029"/>
            <a:ext cx="11239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CD34D"/>
                </a:solidFill>
                <a:latin typeface="Inter"/>
                <a:ea typeface="Inter"/>
                <a:cs typeface="Inter"/>
                <a:sym typeface="Inter"/>
              </a:rPr>
              <a:t>*Intersection of TID sets allows fast support calculation without scanning the whole DB.*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476250" y="2563266"/>
            <a:ext cx="565070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D4B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Horizontal (Standard)</a:t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476250" y="3106191"/>
            <a:ext cx="5381625" cy="2400300"/>
          </a:xfrm>
          <a:prstGeom prst="roundRect">
            <a:avLst>
              <a:gd fmla="val 0" name="adj"/>
            </a:avLst>
          </a:prstGeom>
          <a:solidFill>
            <a:srgbClr val="0F172A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1" name="Google Shape;211;p19"/>
          <p:cNvGraphicFramePr/>
          <p:nvPr/>
        </p:nvGraphicFramePr>
        <p:xfrm>
          <a:off x="476250" y="31061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{B87AA24B-9B3A-457C-AF3A-9F730004689C}</a:tableStyleId>
              </a:tblPr>
              <a:tblGrid>
                <a:gridCol w="1852600"/>
                <a:gridCol w="3529000"/>
              </a:tblGrid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CD34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CD34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Items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A, B, 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B, C, 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A, B, C, 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2" name="Google Shape;212;p19"/>
          <p:cNvSpPr txBox="1"/>
          <p:nvPr/>
        </p:nvSpPr>
        <p:spPr>
          <a:xfrm>
            <a:off x="6334125" y="2263229"/>
            <a:ext cx="565070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D4B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Vertical (TID Sets)</a:t>
            </a:r>
            <a:endParaRPr/>
          </a:p>
        </p:txBody>
      </p:sp>
      <p:sp>
        <p:nvSpPr>
          <p:cNvPr id="213" name="Google Shape;213;p19"/>
          <p:cNvSpPr/>
          <p:nvPr/>
        </p:nvSpPr>
        <p:spPr>
          <a:xfrm>
            <a:off x="6334125" y="2806154"/>
            <a:ext cx="5381625" cy="3000375"/>
          </a:xfrm>
          <a:prstGeom prst="roundRect">
            <a:avLst>
              <a:gd fmla="val 0" name="adj"/>
            </a:avLst>
          </a:prstGeom>
          <a:solidFill>
            <a:srgbClr val="0F172A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4" name="Google Shape;214;p19"/>
          <p:cNvGraphicFramePr/>
          <p:nvPr/>
        </p:nvGraphicFramePr>
        <p:xfrm>
          <a:off x="6334125" y="28061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{B87AA24B-9B3A-457C-AF3A-9F730004689C}</a:tableStyleId>
              </a:tblPr>
              <a:tblGrid>
                <a:gridCol w="2219475"/>
                <a:gridCol w="3162150"/>
              </a:tblGrid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CD34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Item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CD34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TID Set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{1, 3}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{1, 2, 3}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{2, 3}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{1, 2, 3}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5" name="Google Shape;215;p19"/>
          <p:cNvSpPr/>
          <p:nvPr/>
        </p:nvSpPr>
        <p:spPr>
          <a:xfrm>
            <a:off x="476250" y="3687216"/>
            <a:ext cx="1852612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2328862" y="3687216"/>
            <a:ext cx="3529012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6334125" y="3387179"/>
            <a:ext cx="2219473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8553598" y="3387179"/>
            <a:ext cx="3162151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476250" y="4301579"/>
            <a:ext cx="185261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2328862" y="4301579"/>
            <a:ext cx="352901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476250" y="4901654"/>
            <a:ext cx="185261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2328862" y="4901654"/>
            <a:ext cx="352901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6334125" y="4001541"/>
            <a:ext cx="22194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8553598" y="4001541"/>
            <a:ext cx="316215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6334125" y="4601616"/>
            <a:ext cx="22194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8553598" y="4601616"/>
            <a:ext cx="316215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6334125" y="5201691"/>
            <a:ext cx="22194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8553598" y="5201691"/>
            <a:ext cx="316215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52075" y="144722"/>
            <a:ext cx="2026224" cy="68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638300"/>
            <a:ext cx="3555950" cy="4743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1638300"/>
            <a:ext cx="3555950" cy="4743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59650" y="1638300"/>
            <a:ext cx="355595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/>
        </p:nvSpPr>
        <p:spPr>
          <a:xfrm>
            <a:off x="476250" y="476250"/>
            <a:ext cx="117157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Closed Frequent Itemsets</a:t>
            </a:r>
            <a:endParaRPr/>
          </a:p>
        </p:txBody>
      </p:sp>
      <p:sp>
        <p:nvSpPr>
          <p:cNvPr id="239" name="Google Shape;239;p20"/>
          <p:cNvSpPr/>
          <p:nvPr/>
        </p:nvSpPr>
        <p:spPr>
          <a:xfrm>
            <a:off x="476250" y="1228725"/>
            <a:ext cx="11239500" cy="285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1599068" y="2686050"/>
            <a:ext cx="131016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D4B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Definition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771525" y="3371850"/>
            <a:ext cx="296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 itemset X is "closed" if no superset of X has the same support count as X.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5430768" y="2686050"/>
            <a:ext cx="133016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D4B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Advantage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4613225" y="3371850"/>
            <a:ext cx="2965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Reduces redundancy. Instead of storing all frequent patterns, we store a compact set without losing information.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9382482" y="2686050"/>
            <a:ext cx="111013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D4B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Example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8454925" y="3371850"/>
            <a:ext cx="296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If {A, B} support is 3, and superset {A, B, C} support is 2, then {A, B} is likely closed.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8454925" y="4629150"/>
            <a:ext cx="29654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(Assuming no other superset has support 3)</a:t>
            </a:r>
            <a:endParaRPr/>
          </a:p>
        </p:txBody>
      </p:sp>
      <p:pic>
        <p:nvPicPr>
          <p:cNvPr descr="image.png" id="247" name="Google Shape;24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68400" y="198120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95826" y="198120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08951" y="19812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052075" y="144722"/>
            <a:ext cx="2026224" cy="68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633662"/>
            <a:ext cx="5381625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1"/>
          <p:cNvSpPr txBox="1"/>
          <p:nvPr/>
        </p:nvSpPr>
        <p:spPr>
          <a:xfrm>
            <a:off x="476250" y="476250"/>
            <a:ext cx="117157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Multilevel Association Rules</a:t>
            </a:r>
            <a:endParaRPr/>
          </a:p>
        </p:txBody>
      </p:sp>
      <p:sp>
        <p:nvSpPr>
          <p:cNvPr id="258" name="Google Shape;258;p21"/>
          <p:cNvSpPr/>
          <p:nvPr/>
        </p:nvSpPr>
        <p:spPr>
          <a:xfrm>
            <a:off x="476250" y="1228725"/>
            <a:ext cx="11239500" cy="285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476250" y="2243137"/>
            <a:ext cx="565070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D4B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Mining at Different Abstractions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476250" y="2786062"/>
            <a:ext cx="5381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Items often belong to hierarchies. We can mine rules at multiple levels.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476250" y="4976812"/>
            <a:ext cx="5381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Strategy: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 lower support thresholds for lower levels (specific items are less frequent than categories).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7848600" y="2928937"/>
            <a:ext cx="247030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D4B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Hierarchy Example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809625" y="358616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Level 1 (Category):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{Beverages} → {Snacks}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809625" y="403383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Level 2 (Subcategory):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{Soft Drinks} → {Chips}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809625" y="448151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Level 3 (Item):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{Coca-Cola} → {Lays}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6838950" y="3614737"/>
            <a:ext cx="2762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Beverages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(Support 100%)</a:t>
            </a:r>
            <a:endParaRPr/>
          </a:p>
        </p:txBody>
      </p:sp>
      <p:pic>
        <p:nvPicPr>
          <p:cNvPr descr="image.png" id="267" name="Google Shape;26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3586162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4033837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4481512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38950" y="3629025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1"/>
          <p:cNvSpPr txBox="1"/>
          <p:nvPr/>
        </p:nvSpPr>
        <p:spPr>
          <a:xfrm>
            <a:off x="7124700" y="4014787"/>
            <a:ext cx="247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Soft Drinks (60%)</a:t>
            </a:r>
            <a:endParaRPr/>
          </a:p>
        </p:txBody>
      </p:sp>
      <p:pic>
        <p:nvPicPr>
          <p:cNvPr descr="image.png" id="272" name="Google Shape;27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24700" y="402907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1"/>
          <p:cNvSpPr txBox="1"/>
          <p:nvPr/>
        </p:nvSpPr>
        <p:spPr>
          <a:xfrm>
            <a:off x="7410450" y="4329112"/>
            <a:ext cx="2190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Coca-Cola (40%)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7410450" y="4633912"/>
            <a:ext cx="2190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Pepsi (20%)</a:t>
            </a:r>
            <a:endParaRPr/>
          </a:p>
        </p:txBody>
      </p:sp>
      <p:pic>
        <p:nvPicPr>
          <p:cNvPr descr="image.png" id="275" name="Google Shape;275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10450" y="4381500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10450" y="4686300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052075" y="144722"/>
            <a:ext cx="2026224" cy="68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859434"/>
            <a:ext cx="5381625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2"/>
          <p:cNvSpPr txBox="1"/>
          <p:nvPr/>
        </p:nvSpPr>
        <p:spPr>
          <a:xfrm>
            <a:off x="476250" y="476250"/>
            <a:ext cx="117157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Multidimensional Association Rules</a:t>
            </a:r>
            <a:endParaRPr/>
          </a:p>
        </p:txBody>
      </p:sp>
      <p:sp>
        <p:nvSpPr>
          <p:cNvPr id="285" name="Google Shape;285;p22"/>
          <p:cNvSpPr/>
          <p:nvPr/>
        </p:nvSpPr>
        <p:spPr>
          <a:xfrm>
            <a:off x="476250" y="1228725"/>
            <a:ext cx="11239500" cy="285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2"/>
          <p:cNvSpPr txBox="1"/>
          <p:nvPr/>
        </p:nvSpPr>
        <p:spPr>
          <a:xfrm>
            <a:off x="476250" y="2059334"/>
            <a:ext cx="5381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Extends mining beyond just "items" to include attributes like Age, Gender, and Location.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476250" y="5431184"/>
            <a:ext cx="5381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Rule Example: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(Age=20-30, Location=Urban) → (Buys=Sports Shoes)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6334125" y="2471737"/>
            <a:ext cx="565070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D4B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Types of Rules</a:t>
            </a:r>
            <a:endParaRPr/>
          </a:p>
        </p:txBody>
      </p:sp>
      <p:pic>
        <p:nvPicPr>
          <p:cNvPr descr="image.png" id="289" name="Google Shape;28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2859434"/>
            <a:ext cx="5381625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2"/>
          <p:cNvSpPr txBox="1"/>
          <p:nvPr/>
        </p:nvSpPr>
        <p:spPr>
          <a:xfrm>
            <a:off x="6667500" y="2976562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Inter-Dimension: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Relationships between different dimensions.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(Education=Grad) → (Income=High)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6667500" y="403383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Hybrid-Dimension: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Mixes attributes and items.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(Age=25-40, USA) → {Laptop}</a:t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6667500" y="478631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Intra-Dimension: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Patterns within the same dimension.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(Category=Electronics) → (Buys=Phone)</a:t>
            </a:r>
            <a:endParaRPr/>
          </a:p>
        </p:txBody>
      </p:sp>
      <p:pic>
        <p:nvPicPr>
          <p:cNvPr descr="image.png" id="293" name="Google Shape;29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976562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033837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786312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052075" y="144722"/>
            <a:ext cx="2026224" cy="68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1" name="Google Shape;30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05025"/>
            <a:ext cx="53816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3"/>
          <p:cNvSpPr txBox="1"/>
          <p:nvPr/>
        </p:nvSpPr>
        <p:spPr>
          <a:xfrm>
            <a:off x="476250" y="476250"/>
            <a:ext cx="117157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Constraint-Based Mining</a:t>
            </a:r>
            <a:endParaRPr/>
          </a:p>
        </p:txBody>
      </p:sp>
      <p:sp>
        <p:nvSpPr>
          <p:cNvPr id="304" name="Google Shape;304;p23"/>
          <p:cNvSpPr/>
          <p:nvPr/>
        </p:nvSpPr>
        <p:spPr>
          <a:xfrm>
            <a:off x="476250" y="1228725"/>
            <a:ext cx="11239500" cy="285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3"/>
          <p:cNvSpPr txBox="1"/>
          <p:nvPr/>
        </p:nvSpPr>
        <p:spPr>
          <a:xfrm>
            <a:off x="476250" y="2509837"/>
            <a:ext cx="565070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D4B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Filtering for Relevance</a:t>
            </a:r>
            <a:endParaRPr/>
          </a:p>
        </p:txBody>
      </p:sp>
      <p:sp>
        <p:nvSpPr>
          <p:cNvPr id="306" name="Google Shape;306;p23"/>
          <p:cNvSpPr txBox="1"/>
          <p:nvPr/>
        </p:nvSpPr>
        <p:spPr>
          <a:xfrm>
            <a:off x="476250" y="3052762"/>
            <a:ext cx="5381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Instead of mining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all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rules, users define constraints to focus on useful patterns.</a:t>
            </a:r>
            <a:endParaRPr/>
          </a:p>
        </p:txBody>
      </p:sp>
      <p:pic>
        <p:nvPicPr>
          <p:cNvPr descr="image.png" id="307" name="Google Shape;30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05025"/>
            <a:ext cx="53816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3"/>
          <p:cNvSpPr txBox="1"/>
          <p:nvPr/>
        </p:nvSpPr>
        <p:spPr>
          <a:xfrm>
            <a:off x="809625" y="38528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Knowledge-Based: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"Only find rules involving Electronics."</a:t>
            </a:r>
            <a:endParaRPr/>
          </a:p>
        </p:txBody>
      </p:sp>
      <p:sp>
        <p:nvSpPr>
          <p:cNvPr id="309" name="Google Shape;309;p23"/>
          <p:cNvSpPr txBox="1"/>
          <p:nvPr/>
        </p:nvSpPr>
        <p:spPr>
          <a:xfrm>
            <a:off x="809625" y="460533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 Constraints: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"Transactions &gt; $100."</a:t>
            </a:r>
            <a:endParaRPr/>
          </a:p>
        </p:txBody>
      </p:sp>
      <p:sp>
        <p:nvSpPr>
          <p:cNvPr id="310" name="Google Shape;310;p23"/>
          <p:cNvSpPr txBox="1"/>
          <p:nvPr/>
        </p:nvSpPr>
        <p:spPr>
          <a:xfrm>
            <a:off x="809625" y="505301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Aggregate Constraints: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"Total Price &gt; $200."</a:t>
            </a:r>
            <a:endParaRPr/>
          </a:p>
        </p:txBody>
      </p:sp>
      <p:pic>
        <p:nvPicPr>
          <p:cNvPr descr="image.png" id="311" name="Google Shape;31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3852862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4605337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5053012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052075" y="144722"/>
            <a:ext cx="2026224" cy="68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9" name="Google Shape;31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105025"/>
            <a:ext cx="53816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4"/>
          <p:cNvSpPr txBox="1"/>
          <p:nvPr/>
        </p:nvSpPr>
        <p:spPr>
          <a:xfrm>
            <a:off x="476250" y="476250"/>
            <a:ext cx="117157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Correlation Analysis</a:t>
            </a:r>
            <a:endParaRPr/>
          </a:p>
        </p:txBody>
      </p:sp>
      <p:sp>
        <p:nvSpPr>
          <p:cNvPr id="322" name="Google Shape;322;p24"/>
          <p:cNvSpPr/>
          <p:nvPr/>
        </p:nvSpPr>
        <p:spPr>
          <a:xfrm>
            <a:off x="476250" y="1228725"/>
            <a:ext cx="11239500" cy="285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3" name="Google Shape;32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2105025"/>
            <a:ext cx="53816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4"/>
          <p:cNvSpPr txBox="1"/>
          <p:nvPr/>
        </p:nvSpPr>
        <p:spPr>
          <a:xfrm>
            <a:off x="6334125" y="2509837"/>
            <a:ext cx="565070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D4B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Beyond Association</a:t>
            </a:r>
            <a:endParaRPr/>
          </a:p>
        </p:txBody>
      </p:sp>
      <p:sp>
        <p:nvSpPr>
          <p:cNvPr id="325" name="Google Shape;325;p24"/>
          <p:cNvSpPr txBox="1"/>
          <p:nvPr/>
        </p:nvSpPr>
        <p:spPr>
          <a:xfrm>
            <a:off x="6334125" y="3052762"/>
            <a:ext cx="5381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Association rules find frequency (A &amp; B happen together). Correlation measures the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direction and strength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of the relationship.</a:t>
            </a:r>
            <a:endParaRPr/>
          </a:p>
        </p:txBody>
      </p:sp>
      <p:sp>
        <p:nvSpPr>
          <p:cNvPr id="326" name="Google Shape;326;p24"/>
          <p:cNvSpPr txBox="1"/>
          <p:nvPr/>
        </p:nvSpPr>
        <p:spPr>
          <a:xfrm>
            <a:off x="6667500" y="415766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Positive: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increases → B increases.</a:t>
            </a:r>
            <a:endParaRPr/>
          </a:p>
        </p:txBody>
      </p:sp>
      <p:sp>
        <p:nvSpPr>
          <p:cNvPr id="327" name="Google Shape;327;p24"/>
          <p:cNvSpPr txBox="1"/>
          <p:nvPr/>
        </p:nvSpPr>
        <p:spPr>
          <a:xfrm>
            <a:off x="6667500" y="460533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Negative: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increases → B decreases.</a:t>
            </a:r>
            <a:endParaRPr/>
          </a:p>
        </p:txBody>
      </p:sp>
      <p:sp>
        <p:nvSpPr>
          <p:cNvPr id="328" name="Google Shape;328;p24"/>
          <p:cNvSpPr txBox="1"/>
          <p:nvPr/>
        </p:nvSpPr>
        <p:spPr>
          <a:xfrm>
            <a:off x="6667500" y="505301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Independent: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No relationship (Lift = 1).</a:t>
            </a:r>
            <a:endParaRPr/>
          </a:p>
        </p:txBody>
      </p:sp>
      <p:pic>
        <p:nvPicPr>
          <p:cNvPr descr="image.png" id="329" name="Google Shape;32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157662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605337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5053012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052075" y="144722"/>
            <a:ext cx="2026224" cy="68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7" name="Google Shape;33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5"/>
          <p:cNvSpPr txBox="1"/>
          <p:nvPr/>
        </p:nvSpPr>
        <p:spPr>
          <a:xfrm>
            <a:off x="476250" y="476250"/>
            <a:ext cx="117157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Measures of Correlation</a:t>
            </a:r>
            <a:endParaRPr/>
          </a:p>
        </p:txBody>
      </p:sp>
      <p:sp>
        <p:nvSpPr>
          <p:cNvPr id="339" name="Google Shape;339;p25"/>
          <p:cNvSpPr/>
          <p:nvPr/>
        </p:nvSpPr>
        <p:spPr>
          <a:xfrm>
            <a:off x="476250" y="1228725"/>
            <a:ext cx="11239500" cy="285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5"/>
          <p:cNvSpPr txBox="1"/>
          <p:nvPr/>
        </p:nvSpPr>
        <p:spPr>
          <a:xfrm>
            <a:off x="476250" y="2775644"/>
            <a:ext cx="565070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D4B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Pearson Coefficient (r)</a:t>
            </a:r>
            <a:endParaRPr/>
          </a:p>
        </p:txBody>
      </p:sp>
      <p:sp>
        <p:nvSpPr>
          <p:cNvPr id="341" name="Google Shape;341;p25"/>
          <p:cNvSpPr txBox="1"/>
          <p:nvPr/>
        </p:nvSpPr>
        <p:spPr>
          <a:xfrm>
            <a:off x="476250" y="3318569"/>
            <a:ext cx="5381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For linear relationships between continuous variables (-1 to +1).</a:t>
            </a:r>
            <a:endParaRPr/>
          </a:p>
        </p:txBody>
      </p:sp>
      <p:sp>
        <p:nvSpPr>
          <p:cNvPr id="342" name="Google Shape;342;p25"/>
          <p:cNvSpPr txBox="1"/>
          <p:nvPr/>
        </p:nvSpPr>
        <p:spPr>
          <a:xfrm>
            <a:off x="6334125" y="2788890"/>
            <a:ext cx="565070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D4B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Chi-Square Test</a:t>
            </a:r>
            <a:endParaRPr/>
          </a:p>
        </p:txBody>
      </p:sp>
      <p:sp>
        <p:nvSpPr>
          <p:cNvPr id="343" name="Google Shape;343;p25"/>
          <p:cNvSpPr txBox="1"/>
          <p:nvPr/>
        </p:nvSpPr>
        <p:spPr>
          <a:xfrm>
            <a:off x="6334125" y="3331815"/>
            <a:ext cx="5381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For categorical data independence.</a:t>
            </a:r>
            <a:endParaRPr/>
          </a:p>
        </p:txBody>
      </p:sp>
      <p:sp>
        <p:nvSpPr>
          <p:cNvPr id="344" name="Google Shape;344;p25"/>
          <p:cNvSpPr txBox="1"/>
          <p:nvPr/>
        </p:nvSpPr>
        <p:spPr>
          <a:xfrm>
            <a:off x="6334125" y="4834979"/>
            <a:ext cx="5381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 = Observed, E = Expected</a:t>
            </a:r>
            <a:endParaRPr/>
          </a:p>
        </p:txBody>
      </p:sp>
      <p:pic>
        <p:nvPicPr>
          <p:cNvPr descr="image.png" id="345" name="Google Shape;34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4309169"/>
            <a:ext cx="4953000" cy="601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6" name="Google Shape;34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2250" y="4017615"/>
            <a:ext cx="4953000" cy="483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52075" y="144722"/>
            <a:ext cx="2026224" cy="68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6"/>
          <p:cNvSpPr txBox="1"/>
          <p:nvPr/>
        </p:nvSpPr>
        <p:spPr>
          <a:xfrm>
            <a:off x="3585761" y="2967307"/>
            <a:ext cx="502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DD4B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</a:t>
            </a:r>
            <a:endParaRPr/>
          </a:p>
        </p:txBody>
      </p:sp>
      <p:pic>
        <p:nvPicPr>
          <p:cNvPr id="353" name="Google Shape;3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2075" y="144722"/>
            <a:ext cx="2026224" cy="68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