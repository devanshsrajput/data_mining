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embeddedFontLst>
    <p:embeddedFont>
      <p:font typeface="Liter"/>
      <p:regular r:id="rId18"/>
    </p:embeddedFont>
    <p:embeddedFont>
      <p:font typeface="Quattrocen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11" Type="http://schemas.openxmlformats.org/officeDocument/2006/relationships/slide" Target="slides/slide7.xml"/><Relationship Id="rId22" Type="http://schemas.openxmlformats.org/officeDocument/2006/relationships/font" Target="fonts/QuattrocentoSans-boldItalic.fntdata"/><Relationship Id="rId10" Type="http://schemas.openxmlformats.org/officeDocument/2006/relationships/slide" Target="slides/slide6.xml"/><Relationship Id="rId21" Type="http://schemas.openxmlformats.org/officeDocument/2006/relationships/font" Target="fonts/Quattrocento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QuattrocentoSans-regular.fntdata"/><Relationship Id="rId6" Type="http://schemas.openxmlformats.org/officeDocument/2006/relationships/slide" Target="slides/slide2.xml"/><Relationship Id="rId18" Type="http://schemas.openxmlformats.org/officeDocument/2006/relationships/font" Target="fonts/Liter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2" name="Google Shape;65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0" name="Google Shape;72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5" name="Google Shape;78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d82d20d8f33cc9c8ba5caf03d5dc3be37cdd6cdc.jpg" id="13" name="Google Shape;13;p4"/>
          <p:cNvPicPr preferRelativeResize="0"/>
          <p:nvPr/>
        </p:nvPicPr>
        <p:blipFill rotWithShape="1">
          <a:blip r:embed="rId3">
            <a:alphaModFix amt="40000"/>
          </a:blip>
          <a:srcRect b="0" l="1443" r="1444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4" name="Google Shape;14;p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C">
                  <a:alpha val="89803"/>
                </a:srgbClr>
              </a:gs>
              <a:gs pos="50000">
                <a:srgbClr val="1A202C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243721" y="1482644"/>
            <a:ext cx="3596640" cy="510540"/>
          </a:xfrm>
          <a:custGeom>
            <a:rect b="b" l="l" r="r" t="t"/>
            <a:pathLst>
              <a:path extrusionOk="0" h="510540" w="3596640">
                <a:moveTo>
                  <a:pt x="76198" y="0"/>
                </a:moveTo>
                <a:lnTo>
                  <a:pt x="3520442" y="0"/>
                </a:lnTo>
                <a:cubicBezTo>
                  <a:pt x="3562525" y="0"/>
                  <a:pt x="3596640" y="34115"/>
                  <a:pt x="3596640" y="76198"/>
                </a:cubicBezTo>
                <a:lnTo>
                  <a:pt x="3596640" y="434342"/>
                </a:lnTo>
                <a:cubicBezTo>
                  <a:pt x="3596640" y="476425"/>
                  <a:pt x="3562525" y="510540"/>
                  <a:pt x="3520442" y="510540"/>
                </a:cubicBezTo>
                <a:lnTo>
                  <a:pt x="76198" y="510540"/>
                </a:lnTo>
                <a:cubicBezTo>
                  <a:pt x="34115" y="510540"/>
                  <a:pt x="0" y="476425"/>
                  <a:pt x="0" y="43434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cap="flat" cmpd="sng" w="203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4"/>
          <p:cNvSpPr/>
          <p:nvPr/>
        </p:nvSpPr>
        <p:spPr>
          <a:xfrm>
            <a:off x="381000" y="1631234"/>
            <a:ext cx="3215521" cy="213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MINING FUNDAMENTALS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381000" y="2164318"/>
            <a:ext cx="53054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Intro 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Data Mining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381000" y="4958833"/>
            <a:ext cx="83058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Devansh Singh [RA2311003030543]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CSE Core – I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III-Year, VI-Semester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08906" y="105968"/>
            <a:ext cx="1502714" cy="56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381000" y="381000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495300" y="495300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952500" y="381000"/>
            <a:ext cx="11087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What is Data Mining?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952500" y="914400"/>
            <a:ext cx="10944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Foundation of Knowledge Discovery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400050" y="1333500"/>
            <a:ext cx="11410950" cy="923925"/>
          </a:xfrm>
          <a:custGeom>
            <a:rect b="b" l="l" r="r" t="t"/>
            <a:pathLst>
              <a:path extrusionOk="0" h="923925" w="11410950">
                <a:moveTo>
                  <a:pt x="38100" y="0"/>
                </a:moveTo>
                <a:lnTo>
                  <a:pt x="11296651" y="0"/>
                </a:lnTo>
                <a:cubicBezTo>
                  <a:pt x="11359777" y="0"/>
                  <a:pt x="11410950" y="51173"/>
                  <a:pt x="11410950" y="114299"/>
                </a:cubicBezTo>
                <a:lnTo>
                  <a:pt x="11410950" y="809626"/>
                </a:lnTo>
                <a:cubicBezTo>
                  <a:pt x="11410950" y="872752"/>
                  <a:pt x="11359777" y="923925"/>
                  <a:pt x="11296651" y="923925"/>
                </a:cubicBezTo>
                <a:lnTo>
                  <a:pt x="38100" y="923925"/>
                </a:lnTo>
                <a:cubicBezTo>
                  <a:pt x="17072" y="923925"/>
                  <a:pt x="0" y="906853"/>
                  <a:pt x="0" y="885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400050" y="1333500"/>
            <a:ext cx="38100" cy="923925"/>
          </a:xfrm>
          <a:custGeom>
            <a:rect b="b" l="l" r="r" t="t"/>
            <a:pathLst>
              <a:path extrusionOk="0" h="923925" w="38100">
                <a:moveTo>
                  <a:pt x="38100" y="0"/>
                </a:moveTo>
                <a:lnTo>
                  <a:pt x="38100" y="0"/>
                </a:lnTo>
                <a:lnTo>
                  <a:pt x="38100" y="923925"/>
                </a:lnTo>
                <a:lnTo>
                  <a:pt x="38100" y="923925"/>
                </a:lnTo>
                <a:cubicBezTo>
                  <a:pt x="17072" y="923925"/>
                  <a:pt x="0" y="906853"/>
                  <a:pt x="0" y="8858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571500" y="1485900"/>
            <a:ext cx="111823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Mining</a:t>
            </a:r>
            <a:r>
              <a:rPr lang="en-US" sz="15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is the process of extracting valuable information from huge sets of data, also known as </a:t>
            </a:r>
            <a:r>
              <a:rPr b="1" lang="en-US" sz="1500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Knowledge Discovery in Database (KDD)</a:t>
            </a:r>
            <a:r>
              <a:rPr lang="en-US" sz="15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It transforms raw data into useful information for business decisions.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381000" y="2379345"/>
            <a:ext cx="1533525" cy="1569720"/>
          </a:xfrm>
          <a:custGeom>
            <a:rect b="b" l="l" r="r" t="t"/>
            <a:pathLst>
              <a:path extrusionOk="0" h="156972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493519"/>
                </a:lnTo>
                <a:cubicBezTo>
                  <a:pt x="1533525" y="1535576"/>
                  <a:pt x="1499381" y="1569720"/>
                  <a:pt x="1457324" y="1569720"/>
                </a:cubicBezTo>
                <a:lnTo>
                  <a:pt x="76201" y="1569720"/>
                </a:lnTo>
                <a:cubicBezTo>
                  <a:pt x="34144" y="1569720"/>
                  <a:pt x="0" y="1535576"/>
                  <a:pt x="0" y="1493519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381000" y="2379345"/>
            <a:ext cx="1533525" cy="15240"/>
          </a:xfrm>
          <a:custGeom>
            <a:rect b="b" l="l" r="r" t="t"/>
            <a:pathLst>
              <a:path extrusionOk="0" h="1524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5240"/>
                </a:lnTo>
                <a:lnTo>
                  <a:pt x="0" y="15240"/>
                </a:ln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957858" y="2501265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1078230" y="2558415"/>
            <a:ext cx="1428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57200" y="2958465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Data Cleaning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61963" y="3225165"/>
            <a:ext cx="137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Remove noise &amp; inconsistencies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030135" y="2379345"/>
            <a:ext cx="1533525" cy="1569720"/>
          </a:xfrm>
          <a:custGeom>
            <a:rect b="b" l="l" r="r" t="t"/>
            <a:pathLst>
              <a:path extrusionOk="0" h="156972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493519"/>
                </a:lnTo>
                <a:cubicBezTo>
                  <a:pt x="1533525" y="1535576"/>
                  <a:pt x="1499381" y="1569720"/>
                  <a:pt x="1457324" y="1569720"/>
                </a:cubicBezTo>
                <a:lnTo>
                  <a:pt x="76201" y="1569720"/>
                </a:lnTo>
                <a:cubicBezTo>
                  <a:pt x="34144" y="1569720"/>
                  <a:pt x="0" y="1535576"/>
                  <a:pt x="0" y="1493519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2030135" y="2379345"/>
            <a:ext cx="1533525" cy="15240"/>
          </a:xfrm>
          <a:custGeom>
            <a:rect b="b" l="l" r="r" t="t"/>
            <a:pathLst>
              <a:path extrusionOk="0" h="1524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5240"/>
                </a:lnTo>
                <a:lnTo>
                  <a:pt x="0" y="15240"/>
                </a:ln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2606993" y="2501265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2710934" y="2558415"/>
            <a:ext cx="171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2106335" y="2958465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Data Integration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2111097" y="3225165"/>
            <a:ext cx="137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Combine multiple sources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3679269" y="2379345"/>
            <a:ext cx="1533525" cy="1569720"/>
          </a:xfrm>
          <a:custGeom>
            <a:rect b="b" l="l" r="r" t="t"/>
            <a:pathLst>
              <a:path extrusionOk="0" h="156972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493519"/>
                </a:lnTo>
                <a:cubicBezTo>
                  <a:pt x="1533525" y="1535576"/>
                  <a:pt x="1499381" y="1569720"/>
                  <a:pt x="1457324" y="1569720"/>
                </a:cubicBezTo>
                <a:lnTo>
                  <a:pt x="76201" y="1569720"/>
                </a:lnTo>
                <a:cubicBezTo>
                  <a:pt x="34144" y="1569720"/>
                  <a:pt x="0" y="1535576"/>
                  <a:pt x="0" y="1493519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3679269" y="2379345"/>
            <a:ext cx="1533525" cy="15240"/>
          </a:xfrm>
          <a:custGeom>
            <a:rect b="b" l="l" r="r" t="t"/>
            <a:pathLst>
              <a:path extrusionOk="0" h="1524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5240"/>
                </a:lnTo>
                <a:lnTo>
                  <a:pt x="0" y="15240"/>
                </a:ln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4256246" y="2501265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4357926" y="2558415"/>
            <a:ext cx="180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3755469" y="2958465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Data Selection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760232" y="322516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Retrieve relevant data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328523" y="2379345"/>
            <a:ext cx="1533525" cy="1569720"/>
          </a:xfrm>
          <a:custGeom>
            <a:rect b="b" l="l" r="r" t="t"/>
            <a:pathLst>
              <a:path extrusionOk="0" h="156972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493519"/>
                </a:lnTo>
                <a:cubicBezTo>
                  <a:pt x="1533525" y="1535576"/>
                  <a:pt x="1499381" y="1569720"/>
                  <a:pt x="1457324" y="1569720"/>
                </a:cubicBezTo>
                <a:lnTo>
                  <a:pt x="76201" y="1569720"/>
                </a:lnTo>
                <a:cubicBezTo>
                  <a:pt x="34144" y="1569720"/>
                  <a:pt x="0" y="1535576"/>
                  <a:pt x="0" y="1493519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5328523" y="2379345"/>
            <a:ext cx="1533525" cy="15240"/>
          </a:xfrm>
          <a:custGeom>
            <a:rect b="b" l="l" r="r" t="t"/>
            <a:pathLst>
              <a:path extrusionOk="0" h="1524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5240"/>
                </a:lnTo>
                <a:lnTo>
                  <a:pt x="0" y="15240"/>
                </a:ln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5905381" y="2501265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009442" y="2558415"/>
            <a:ext cx="171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04723" y="2958465"/>
            <a:ext cx="138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Data Transformation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09486" y="3453765"/>
            <a:ext cx="137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Convert to appropriate form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977658" y="2379345"/>
            <a:ext cx="1533525" cy="1569720"/>
          </a:xfrm>
          <a:custGeom>
            <a:rect b="b" l="l" r="r" t="t"/>
            <a:pathLst>
              <a:path extrusionOk="0" h="156972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493519"/>
                </a:lnTo>
                <a:cubicBezTo>
                  <a:pt x="1533525" y="1535576"/>
                  <a:pt x="1499381" y="1569720"/>
                  <a:pt x="1457324" y="1569720"/>
                </a:cubicBezTo>
                <a:lnTo>
                  <a:pt x="76201" y="1569720"/>
                </a:lnTo>
                <a:cubicBezTo>
                  <a:pt x="34144" y="1569720"/>
                  <a:pt x="0" y="1535576"/>
                  <a:pt x="0" y="1493519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977658" y="2379345"/>
            <a:ext cx="1533525" cy="15240"/>
          </a:xfrm>
          <a:custGeom>
            <a:rect b="b" l="l" r="r" t="t"/>
            <a:pathLst>
              <a:path extrusionOk="0" h="1524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5240"/>
                </a:lnTo>
                <a:lnTo>
                  <a:pt x="0" y="15240"/>
                </a:ln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7554635" y="2501265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7656076" y="2558415"/>
            <a:ext cx="180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053858" y="2958465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Data Mining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058620" y="322516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Extract patterns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8626912" y="2379345"/>
            <a:ext cx="1533525" cy="1569720"/>
          </a:xfrm>
          <a:custGeom>
            <a:rect b="b" l="l" r="r" t="t"/>
            <a:pathLst>
              <a:path extrusionOk="0" h="156972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493519"/>
                </a:lnTo>
                <a:cubicBezTo>
                  <a:pt x="1533525" y="1535576"/>
                  <a:pt x="1499381" y="1569720"/>
                  <a:pt x="1457324" y="1569720"/>
                </a:cubicBezTo>
                <a:lnTo>
                  <a:pt x="76201" y="1569720"/>
                </a:lnTo>
                <a:cubicBezTo>
                  <a:pt x="34144" y="1569720"/>
                  <a:pt x="0" y="1535576"/>
                  <a:pt x="0" y="1493519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8626912" y="2379345"/>
            <a:ext cx="1533525" cy="15240"/>
          </a:xfrm>
          <a:custGeom>
            <a:rect b="b" l="l" r="r" t="t"/>
            <a:pathLst>
              <a:path extrusionOk="0" h="1524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5240"/>
                </a:lnTo>
                <a:lnTo>
                  <a:pt x="0" y="15240"/>
                </a:ln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9203770" y="2501265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9304139" y="2558415"/>
            <a:ext cx="180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703112" y="2958465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Pattern Evaluation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707874" y="3225165"/>
            <a:ext cx="137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Identify interesting patterns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0276046" y="2379345"/>
            <a:ext cx="1533525" cy="1569720"/>
          </a:xfrm>
          <a:custGeom>
            <a:rect b="b" l="l" r="r" t="t"/>
            <a:pathLst>
              <a:path extrusionOk="0" h="156972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493519"/>
                </a:lnTo>
                <a:cubicBezTo>
                  <a:pt x="1533525" y="1535576"/>
                  <a:pt x="1499381" y="1569720"/>
                  <a:pt x="1457324" y="1569720"/>
                </a:cubicBezTo>
                <a:lnTo>
                  <a:pt x="76201" y="1569720"/>
                </a:lnTo>
                <a:cubicBezTo>
                  <a:pt x="34144" y="1569720"/>
                  <a:pt x="0" y="1535576"/>
                  <a:pt x="0" y="1493519"/>
                </a:cubicBez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10276046" y="2379345"/>
            <a:ext cx="1533525" cy="15240"/>
          </a:xfrm>
          <a:custGeom>
            <a:rect b="b" l="l" r="r" t="t"/>
            <a:pathLst>
              <a:path extrusionOk="0" h="15240" w="1533525">
                <a:moveTo>
                  <a:pt x="15240" y="0"/>
                </a:moveTo>
                <a:lnTo>
                  <a:pt x="1518285" y="0"/>
                </a:lnTo>
                <a:cubicBezTo>
                  <a:pt x="1526702" y="0"/>
                  <a:pt x="1533525" y="6823"/>
                  <a:pt x="1533525" y="15240"/>
                </a:cubicBezTo>
                <a:lnTo>
                  <a:pt x="1533525" y="15240"/>
                </a:lnTo>
                <a:lnTo>
                  <a:pt x="0" y="15240"/>
                </a:lnTo>
                <a:lnTo>
                  <a:pt x="0" y="15240"/>
                </a:lnTo>
                <a:cubicBezTo>
                  <a:pt x="0" y="6829"/>
                  <a:pt x="6829" y="0"/>
                  <a:pt x="1524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10853024" y="2501265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10961370" y="2558415"/>
            <a:ext cx="161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0352246" y="2958465"/>
            <a:ext cx="1381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Knowledge Presentation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0357009" y="3453765"/>
            <a:ext cx="1371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Visualize results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81000" y="4063365"/>
            <a:ext cx="3733800" cy="1295400"/>
          </a:xfrm>
          <a:custGeom>
            <a:rect b="b" l="l" r="r" t="t"/>
            <a:pathLst>
              <a:path extrusionOk="0" h="1295400" w="3733800">
                <a:moveTo>
                  <a:pt x="114306" y="0"/>
                </a:moveTo>
                <a:lnTo>
                  <a:pt x="3619494" y="0"/>
                </a:lnTo>
                <a:cubicBezTo>
                  <a:pt x="3682623" y="0"/>
                  <a:pt x="3733800" y="51177"/>
                  <a:pt x="3733800" y="114306"/>
                </a:cubicBezTo>
                <a:lnTo>
                  <a:pt x="3733800" y="1181094"/>
                </a:lnTo>
                <a:cubicBezTo>
                  <a:pt x="3733800" y="1244223"/>
                  <a:pt x="3682623" y="1295400"/>
                  <a:pt x="3619494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533400" y="4215765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666750" y="4349115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104900" y="4253865"/>
            <a:ext cx="790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Evolution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33400" y="4787265"/>
            <a:ext cx="3505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Origins trace to </a:t>
            </a:r>
            <a:r>
              <a:rPr lang="en-US" sz="1200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Classical Statistics</a:t>
            </a:r>
            <a:r>
              <a:rPr lang="en-US" sz="12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lang="en-US" sz="1200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AI</a:t>
            </a:r>
            <a:r>
              <a:rPr lang="en-US" sz="12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and </a:t>
            </a:r>
            <a:r>
              <a:rPr lang="en-US" sz="1200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Machine Learning</a:t>
            </a:r>
            <a:r>
              <a:rPr lang="en-US" sz="12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4229100" y="4063365"/>
            <a:ext cx="3733800" cy="1295400"/>
          </a:xfrm>
          <a:custGeom>
            <a:rect b="b" l="l" r="r" t="t"/>
            <a:pathLst>
              <a:path extrusionOk="0" h="1295400" w="3733800">
                <a:moveTo>
                  <a:pt x="114306" y="0"/>
                </a:moveTo>
                <a:lnTo>
                  <a:pt x="3619494" y="0"/>
                </a:lnTo>
                <a:cubicBezTo>
                  <a:pt x="3682623" y="0"/>
                  <a:pt x="3733800" y="51177"/>
                  <a:pt x="3733800" y="114306"/>
                </a:cubicBezTo>
                <a:lnTo>
                  <a:pt x="3733800" y="1181094"/>
                </a:lnTo>
                <a:cubicBezTo>
                  <a:pt x="3733800" y="1244223"/>
                  <a:pt x="3682623" y="1295400"/>
                  <a:pt x="3619494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381500" y="4215765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538663" y="4349115"/>
            <a:ext cx="142875" cy="190500"/>
          </a:xfrm>
          <a:custGeom>
            <a:rect b="b" l="l" r="r" t="t"/>
            <a:pathLst>
              <a:path extrusionOk="0" h="190500" w="142875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953000" y="4253865"/>
            <a:ext cx="11144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Core Purpose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381500" y="4787265"/>
            <a:ext cx="3505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Automatically search large stores of information to find </a:t>
            </a:r>
            <a:r>
              <a:rPr lang="en-US" sz="1200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trends</a:t>
            </a:r>
            <a:r>
              <a:rPr lang="en-US" sz="12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</a:t>
            </a:r>
            <a:r>
              <a:rPr lang="en-US" sz="1200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patterns</a:t>
            </a:r>
            <a:r>
              <a:rPr lang="en-US" sz="12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077200" y="4063365"/>
            <a:ext cx="3733800" cy="1295400"/>
          </a:xfrm>
          <a:custGeom>
            <a:rect b="b" l="l" r="r" t="t"/>
            <a:pathLst>
              <a:path extrusionOk="0" h="1295400" w="3733800">
                <a:moveTo>
                  <a:pt x="114306" y="0"/>
                </a:moveTo>
                <a:lnTo>
                  <a:pt x="3619494" y="0"/>
                </a:lnTo>
                <a:cubicBezTo>
                  <a:pt x="3682623" y="0"/>
                  <a:pt x="3733800" y="51177"/>
                  <a:pt x="3733800" y="114306"/>
                </a:cubicBezTo>
                <a:lnTo>
                  <a:pt x="3733800" y="1181094"/>
                </a:lnTo>
                <a:cubicBezTo>
                  <a:pt x="3733800" y="1244223"/>
                  <a:pt x="3682623" y="1295400"/>
                  <a:pt x="3619494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8229600" y="4215765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339137" y="4349115"/>
            <a:ext cx="238125" cy="190500"/>
          </a:xfrm>
          <a:custGeom>
            <a:rect b="b" l="l" r="r" t="t"/>
            <a:pathLst>
              <a:path extrusionOk="0" h="190500" w="238125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8801100" y="4253865"/>
            <a:ext cx="9715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Techniques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229600" y="4787265"/>
            <a:ext cx="3505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Utilizes complex mathematical algorithms for data segmentation and probability evaluation.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8906" y="105968"/>
            <a:ext cx="1502714" cy="56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355452" y="444315"/>
            <a:ext cx="497633" cy="497633"/>
          </a:xfrm>
          <a:custGeom>
            <a:rect b="b" l="l" r="r" t="t"/>
            <a:pathLst>
              <a:path extrusionOk="0" h="497633" w="497633">
                <a:moveTo>
                  <a:pt x="106638" y="0"/>
                </a:moveTo>
                <a:lnTo>
                  <a:pt x="390995" y="0"/>
                </a:lnTo>
                <a:cubicBezTo>
                  <a:pt x="449889" y="0"/>
                  <a:pt x="497633" y="47743"/>
                  <a:pt x="497633" y="106638"/>
                </a:cubicBezTo>
                <a:lnTo>
                  <a:pt x="497633" y="390995"/>
                </a:lnTo>
                <a:cubicBezTo>
                  <a:pt x="497633" y="449889"/>
                  <a:pt x="449889" y="497633"/>
                  <a:pt x="390995" y="497633"/>
                </a:cubicBezTo>
                <a:lnTo>
                  <a:pt x="106638" y="497633"/>
                </a:lnTo>
                <a:cubicBezTo>
                  <a:pt x="47743" y="497633"/>
                  <a:pt x="0" y="449889"/>
                  <a:pt x="0" y="390995"/>
                </a:cubicBezTo>
                <a:lnTo>
                  <a:pt x="0" y="106638"/>
                </a:lnTo>
                <a:cubicBezTo>
                  <a:pt x="0" y="47783"/>
                  <a:pt x="47783" y="0"/>
                  <a:pt x="106638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510962" y="586496"/>
            <a:ext cx="186612" cy="213271"/>
          </a:xfrm>
          <a:custGeom>
            <a:rect b="b" l="l" r="r" t="t"/>
            <a:pathLst>
              <a:path extrusionOk="0" h="213271" w="186612">
                <a:moveTo>
                  <a:pt x="186612" y="85725"/>
                </a:moveTo>
                <a:cubicBezTo>
                  <a:pt x="180447" y="89807"/>
                  <a:pt x="173366" y="93098"/>
                  <a:pt x="165993" y="95722"/>
                </a:cubicBezTo>
                <a:cubicBezTo>
                  <a:pt x="146416" y="102720"/>
                  <a:pt x="120715" y="106636"/>
                  <a:pt x="93306" y="106636"/>
                </a:cubicBezTo>
                <a:cubicBezTo>
                  <a:pt x="65897" y="106636"/>
                  <a:pt x="40155" y="102678"/>
                  <a:pt x="20619" y="95722"/>
                </a:cubicBezTo>
                <a:cubicBezTo>
                  <a:pt x="13288" y="93098"/>
                  <a:pt x="6165" y="89807"/>
                  <a:pt x="0" y="85725"/>
                </a:cubicBezTo>
                <a:lnTo>
                  <a:pt x="0" y="119965"/>
                </a:lnTo>
                <a:cubicBezTo>
                  <a:pt x="0" y="138376"/>
                  <a:pt x="41779" y="153289"/>
                  <a:pt x="93306" y="153289"/>
                </a:cubicBezTo>
                <a:cubicBezTo>
                  <a:pt x="144833" y="153289"/>
                  <a:pt x="186612" y="138376"/>
                  <a:pt x="186612" y="119965"/>
                </a:cubicBezTo>
                <a:lnTo>
                  <a:pt x="186612" y="85725"/>
                </a:lnTo>
                <a:close/>
                <a:moveTo>
                  <a:pt x="186612" y="53318"/>
                </a:moveTo>
                <a:lnTo>
                  <a:pt x="186612" y="33324"/>
                </a:lnTo>
                <a:cubicBezTo>
                  <a:pt x="186612" y="14912"/>
                  <a:pt x="144833" y="0"/>
                  <a:pt x="93306" y="0"/>
                </a:cubicBezTo>
                <a:cubicBezTo>
                  <a:pt x="41779" y="0"/>
                  <a:pt x="0" y="14912"/>
                  <a:pt x="0" y="33324"/>
                </a:cubicBezTo>
                <a:lnTo>
                  <a:pt x="0" y="53318"/>
                </a:lnTo>
                <a:cubicBezTo>
                  <a:pt x="0" y="71729"/>
                  <a:pt x="41779" y="86641"/>
                  <a:pt x="93306" y="86641"/>
                </a:cubicBezTo>
                <a:cubicBezTo>
                  <a:pt x="144833" y="86641"/>
                  <a:pt x="186612" y="71729"/>
                  <a:pt x="186612" y="53318"/>
                </a:cubicBezTo>
                <a:close/>
                <a:moveTo>
                  <a:pt x="165993" y="162369"/>
                </a:moveTo>
                <a:cubicBezTo>
                  <a:pt x="146457" y="169326"/>
                  <a:pt x="120756" y="173283"/>
                  <a:pt x="93306" y="173283"/>
                </a:cubicBezTo>
                <a:cubicBezTo>
                  <a:pt x="65856" y="173283"/>
                  <a:pt x="40155" y="169326"/>
                  <a:pt x="20619" y="162369"/>
                </a:cubicBezTo>
                <a:cubicBezTo>
                  <a:pt x="13288" y="159745"/>
                  <a:pt x="6165" y="156454"/>
                  <a:pt x="0" y="152372"/>
                </a:cubicBezTo>
                <a:lnTo>
                  <a:pt x="0" y="179948"/>
                </a:lnTo>
                <a:cubicBezTo>
                  <a:pt x="0" y="198359"/>
                  <a:pt x="41779" y="213271"/>
                  <a:pt x="93306" y="213271"/>
                </a:cubicBezTo>
                <a:cubicBezTo>
                  <a:pt x="144833" y="213271"/>
                  <a:pt x="186612" y="198359"/>
                  <a:pt x="186612" y="179948"/>
                </a:cubicBezTo>
                <a:lnTo>
                  <a:pt x="186612" y="152372"/>
                </a:lnTo>
                <a:cubicBezTo>
                  <a:pt x="180447" y="156454"/>
                  <a:pt x="173366" y="159745"/>
                  <a:pt x="165993" y="162369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995265" y="355452"/>
            <a:ext cx="4700851" cy="4265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59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Kinds of Data for Mining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995265" y="781994"/>
            <a:ext cx="4576443" cy="248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99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Nine Primary Data Types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73224" y="1208536"/>
            <a:ext cx="3714472" cy="1492898"/>
          </a:xfrm>
          <a:custGeom>
            <a:rect b="b" l="l" r="r" t="t"/>
            <a:pathLst>
              <a:path extrusionOk="0" h="1492898" w="3714472">
                <a:moveTo>
                  <a:pt x="35545" y="0"/>
                </a:moveTo>
                <a:lnTo>
                  <a:pt x="3607835" y="0"/>
                </a:lnTo>
                <a:cubicBezTo>
                  <a:pt x="3666729" y="0"/>
                  <a:pt x="3714472" y="47743"/>
                  <a:pt x="3714472" y="106638"/>
                </a:cubicBezTo>
                <a:lnTo>
                  <a:pt x="3714472" y="1386260"/>
                </a:lnTo>
                <a:cubicBezTo>
                  <a:pt x="3714472" y="1445155"/>
                  <a:pt x="3666729" y="1492898"/>
                  <a:pt x="3607835" y="1492898"/>
                </a:cubicBezTo>
                <a:lnTo>
                  <a:pt x="35545" y="1492898"/>
                </a:lnTo>
                <a:cubicBezTo>
                  <a:pt x="15914" y="1492898"/>
                  <a:pt x="0" y="1476984"/>
                  <a:pt x="0" y="1457353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73224" y="1208536"/>
            <a:ext cx="35545" cy="1492898"/>
          </a:xfrm>
          <a:custGeom>
            <a:rect b="b" l="l" r="r" t="t"/>
            <a:pathLst>
              <a:path extrusionOk="0" h="1492898" w="35545">
                <a:moveTo>
                  <a:pt x="35545" y="0"/>
                </a:moveTo>
                <a:lnTo>
                  <a:pt x="35545" y="0"/>
                </a:lnTo>
                <a:lnTo>
                  <a:pt x="35545" y="1492898"/>
                </a:lnTo>
                <a:lnTo>
                  <a:pt x="35545" y="1492898"/>
                </a:lnTo>
                <a:cubicBezTo>
                  <a:pt x="15914" y="1492898"/>
                  <a:pt x="0" y="1476984"/>
                  <a:pt x="0" y="1457353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33178" y="1350717"/>
            <a:ext cx="355452" cy="355452"/>
          </a:xfrm>
          <a:custGeom>
            <a:rect b="b" l="l" r="r" t="t"/>
            <a:pathLst>
              <a:path extrusionOk="0" h="355452" w="355452">
                <a:moveTo>
                  <a:pt x="71090" y="0"/>
                </a:moveTo>
                <a:lnTo>
                  <a:pt x="284362" y="0"/>
                </a:lnTo>
                <a:cubicBezTo>
                  <a:pt x="323624" y="0"/>
                  <a:pt x="355452" y="31828"/>
                  <a:pt x="355452" y="71090"/>
                </a:cubicBezTo>
                <a:lnTo>
                  <a:pt x="355452" y="284362"/>
                </a:lnTo>
                <a:cubicBezTo>
                  <a:pt x="355452" y="323624"/>
                  <a:pt x="323624" y="355452"/>
                  <a:pt x="284362" y="355452"/>
                </a:cubicBezTo>
                <a:lnTo>
                  <a:pt x="71090" y="355452"/>
                </a:lnTo>
                <a:cubicBezTo>
                  <a:pt x="31828" y="355452"/>
                  <a:pt x="0" y="323624"/>
                  <a:pt x="0" y="284362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610933" y="1439580"/>
            <a:ext cx="199942" cy="177726"/>
          </a:xfrm>
          <a:custGeom>
            <a:rect b="b" l="l" r="r" t="t"/>
            <a:pathLst>
              <a:path extrusionOk="0" h="177726" w="199942">
                <a:moveTo>
                  <a:pt x="33324" y="0"/>
                </a:moveTo>
                <a:cubicBezTo>
                  <a:pt x="21070" y="0"/>
                  <a:pt x="11108" y="9962"/>
                  <a:pt x="11108" y="22216"/>
                </a:cubicBezTo>
                <a:lnTo>
                  <a:pt x="11108" y="155510"/>
                </a:lnTo>
                <a:cubicBezTo>
                  <a:pt x="11108" y="167764"/>
                  <a:pt x="21070" y="177726"/>
                  <a:pt x="33324" y="177726"/>
                </a:cubicBezTo>
                <a:lnTo>
                  <a:pt x="61093" y="177726"/>
                </a:lnTo>
                <a:lnTo>
                  <a:pt x="61093" y="138848"/>
                </a:lnTo>
                <a:cubicBezTo>
                  <a:pt x="61093" y="126595"/>
                  <a:pt x="71056" y="116633"/>
                  <a:pt x="83309" y="116633"/>
                </a:cubicBezTo>
                <a:lnTo>
                  <a:pt x="144402" y="116633"/>
                </a:lnTo>
                <a:lnTo>
                  <a:pt x="144402" y="59184"/>
                </a:lnTo>
                <a:cubicBezTo>
                  <a:pt x="144402" y="53283"/>
                  <a:pt x="142077" y="47625"/>
                  <a:pt x="137911" y="43460"/>
                </a:cubicBezTo>
                <a:lnTo>
                  <a:pt x="100908" y="6491"/>
                </a:lnTo>
                <a:cubicBezTo>
                  <a:pt x="96743" y="2326"/>
                  <a:pt x="91119" y="0"/>
                  <a:pt x="85218" y="0"/>
                </a:cubicBezTo>
                <a:lnTo>
                  <a:pt x="33324" y="0"/>
                </a:lnTo>
                <a:close/>
                <a:moveTo>
                  <a:pt x="124096" y="61093"/>
                </a:moveTo>
                <a:lnTo>
                  <a:pt x="91640" y="61093"/>
                </a:lnTo>
                <a:cubicBezTo>
                  <a:pt x="87023" y="61093"/>
                  <a:pt x="83309" y="57379"/>
                  <a:pt x="83309" y="52762"/>
                </a:cubicBezTo>
                <a:lnTo>
                  <a:pt x="83309" y="20307"/>
                </a:lnTo>
                <a:lnTo>
                  <a:pt x="124096" y="61093"/>
                </a:lnTo>
                <a:close/>
                <a:moveTo>
                  <a:pt x="91640" y="131906"/>
                </a:moveTo>
                <a:cubicBezTo>
                  <a:pt x="83205" y="131906"/>
                  <a:pt x="76367" y="138744"/>
                  <a:pt x="76367" y="147179"/>
                </a:cubicBezTo>
                <a:lnTo>
                  <a:pt x="76367" y="174949"/>
                </a:lnTo>
                <a:cubicBezTo>
                  <a:pt x="76367" y="183384"/>
                  <a:pt x="83205" y="190222"/>
                  <a:pt x="91640" y="190222"/>
                </a:cubicBezTo>
                <a:lnTo>
                  <a:pt x="97194" y="190222"/>
                </a:lnTo>
                <a:cubicBezTo>
                  <a:pt x="105629" y="190222"/>
                  <a:pt x="112467" y="183384"/>
                  <a:pt x="112467" y="174949"/>
                </a:cubicBezTo>
                <a:lnTo>
                  <a:pt x="112467" y="172172"/>
                </a:lnTo>
                <a:cubicBezTo>
                  <a:pt x="112467" y="168354"/>
                  <a:pt x="109343" y="165230"/>
                  <a:pt x="105525" y="165230"/>
                </a:cubicBezTo>
                <a:cubicBezTo>
                  <a:pt x="101706" y="165230"/>
                  <a:pt x="98582" y="168354"/>
                  <a:pt x="98582" y="172172"/>
                </a:cubicBezTo>
                <a:lnTo>
                  <a:pt x="98582" y="174949"/>
                </a:lnTo>
                <a:cubicBezTo>
                  <a:pt x="98582" y="175713"/>
                  <a:pt x="97958" y="176337"/>
                  <a:pt x="97194" y="176337"/>
                </a:cubicBezTo>
                <a:lnTo>
                  <a:pt x="91640" y="176337"/>
                </a:lnTo>
                <a:cubicBezTo>
                  <a:pt x="90876" y="176337"/>
                  <a:pt x="90251" y="175713"/>
                  <a:pt x="90251" y="174949"/>
                </a:cubicBezTo>
                <a:lnTo>
                  <a:pt x="90251" y="147179"/>
                </a:lnTo>
                <a:cubicBezTo>
                  <a:pt x="90251" y="146416"/>
                  <a:pt x="90876" y="145791"/>
                  <a:pt x="91640" y="145791"/>
                </a:cubicBezTo>
                <a:lnTo>
                  <a:pt x="97194" y="145791"/>
                </a:lnTo>
                <a:cubicBezTo>
                  <a:pt x="97958" y="145791"/>
                  <a:pt x="98582" y="146416"/>
                  <a:pt x="98582" y="147179"/>
                </a:cubicBezTo>
                <a:lnTo>
                  <a:pt x="98582" y="149956"/>
                </a:lnTo>
                <a:cubicBezTo>
                  <a:pt x="98582" y="153775"/>
                  <a:pt x="101706" y="156899"/>
                  <a:pt x="105525" y="156899"/>
                </a:cubicBezTo>
                <a:cubicBezTo>
                  <a:pt x="109343" y="156899"/>
                  <a:pt x="112467" y="153775"/>
                  <a:pt x="112467" y="149956"/>
                </a:cubicBezTo>
                <a:lnTo>
                  <a:pt x="112467" y="147179"/>
                </a:lnTo>
                <a:cubicBezTo>
                  <a:pt x="112467" y="138744"/>
                  <a:pt x="105629" y="131906"/>
                  <a:pt x="97194" y="131906"/>
                </a:cubicBezTo>
                <a:lnTo>
                  <a:pt x="91640" y="131906"/>
                </a:lnTo>
                <a:close/>
                <a:moveTo>
                  <a:pt x="138848" y="131906"/>
                </a:moveTo>
                <a:cubicBezTo>
                  <a:pt x="128886" y="131906"/>
                  <a:pt x="120798" y="139994"/>
                  <a:pt x="120798" y="149956"/>
                </a:cubicBezTo>
                <a:cubicBezTo>
                  <a:pt x="120798" y="159919"/>
                  <a:pt x="128886" y="168007"/>
                  <a:pt x="138848" y="168007"/>
                </a:cubicBezTo>
                <a:cubicBezTo>
                  <a:pt x="141139" y="168007"/>
                  <a:pt x="143014" y="169881"/>
                  <a:pt x="143014" y="172172"/>
                </a:cubicBezTo>
                <a:cubicBezTo>
                  <a:pt x="143014" y="174463"/>
                  <a:pt x="141139" y="176337"/>
                  <a:pt x="138848" y="176337"/>
                </a:cubicBezTo>
                <a:lnTo>
                  <a:pt x="127741" y="176337"/>
                </a:lnTo>
                <a:cubicBezTo>
                  <a:pt x="123922" y="176337"/>
                  <a:pt x="120798" y="179462"/>
                  <a:pt x="120798" y="183280"/>
                </a:cubicBezTo>
                <a:cubicBezTo>
                  <a:pt x="120798" y="187098"/>
                  <a:pt x="123922" y="190222"/>
                  <a:pt x="127741" y="190222"/>
                </a:cubicBezTo>
                <a:lnTo>
                  <a:pt x="138848" y="190222"/>
                </a:lnTo>
                <a:cubicBezTo>
                  <a:pt x="148811" y="190222"/>
                  <a:pt x="156899" y="182134"/>
                  <a:pt x="156899" y="172172"/>
                </a:cubicBezTo>
                <a:cubicBezTo>
                  <a:pt x="156899" y="162210"/>
                  <a:pt x="148811" y="154122"/>
                  <a:pt x="138848" y="154122"/>
                </a:cubicBezTo>
                <a:cubicBezTo>
                  <a:pt x="136557" y="154122"/>
                  <a:pt x="134683" y="152247"/>
                  <a:pt x="134683" y="149956"/>
                </a:cubicBezTo>
                <a:cubicBezTo>
                  <a:pt x="134683" y="147665"/>
                  <a:pt x="136557" y="145791"/>
                  <a:pt x="138848" y="145791"/>
                </a:cubicBezTo>
                <a:lnTo>
                  <a:pt x="147179" y="145791"/>
                </a:lnTo>
                <a:cubicBezTo>
                  <a:pt x="150998" y="145791"/>
                  <a:pt x="154122" y="142667"/>
                  <a:pt x="154122" y="138848"/>
                </a:cubicBezTo>
                <a:cubicBezTo>
                  <a:pt x="154122" y="135030"/>
                  <a:pt x="150998" y="131906"/>
                  <a:pt x="147179" y="131906"/>
                </a:cubicBezTo>
                <a:lnTo>
                  <a:pt x="138848" y="131906"/>
                </a:lnTo>
                <a:close/>
                <a:moveTo>
                  <a:pt x="172172" y="131906"/>
                </a:moveTo>
                <a:cubicBezTo>
                  <a:pt x="168354" y="131906"/>
                  <a:pt x="165230" y="135030"/>
                  <a:pt x="165230" y="138848"/>
                </a:cubicBezTo>
                <a:lnTo>
                  <a:pt x="165230" y="149817"/>
                </a:lnTo>
                <a:cubicBezTo>
                  <a:pt x="165230" y="162140"/>
                  <a:pt x="168874" y="174220"/>
                  <a:pt x="175713" y="184460"/>
                </a:cubicBezTo>
                <a:lnTo>
                  <a:pt x="177483" y="187133"/>
                </a:lnTo>
                <a:cubicBezTo>
                  <a:pt x="178767" y="189077"/>
                  <a:pt x="180954" y="190222"/>
                  <a:pt x="183245" y="190222"/>
                </a:cubicBezTo>
                <a:cubicBezTo>
                  <a:pt x="185536" y="190222"/>
                  <a:pt x="187723" y="189077"/>
                  <a:pt x="189007" y="187133"/>
                </a:cubicBezTo>
                <a:lnTo>
                  <a:pt x="190778" y="184460"/>
                </a:lnTo>
                <a:cubicBezTo>
                  <a:pt x="197616" y="174185"/>
                  <a:pt x="201261" y="162140"/>
                  <a:pt x="201261" y="149817"/>
                </a:cubicBezTo>
                <a:lnTo>
                  <a:pt x="201261" y="138848"/>
                </a:lnTo>
                <a:cubicBezTo>
                  <a:pt x="201261" y="135030"/>
                  <a:pt x="198137" y="131906"/>
                  <a:pt x="194318" y="131906"/>
                </a:cubicBezTo>
                <a:cubicBezTo>
                  <a:pt x="190500" y="131906"/>
                  <a:pt x="187376" y="135030"/>
                  <a:pt x="187376" y="138848"/>
                </a:cubicBezTo>
                <a:lnTo>
                  <a:pt x="187376" y="149817"/>
                </a:lnTo>
                <a:cubicBezTo>
                  <a:pt x="187376" y="156621"/>
                  <a:pt x="185953" y="163320"/>
                  <a:pt x="183210" y="169499"/>
                </a:cubicBezTo>
                <a:cubicBezTo>
                  <a:pt x="180468" y="163320"/>
                  <a:pt x="179045" y="156621"/>
                  <a:pt x="179045" y="149817"/>
                </a:cubicBezTo>
                <a:lnTo>
                  <a:pt x="179045" y="138848"/>
                </a:lnTo>
                <a:cubicBezTo>
                  <a:pt x="179045" y="135030"/>
                  <a:pt x="175921" y="131906"/>
                  <a:pt x="172103" y="131906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995265" y="1350717"/>
            <a:ext cx="710904" cy="248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9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Flat Files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33178" y="1777259"/>
            <a:ext cx="3483429" cy="39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Text/binary files with no relationships. Data stored has no path among themselves.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533178" y="2239347"/>
            <a:ext cx="3412338" cy="319907"/>
          </a:xfrm>
          <a:custGeom>
            <a:rect b="b" l="l" r="r" t="t"/>
            <a:pathLst>
              <a:path extrusionOk="0" h="319907" w="3412338">
                <a:moveTo>
                  <a:pt x="35545" y="0"/>
                </a:moveTo>
                <a:lnTo>
                  <a:pt x="3376793" y="0"/>
                </a:lnTo>
                <a:cubicBezTo>
                  <a:pt x="3396424" y="0"/>
                  <a:pt x="3412338" y="15914"/>
                  <a:pt x="3412338" y="35545"/>
                </a:cubicBezTo>
                <a:lnTo>
                  <a:pt x="3412338" y="284362"/>
                </a:lnTo>
                <a:cubicBezTo>
                  <a:pt x="3412338" y="303993"/>
                  <a:pt x="3396424" y="319907"/>
                  <a:pt x="3376793" y="319907"/>
                </a:cubicBezTo>
                <a:lnTo>
                  <a:pt x="35545" y="319907"/>
                </a:lnTo>
                <a:cubicBezTo>
                  <a:pt x="15914" y="319907"/>
                  <a:pt x="0" y="303993"/>
                  <a:pt x="0" y="28436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533178" y="2239347"/>
            <a:ext cx="3474542" cy="31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71075" lIns="106625" spcFirstLastPara="1" rIns="106625" wrap="square" tIns="710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Examples:</a:t>
            </a:r>
            <a:r>
              <a:rPr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CSV, name-address lists, Excel databases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248872" y="1208536"/>
            <a:ext cx="3714472" cy="1492898"/>
          </a:xfrm>
          <a:custGeom>
            <a:rect b="b" l="l" r="r" t="t"/>
            <a:pathLst>
              <a:path extrusionOk="0" h="1492898" w="3714472">
                <a:moveTo>
                  <a:pt x="35545" y="0"/>
                </a:moveTo>
                <a:lnTo>
                  <a:pt x="3607835" y="0"/>
                </a:lnTo>
                <a:cubicBezTo>
                  <a:pt x="3666729" y="0"/>
                  <a:pt x="3714472" y="47743"/>
                  <a:pt x="3714472" y="106638"/>
                </a:cubicBezTo>
                <a:lnTo>
                  <a:pt x="3714472" y="1386260"/>
                </a:lnTo>
                <a:cubicBezTo>
                  <a:pt x="3714472" y="1445155"/>
                  <a:pt x="3666729" y="1492898"/>
                  <a:pt x="3607835" y="1492898"/>
                </a:cubicBezTo>
                <a:lnTo>
                  <a:pt x="35545" y="1492898"/>
                </a:lnTo>
                <a:cubicBezTo>
                  <a:pt x="15914" y="1492898"/>
                  <a:pt x="0" y="1476984"/>
                  <a:pt x="0" y="1457353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4248872" y="1208536"/>
            <a:ext cx="35545" cy="1492898"/>
          </a:xfrm>
          <a:custGeom>
            <a:rect b="b" l="l" r="r" t="t"/>
            <a:pathLst>
              <a:path extrusionOk="0" h="1492898" w="35545">
                <a:moveTo>
                  <a:pt x="35545" y="0"/>
                </a:moveTo>
                <a:lnTo>
                  <a:pt x="35545" y="0"/>
                </a:lnTo>
                <a:lnTo>
                  <a:pt x="35545" y="1492898"/>
                </a:lnTo>
                <a:lnTo>
                  <a:pt x="35545" y="1492898"/>
                </a:lnTo>
                <a:cubicBezTo>
                  <a:pt x="15914" y="1492898"/>
                  <a:pt x="0" y="1476984"/>
                  <a:pt x="0" y="1457353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4408825" y="1350717"/>
            <a:ext cx="355452" cy="355452"/>
          </a:xfrm>
          <a:custGeom>
            <a:rect b="b" l="l" r="r" t="t"/>
            <a:pathLst>
              <a:path extrusionOk="0" h="355452" w="355452">
                <a:moveTo>
                  <a:pt x="71090" y="0"/>
                </a:moveTo>
                <a:lnTo>
                  <a:pt x="284362" y="0"/>
                </a:lnTo>
                <a:cubicBezTo>
                  <a:pt x="323624" y="0"/>
                  <a:pt x="355452" y="31828"/>
                  <a:pt x="355452" y="71090"/>
                </a:cubicBezTo>
                <a:lnTo>
                  <a:pt x="355452" y="284362"/>
                </a:lnTo>
                <a:cubicBezTo>
                  <a:pt x="355452" y="323624"/>
                  <a:pt x="323624" y="355452"/>
                  <a:pt x="284362" y="355452"/>
                </a:cubicBezTo>
                <a:lnTo>
                  <a:pt x="71090" y="355452"/>
                </a:lnTo>
                <a:cubicBezTo>
                  <a:pt x="31828" y="355452"/>
                  <a:pt x="0" y="323624"/>
                  <a:pt x="0" y="284362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508796" y="1439580"/>
            <a:ext cx="155510" cy="177726"/>
          </a:xfrm>
          <a:custGeom>
            <a:rect b="b" l="l" r="r" t="t"/>
            <a:pathLst>
              <a:path extrusionOk="0" h="177726" w="155510">
                <a:moveTo>
                  <a:pt x="88863" y="55539"/>
                </a:moveTo>
                <a:lnTo>
                  <a:pt x="88863" y="88863"/>
                </a:lnTo>
                <a:lnTo>
                  <a:pt x="133294" y="88863"/>
                </a:lnTo>
                <a:lnTo>
                  <a:pt x="133294" y="55539"/>
                </a:lnTo>
                <a:lnTo>
                  <a:pt x="88863" y="55539"/>
                </a:lnTo>
                <a:close/>
                <a:moveTo>
                  <a:pt x="66647" y="55539"/>
                </a:moveTo>
                <a:lnTo>
                  <a:pt x="22216" y="55539"/>
                </a:lnTo>
                <a:lnTo>
                  <a:pt x="22216" y="88863"/>
                </a:lnTo>
                <a:lnTo>
                  <a:pt x="66647" y="88863"/>
                </a:lnTo>
                <a:lnTo>
                  <a:pt x="66647" y="55539"/>
                </a:lnTo>
                <a:close/>
                <a:moveTo>
                  <a:pt x="0" y="111079"/>
                </a:moveTo>
                <a:lnTo>
                  <a:pt x="0" y="33324"/>
                </a:lnTo>
                <a:cubicBezTo>
                  <a:pt x="0" y="21070"/>
                  <a:pt x="9962" y="11108"/>
                  <a:pt x="22216" y="11108"/>
                </a:cubicBezTo>
                <a:lnTo>
                  <a:pt x="133294" y="11108"/>
                </a:lnTo>
                <a:cubicBezTo>
                  <a:pt x="145548" y="11108"/>
                  <a:pt x="155510" y="21070"/>
                  <a:pt x="155510" y="33324"/>
                </a:cubicBezTo>
                <a:lnTo>
                  <a:pt x="155510" y="144402"/>
                </a:lnTo>
                <a:cubicBezTo>
                  <a:pt x="155510" y="156656"/>
                  <a:pt x="145548" y="166618"/>
                  <a:pt x="133294" y="166618"/>
                </a:cubicBezTo>
                <a:lnTo>
                  <a:pt x="22216" y="166618"/>
                </a:lnTo>
                <a:cubicBezTo>
                  <a:pt x="9962" y="166618"/>
                  <a:pt x="0" y="156656"/>
                  <a:pt x="0" y="144402"/>
                </a:cubicBezTo>
                <a:lnTo>
                  <a:pt x="0" y="111079"/>
                </a:lnTo>
                <a:close/>
                <a:moveTo>
                  <a:pt x="133294" y="111079"/>
                </a:moveTo>
                <a:lnTo>
                  <a:pt x="88863" y="111079"/>
                </a:lnTo>
                <a:lnTo>
                  <a:pt x="88863" y="144402"/>
                </a:lnTo>
                <a:lnTo>
                  <a:pt x="133294" y="144402"/>
                </a:lnTo>
                <a:lnTo>
                  <a:pt x="133294" y="111079"/>
                </a:lnTo>
                <a:close/>
                <a:moveTo>
                  <a:pt x="66647" y="144402"/>
                </a:moveTo>
                <a:lnTo>
                  <a:pt x="66647" y="111079"/>
                </a:lnTo>
                <a:lnTo>
                  <a:pt x="22216" y="111079"/>
                </a:lnTo>
                <a:lnTo>
                  <a:pt x="22216" y="144402"/>
                </a:lnTo>
                <a:lnTo>
                  <a:pt x="66647" y="144402"/>
                </a:ln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870913" y="1350717"/>
            <a:ext cx="1546216" cy="248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9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Relational Databases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408825" y="1777259"/>
            <a:ext cx="3483429" cy="39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datasets organized by tables, records, and columns. SQL access.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408825" y="2239347"/>
            <a:ext cx="3412338" cy="319907"/>
          </a:xfrm>
          <a:custGeom>
            <a:rect b="b" l="l" r="r" t="t"/>
            <a:pathLst>
              <a:path extrusionOk="0" h="319907" w="3412338">
                <a:moveTo>
                  <a:pt x="35545" y="0"/>
                </a:moveTo>
                <a:lnTo>
                  <a:pt x="3376793" y="0"/>
                </a:lnTo>
                <a:cubicBezTo>
                  <a:pt x="3396424" y="0"/>
                  <a:pt x="3412338" y="15914"/>
                  <a:pt x="3412338" y="35545"/>
                </a:cubicBezTo>
                <a:lnTo>
                  <a:pt x="3412338" y="284362"/>
                </a:lnTo>
                <a:cubicBezTo>
                  <a:pt x="3412338" y="303993"/>
                  <a:pt x="3396424" y="319907"/>
                  <a:pt x="3376793" y="319907"/>
                </a:cubicBezTo>
                <a:lnTo>
                  <a:pt x="35545" y="319907"/>
                </a:lnTo>
                <a:cubicBezTo>
                  <a:pt x="15914" y="319907"/>
                  <a:pt x="0" y="303993"/>
                  <a:pt x="0" y="28436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408825" y="2239347"/>
            <a:ext cx="3474542" cy="31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71075" lIns="106625" spcFirstLastPara="1" rIns="106625" wrap="square" tIns="710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Features:</a:t>
            </a:r>
            <a:r>
              <a:rPr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Physical &amp; logical schema, searchable, organized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124631" y="1208536"/>
            <a:ext cx="3714472" cy="1492898"/>
          </a:xfrm>
          <a:custGeom>
            <a:rect b="b" l="l" r="r" t="t"/>
            <a:pathLst>
              <a:path extrusionOk="0" h="1492898" w="3714472">
                <a:moveTo>
                  <a:pt x="35545" y="0"/>
                </a:moveTo>
                <a:lnTo>
                  <a:pt x="3607835" y="0"/>
                </a:lnTo>
                <a:cubicBezTo>
                  <a:pt x="3666729" y="0"/>
                  <a:pt x="3714472" y="47743"/>
                  <a:pt x="3714472" y="106638"/>
                </a:cubicBezTo>
                <a:lnTo>
                  <a:pt x="3714472" y="1386260"/>
                </a:lnTo>
                <a:cubicBezTo>
                  <a:pt x="3714472" y="1445155"/>
                  <a:pt x="3666729" y="1492898"/>
                  <a:pt x="3607835" y="1492898"/>
                </a:cubicBezTo>
                <a:lnTo>
                  <a:pt x="35545" y="1492898"/>
                </a:lnTo>
                <a:cubicBezTo>
                  <a:pt x="15914" y="1492898"/>
                  <a:pt x="0" y="1476984"/>
                  <a:pt x="0" y="1457353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8124631" y="1208536"/>
            <a:ext cx="35545" cy="1492898"/>
          </a:xfrm>
          <a:custGeom>
            <a:rect b="b" l="l" r="r" t="t"/>
            <a:pathLst>
              <a:path extrusionOk="0" h="1492898" w="35545">
                <a:moveTo>
                  <a:pt x="35545" y="0"/>
                </a:moveTo>
                <a:lnTo>
                  <a:pt x="35545" y="0"/>
                </a:lnTo>
                <a:lnTo>
                  <a:pt x="35545" y="1492898"/>
                </a:lnTo>
                <a:lnTo>
                  <a:pt x="35545" y="1492898"/>
                </a:lnTo>
                <a:cubicBezTo>
                  <a:pt x="15914" y="1492898"/>
                  <a:pt x="0" y="1476984"/>
                  <a:pt x="0" y="1457353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8284584" y="1350717"/>
            <a:ext cx="355452" cy="355452"/>
          </a:xfrm>
          <a:custGeom>
            <a:rect b="b" l="l" r="r" t="t"/>
            <a:pathLst>
              <a:path extrusionOk="0" h="355452" w="355452">
                <a:moveTo>
                  <a:pt x="71090" y="0"/>
                </a:moveTo>
                <a:lnTo>
                  <a:pt x="284362" y="0"/>
                </a:lnTo>
                <a:cubicBezTo>
                  <a:pt x="323624" y="0"/>
                  <a:pt x="355452" y="31828"/>
                  <a:pt x="355452" y="71090"/>
                </a:cubicBezTo>
                <a:lnTo>
                  <a:pt x="355452" y="284362"/>
                </a:lnTo>
                <a:cubicBezTo>
                  <a:pt x="355452" y="323624"/>
                  <a:pt x="323624" y="355452"/>
                  <a:pt x="284362" y="355452"/>
                </a:cubicBezTo>
                <a:lnTo>
                  <a:pt x="71090" y="355452"/>
                </a:lnTo>
                <a:cubicBezTo>
                  <a:pt x="31828" y="355452"/>
                  <a:pt x="0" y="323624"/>
                  <a:pt x="0" y="284362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8362339" y="1439580"/>
            <a:ext cx="199942" cy="177726"/>
          </a:xfrm>
          <a:custGeom>
            <a:rect b="b" l="l" r="r" t="t"/>
            <a:pathLst>
              <a:path extrusionOk="0" h="177726" w="199942">
                <a:moveTo>
                  <a:pt x="0" y="49326"/>
                </a:moveTo>
                <a:lnTo>
                  <a:pt x="0" y="166618"/>
                </a:lnTo>
                <a:cubicBezTo>
                  <a:pt x="0" y="172762"/>
                  <a:pt x="4964" y="177726"/>
                  <a:pt x="11108" y="177726"/>
                </a:cubicBezTo>
                <a:cubicBezTo>
                  <a:pt x="17252" y="177726"/>
                  <a:pt x="22216" y="172762"/>
                  <a:pt x="22216" y="166618"/>
                </a:cubicBezTo>
                <a:lnTo>
                  <a:pt x="22216" y="83309"/>
                </a:lnTo>
                <a:cubicBezTo>
                  <a:pt x="22216" y="77165"/>
                  <a:pt x="27180" y="72201"/>
                  <a:pt x="33324" y="72201"/>
                </a:cubicBezTo>
                <a:lnTo>
                  <a:pt x="166618" y="72201"/>
                </a:lnTo>
                <a:cubicBezTo>
                  <a:pt x="172762" y="72201"/>
                  <a:pt x="177726" y="77165"/>
                  <a:pt x="177726" y="83309"/>
                </a:cubicBezTo>
                <a:lnTo>
                  <a:pt x="177726" y="166618"/>
                </a:lnTo>
                <a:cubicBezTo>
                  <a:pt x="177726" y="172762"/>
                  <a:pt x="182690" y="177726"/>
                  <a:pt x="188834" y="177726"/>
                </a:cubicBezTo>
                <a:cubicBezTo>
                  <a:pt x="194978" y="177726"/>
                  <a:pt x="199942" y="172762"/>
                  <a:pt x="199942" y="166618"/>
                </a:cubicBezTo>
                <a:lnTo>
                  <a:pt x="199942" y="49326"/>
                </a:lnTo>
                <a:cubicBezTo>
                  <a:pt x="199942" y="39780"/>
                  <a:pt x="193832" y="31276"/>
                  <a:pt x="184738" y="28256"/>
                </a:cubicBezTo>
                <a:lnTo>
                  <a:pt x="105247" y="1770"/>
                </a:lnTo>
                <a:cubicBezTo>
                  <a:pt x="101811" y="625"/>
                  <a:pt x="98131" y="625"/>
                  <a:pt x="94695" y="1770"/>
                </a:cubicBezTo>
                <a:lnTo>
                  <a:pt x="15204" y="28256"/>
                </a:lnTo>
                <a:cubicBezTo>
                  <a:pt x="6109" y="31276"/>
                  <a:pt x="0" y="39780"/>
                  <a:pt x="0" y="49326"/>
                </a:cubicBezTo>
                <a:close/>
                <a:moveTo>
                  <a:pt x="161064" y="88863"/>
                </a:moveTo>
                <a:lnTo>
                  <a:pt x="38878" y="88863"/>
                </a:lnTo>
                <a:lnTo>
                  <a:pt x="38878" y="111079"/>
                </a:lnTo>
                <a:lnTo>
                  <a:pt x="161064" y="111079"/>
                </a:lnTo>
                <a:lnTo>
                  <a:pt x="161064" y="88863"/>
                </a:lnTo>
                <a:close/>
                <a:moveTo>
                  <a:pt x="38878" y="144402"/>
                </a:moveTo>
                <a:lnTo>
                  <a:pt x="161064" y="144402"/>
                </a:lnTo>
                <a:lnTo>
                  <a:pt x="161064" y="122187"/>
                </a:lnTo>
                <a:lnTo>
                  <a:pt x="38878" y="122187"/>
                </a:lnTo>
                <a:lnTo>
                  <a:pt x="38878" y="144402"/>
                </a:lnTo>
                <a:close/>
                <a:moveTo>
                  <a:pt x="161064" y="155510"/>
                </a:moveTo>
                <a:lnTo>
                  <a:pt x="38878" y="155510"/>
                </a:lnTo>
                <a:lnTo>
                  <a:pt x="38878" y="177726"/>
                </a:lnTo>
                <a:lnTo>
                  <a:pt x="161064" y="177726"/>
                </a:lnTo>
                <a:lnTo>
                  <a:pt x="161064" y="155510"/>
                </a:ln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8746672" y="1350717"/>
            <a:ext cx="1252968" cy="248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9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Data Warehouse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284584" y="1777259"/>
            <a:ext cx="3483429" cy="39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Collects data from various sources for business insights and decision-making.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8284584" y="2239347"/>
            <a:ext cx="3412338" cy="319907"/>
          </a:xfrm>
          <a:custGeom>
            <a:rect b="b" l="l" r="r" t="t"/>
            <a:pathLst>
              <a:path extrusionOk="0" h="319907" w="3412338">
                <a:moveTo>
                  <a:pt x="35545" y="0"/>
                </a:moveTo>
                <a:lnTo>
                  <a:pt x="3376793" y="0"/>
                </a:lnTo>
                <a:cubicBezTo>
                  <a:pt x="3396424" y="0"/>
                  <a:pt x="3412338" y="15914"/>
                  <a:pt x="3412338" y="35545"/>
                </a:cubicBezTo>
                <a:lnTo>
                  <a:pt x="3412338" y="284362"/>
                </a:lnTo>
                <a:cubicBezTo>
                  <a:pt x="3412338" y="303993"/>
                  <a:pt x="3396424" y="319907"/>
                  <a:pt x="3376793" y="319907"/>
                </a:cubicBezTo>
                <a:lnTo>
                  <a:pt x="35545" y="319907"/>
                </a:lnTo>
                <a:cubicBezTo>
                  <a:pt x="15914" y="319907"/>
                  <a:pt x="0" y="303993"/>
                  <a:pt x="0" y="28436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8284584" y="2239347"/>
            <a:ext cx="3474542" cy="31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71075" lIns="106625" spcFirstLastPara="1" rIns="106625" wrap="square" tIns="710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Types:</a:t>
            </a:r>
            <a:r>
              <a:rPr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Enterprise, Data Mart, Virtual Warehouse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373224" y="2843615"/>
            <a:ext cx="3714472" cy="1670624"/>
          </a:xfrm>
          <a:custGeom>
            <a:rect b="b" l="l" r="r" t="t"/>
            <a:pathLst>
              <a:path extrusionOk="0" h="1670624" w="3714472">
                <a:moveTo>
                  <a:pt x="35545" y="0"/>
                </a:moveTo>
                <a:lnTo>
                  <a:pt x="3607836" y="0"/>
                </a:lnTo>
                <a:cubicBezTo>
                  <a:pt x="3666730" y="0"/>
                  <a:pt x="3714472" y="47743"/>
                  <a:pt x="3714472" y="106636"/>
                </a:cubicBezTo>
                <a:lnTo>
                  <a:pt x="3714472" y="1563988"/>
                </a:lnTo>
                <a:cubicBezTo>
                  <a:pt x="3714472" y="1622881"/>
                  <a:pt x="3666730" y="1670624"/>
                  <a:pt x="3607836" y="1670624"/>
                </a:cubicBezTo>
                <a:lnTo>
                  <a:pt x="35545" y="1670624"/>
                </a:lnTo>
                <a:cubicBezTo>
                  <a:pt x="15914" y="1670624"/>
                  <a:pt x="0" y="1654710"/>
                  <a:pt x="0" y="1635079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73224" y="2843615"/>
            <a:ext cx="35545" cy="1670624"/>
          </a:xfrm>
          <a:custGeom>
            <a:rect b="b" l="l" r="r" t="t"/>
            <a:pathLst>
              <a:path extrusionOk="0" h="1670624" w="35545">
                <a:moveTo>
                  <a:pt x="35545" y="0"/>
                </a:moveTo>
                <a:lnTo>
                  <a:pt x="35545" y="0"/>
                </a:lnTo>
                <a:lnTo>
                  <a:pt x="35545" y="1670624"/>
                </a:lnTo>
                <a:lnTo>
                  <a:pt x="35545" y="1670624"/>
                </a:lnTo>
                <a:cubicBezTo>
                  <a:pt x="15914" y="1670624"/>
                  <a:pt x="0" y="1654710"/>
                  <a:pt x="0" y="1635079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33178" y="2985796"/>
            <a:ext cx="355452" cy="355452"/>
          </a:xfrm>
          <a:custGeom>
            <a:rect b="b" l="l" r="r" t="t"/>
            <a:pathLst>
              <a:path extrusionOk="0" h="355452" w="355452">
                <a:moveTo>
                  <a:pt x="71090" y="0"/>
                </a:moveTo>
                <a:lnTo>
                  <a:pt x="284362" y="0"/>
                </a:lnTo>
                <a:cubicBezTo>
                  <a:pt x="323624" y="0"/>
                  <a:pt x="355452" y="31828"/>
                  <a:pt x="355452" y="71090"/>
                </a:cubicBezTo>
                <a:lnTo>
                  <a:pt x="355452" y="284362"/>
                </a:lnTo>
                <a:cubicBezTo>
                  <a:pt x="355452" y="323624"/>
                  <a:pt x="323624" y="355452"/>
                  <a:pt x="284362" y="355452"/>
                </a:cubicBezTo>
                <a:lnTo>
                  <a:pt x="71090" y="355452"/>
                </a:lnTo>
                <a:cubicBezTo>
                  <a:pt x="31828" y="355452"/>
                  <a:pt x="0" y="323624"/>
                  <a:pt x="0" y="284362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22041" y="3074659"/>
            <a:ext cx="177726" cy="177726"/>
          </a:xfrm>
          <a:custGeom>
            <a:rect b="b" l="l" r="r" t="t"/>
            <a:pathLst>
              <a:path extrusionOk="0" h="177726" w="177726">
                <a:moveTo>
                  <a:pt x="0" y="27770"/>
                </a:moveTo>
                <a:cubicBezTo>
                  <a:pt x="0" y="18571"/>
                  <a:pt x="7463" y="11108"/>
                  <a:pt x="16662" y="11108"/>
                </a:cubicBezTo>
                <a:lnTo>
                  <a:pt x="49985" y="11108"/>
                </a:lnTo>
                <a:cubicBezTo>
                  <a:pt x="59184" y="11108"/>
                  <a:pt x="66647" y="18571"/>
                  <a:pt x="66647" y="27770"/>
                </a:cubicBezTo>
                <a:lnTo>
                  <a:pt x="66647" y="33324"/>
                </a:lnTo>
                <a:lnTo>
                  <a:pt x="111079" y="33324"/>
                </a:lnTo>
                <a:lnTo>
                  <a:pt x="111079" y="27770"/>
                </a:lnTo>
                <a:cubicBezTo>
                  <a:pt x="111079" y="18571"/>
                  <a:pt x="118542" y="11108"/>
                  <a:pt x="127741" y="11108"/>
                </a:cubicBezTo>
                <a:lnTo>
                  <a:pt x="161064" y="11108"/>
                </a:lnTo>
                <a:cubicBezTo>
                  <a:pt x="170263" y="11108"/>
                  <a:pt x="177726" y="18571"/>
                  <a:pt x="177726" y="27770"/>
                </a:cubicBezTo>
                <a:lnTo>
                  <a:pt x="177726" y="61093"/>
                </a:lnTo>
                <a:cubicBezTo>
                  <a:pt x="177726" y="70292"/>
                  <a:pt x="170263" y="77755"/>
                  <a:pt x="161064" y="77755"/>
                </a:cubicBezTo>
                <a:lnTo>
                  <a:pt x="127741" y="77755"/>
                </a:lnTo>
                <a:cubicBezTo>
                  <a:pt x="118542" y="77755"/>
                  <a:pt x="111079" y="70292"/>
                  <a:pt x="111079" y="61093"/>
                </a:cubicBezTo>
                <a:lnTo>
                  <a:pt x="111079" y="55539"/>
                </a:lnTo>
                <a:lnTo>
                  <a:pt x="66647" y="55539"/>
                </a:lnTo>
                <a:lnTo>
                  <a:pt x="66647" y="61093"/>
                </a:lnTo>
                <a:cubicBezTo>
                  <a:pt x="66647" y="63627"/>
                  <a:pt x="66057" y="66057"/>
                  <a:pt x="65050" y="68209"/>
                </a:cubicBezTo>
                <a:lnTo>
                  <a:pt x="88863" y="99971"/>
                </a:lnTo>
                <a:lnTo>
                  <a:pt x="116633" y="99971"/>
                </a:lnTo>
                <a:cubicBezTo>
                  <a:pt x="125831" y="99971"/>
                  <a:pt x="133294" y="107434"/>
                  <a:pt x="133294" y="116633"/>
                </a:cubicBezTo>
                <a:lnTo>
                  <a:pt x="133294" y="149956"/>
                </a:lnTo>
                <a:cubicBezTo>
                  <a:pt x="133294" y="159155"/>
                  <a:pt x="125831" y="166618"/>
                  <a:pt x="116633" y="166618"/>
                </a:cubicBezTo>
                <a:lnTo>
                  <a:pt x="83309" y="166618"/>
                </a:lnTo>
                <a:cubicBezTo>
                  <a:pt x="74110" y="166618"/>
                  <a:pt x="66647" y="159155"/>
                  <a:pt x="66647" y="149956"/>
                </a:cubicBezTo>
                <a:lnTo>
                  <a:pt x="66647" y="116633"/>
                </a:lnTo>
                <a:cubicBezTo>
                  <a:pt x="66647" y="114099"/>
                  <a:pt x="67237" y="111669"/>
                  <a:pt x="68244" y="109517"/>
                </a:cubicBezTo>
                <a:lnTo>
                  <a:pt x="44431" y="77755"/>
                </a:lnTo>
                <a:lnTo>
                  <a:pt x="16662" y="77755"/>
                </a:lnTo>
                <a:cubicBezTo>
                  <a:pt x="7463" y="77755"/>
                  <a:pt x="0" y="70292"/>
                  <a:pt x="0" y="61093"/>
                </a:cubicBezTo>
                <a:lnTo>
                  <a:pt x="0" y="2777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995265" y="2985796"/>
            <a:ext cx="1546216" cy="248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9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Object-Relational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33178" y="3412338"/>
            <a:ext cx="3483429" cy="39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Combines object-oriented and relational models. Supports classes, objects, inheritance.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533178" y="3874426"/>
            <a:ext cx="3412338" cy="319907"/>
          </a:xfrm>
          <a:custGeom>
            <a:rect b="b" l="l" r="r" t="t"/>
            <a:pathLst>
              <a:path extrusionOk="0" h="319907" w="3412338">
                <a:moveTo>
                  <a:pt x="35545" y="0"/>
                </a:moveTo>
                <a:lnTo>
                  <a:pt x="3376793" y="0"/>
                </a:lnTo>
                <a:cubicBezTo>
                  <a:pt x="3396424" y="0"/>
                  <a:pt x="3412338" y="15914"/>
                  <a:pt x="3412338" y="35545"/>
                </a:cubicBezTo>
                <a:lnTo>
                  <a:pt x="3412338" y="284362"/>
                </a:lnTo>
                <a:cubicBezTo>
                  <a:pt x="3412338" y="303993"/>
                  <a:pt x="3396424" y="319907"/>
                  <a:pt x="3376793" y="319907"/>
                </a:cubicBezTo>
                <a:lnTo>
                  <a:pt x="35545" y="319907"/>
                </a:lnTo>
                <a:cubicBezTo>
                  <a:pt x="15914" y="319907"/>
                  <a:pt x="0" y="303993"/>
                  <a:pt x="0" y="28436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533178" y="3874426"/>
            <a:ext cx="3474542" cy="31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71075" lIns="106625" spcFirstLastPara="1" rIns="106625" wrap="square" tIns="710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Goal:</a:t>
            </a:r>
            <a:r>
              <a:rPr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Bridge gap between relational DB and OOP practices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248872" y="2843615"/>
            <a:ext cx="3714472" cy="1670624"/>
          </a:xfrm>
          <a:custGeom>
            <a:rect b="b" l="l" r="r" t="t"/>
            <a:pathLst>
              <a:path extrusionOk="0" h="1670624" w="3714472">
                <a:moveTo>
                  <a:pt x="35545" y="0"/>
                </a:moveTo>
                <a:lnTo>
                  <a:pt x="3607836" y="0"/>
                </a:lnTo>
                <a:cubicBezTo>
                  <a:pt x="3666730" y="0"/>
                  <a:pt x="3714472" y="47743"/>
                  <a:pt x="3714472" y="106636"/>
                </a:cubicBezTo>
                <a:lnTo>
                  <a:pt x="3714472" y="1563988"/>
                </a:lnTo>
                <a:cubicBezTo>
                  <a:pt x="3714472" y="1622881"/>
                  <a:pt x="3666730" y="1670624"/>
                  <a:pt x="3607836" y="1670624"/>
                </a:cubicBezTo>
                <a:lnTo>
                  <a:pt x="35545" y="1670624"/>
                </a:lnTo>
                <a:cubicBezTo>
                  <a:pt x="15914" y="1670624"/>
                  <a:pt x="0" y="1654710"/>
                  <a:pt x="0" y="1635079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248872" y="2843615"/>
            <a:ext cx="35545" cy="1670624"/>
          </a:xfrm>
          <a:custGeom>
            <a:rect b="b" l="l" r="r" t="t"/>
            <a:pathLst>
              <a:path extrusionOk="0" h="1670624" w="35545">
                <a:moveTo>
                  <a:pt x="35545" y="0"/>
                </a:moveTo>
                <a:lnTo>
                  <a:pt x="35545" y="0"/>
                </a:lnTo>
                <a:lnTo>
                  <a:pt x="35545" y="1670624"/>
                </a:lnTo>
                <a:lnTo>
                  <a:pt x="35545" y="1670624"/>
                </a:lnTo>
                <a:cubicBezTo>
                  <a:pt x="15914" y="1670624"/>
                  <a:pt x="0" y="1654710"/>
                  <a:pt x="0" y="1635079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408825" y="2985796"/>
            <a:ext cx="355452" cy="355452"/>
          </a:xfrm>
          <a:custGeom>
            <a:rect b="b" l="l" r="r" t="t"/>
            <a:pathLst>
              <a:path extrusionOk="0" h="355452" w="355452">
                <a:moveTo>
                  <a:pt x="71090" y="0"/>
                </a:moveTo>
                <a:lnTo>
                  <a:pt x="284362" y="0"/>
                </a:lnTo>
                <a:cubicBezTo>
                  <a:pt x="323624" y="0"/>
                  <a:pt x="355452" y="31828"/>
                  <a:pt x="355452" y="71090"/>
                </a:cubicBezTo>
                <a:lnTo>
                  <a:pt x="355452" y="284362"/>
                </a:lnTo>
                <a:cubicBezTo>
                  <a:pt x="355452" y="323624"/>
                  <a:pt x="323624" y="355452"/>
                  <a:pt x="284362" y="355452"/>
                </a:cubicBezTo>
                <a:lnTo>
                  <a:pt x="71090" y="355452"/>
                </a:lnTo>
                <a:cubicBezTo>
                  <a:pt x="31828" y="355452"/>
                  <a:pt x="0" y="323624"/>
                  <a:pt x="0" y="284362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497688" y="3074659"/>
            <a:ext cx="177726" cy="177726"/>
          </a:xfrm>
          <a:custGeom>
            <a:rect b="b" l="l" r="r" t="t"/>
            <a:pathLst>
              <a:path extrusionOk="0" h="177726" w="177726">
                <a:moveTo>
                  <a:pt x="174463" y="52276"/>
                </a:moveTo>
                <a:lnTo>
                  <a:pt x="141139" y="85600"/>
                </a:lnTo>
                <a:cubicBezTo>
                  <a:pt x="137946" y="88794"/>
                  <a:pt x="133190" y="89731"/>
                  <a:pt x="129025" y="87995"/>
                </a:cubicBezTo>
                <a:cubicBezTo>
                  <a:pt x="124859" y="86260"/>
                  <a:pt x="122187" y="82233"/>
                  <a:pt x="122187" y="77755"/>
                </a:cubicBezTo>
                <a:lnTo>
                  <a:pt x="122187" y="55539"/>
                </a:lnTo>
                <a:lnTo>
                  <a:pt x="11108" y="55539"/>
                </a:lnTo>
                <a:cubicBezTo>
                  <a:pt x="4964" y="55539"/>
                  <a:pt x="0" y="50576"/>
                  <a:pt x="0" y="44431"/>
                </a:cubicBezTo>
                <a:cubicBezTo>
                  <a:pt x="0" y="38287"/>
                  <a:pt x="4964" y="33324"/>
                  <a:pt x="11108" y="33324"/>
                </a:cubicBezTo>
                <a:lnTo>
                  <a:pt x="122187" y="33324"/>
                </a:lnTo>
                <a:lnTo>
                  <a:pt x="122187" y="11108"/>
                </a:lnTo>
                <a:cubicBezTo>
                  <a:pt x="122187" y="6630"/>
                  <a:pt x="124894" y="2569"/>
                  <a:pt x="129060" y="833"/>
                </a:cubicBezTo>
                <a:cubicBezTo>
                  <a:pt x="133225" y="-903"/>
                  <a:pt x="137981" y="69"/>
                  <a:pt x="141174" y="3228"/>
                </a:cubicBezTo>
                <a:lnTo>
                  <a:pt x="174498" y="36552"/>
                </a:lnTo>
                <a:cubicBezTo>
                  <a:pt x="178837" y="40891"/>
                  <a:pt x="178837" y="47937"/>
                  <a:pt x="174498" y="52276"/>
                </a:cubicBezTo>
                <a:close/>
                <a:moveTo>
                  <a:pt x="36552" y="174463"/>
                </a:moveTo>
                <a:lnTo>
                  <a:pt x="3228" y="141139"/>
                </a:lnTo>
                <a:cubicBezTo>
                  <a:pt x="-1111" y="136800"/>
                  <a:pt x="-1111" y="129754"/>
                  <a:pt x="3228" y="125415"/>
                </a:cubicBezTo>
                <a:lnTo>
                  <a:pt x="36552" y="92091"/>
                </a:lnTo>
                <a:cubicBezTo>
                  <a:pt x="39745" y="88898"/>
                  <a:pt x="44501" y="87960"/>
                  <a:pt x="48666" y="89696"/>
                </a:cubicBezTo>
                <a:cubicBezTo>
                  <a:pt x="52832" y="91432"/>
                  <a:pt x="55539" y="95493"/>
                  <a:pt x="55539" y="99971"/>
                </a:cubicBezTo>
                <a:lnTo>
                  <a:pt x="55539" y="122187"/>
                </a:lnTo>
                <a:lnTo>
                  <a:pt x="166618" y="122187"/>
                </a:lnTo>
                <a:cubicBezTo>
                  <a:pt x="172762" y="122187"/>
                  <a:pt x="177726" y="127150"/>
                  <a:pt x="177726" y="133294"/>
                </a:cubicBezTo>
                <a:cubicBezTo>
                  <a:pt x="177726" y="139439"/>
                  <a:pt x="172762" y="144402"/>
                  <a:pt x="166618" y="144402"/>
                </a:cubicBezTo>
                <a:lnTo>
                  <a:pt x="55539" y="144402"/>
                </a:lnTo>
                <a:lnTo>
                  <a:pt x="55539" y="166618"/>
                </a:lnTo>
                <a:cubicBezTo>
                  <a:pt x="55539" y="171096"/>
                  <a:pt x="52832" y="175157"/>
                  <a:pt x="48666" y="176893"/>
                </a:cubicBezTo>
                <a:cubicBezTo>
                  <a:pt x="44501" y="178628"/>
                  <a:pt x="39745" y="177657"/>
                  <a:pt x="36552" y="174498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870913" y="2985796"/>
            <a:ext cx="1279627" cy="248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9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Transactional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408825" y="3412338"/>
            <a:ext cx="3483429" cy="39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DBMS with ability to undo transactions. Follows ACID properties.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408825" y="3874426"/>
            <a:ext cx="3412338" cy="497633"/>
          </a:xfrm>
          <a:custGeom>
            <a:rect b="b" l="l" r="r" t="t"/>
            <a:pathLst>
              <a:path extrusionOk="0" h="497633" w="3412338">
                <a:moveTo>
                  <a:pt x="35546" y="0"/>
                </a:moveTo>
                <a:lnTo>
                  <a:pt x="3376792" y="0"/>
                </a:lnTo>
                <a:cubicBezTo>
                  <a:pt x="3396424" y="0"/>
                  <a:pt x="3412338" y="15914"/>
                  <a:pt x="3412338" y="35546"/>
                </a:cubicBezTo>
                <a:lnTo>
                  <a:pt x="3412338" y="462087"/>
                </a:lnTo>
                <a:cubicBezTo>
                  <a:pt x="3412338" y="481718"/>
                  <a:pt x="3396424" y="497633"/>
                  <a:pt x="3376792" y="497633"/>
                </a:cubicBezTo>
                <a:lnTo>
                  <a:pt x="35546" y="497633"/>
                </a:lnTo>
                <a:cubicBezTo>
                  <a:pt x="15914" y="497633"/>
                  <a:pt x="0" y="481718"/>
                  <a:pt x="0" y="462087"/>
                </a:cubicBezTo>
                <a:lnTo>
                  <a:pt x="0" y="35546"/>
                </a:lnTo>
                <a:cubicBezTo>
                  <a:pt x="0" y="15928"/>
                  <a:pt x="15928" y="0"/>
                  <a:pt x="3554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408825" y="3874426"/>
            <a:ext cx="3474542" cy="497633"/>
          </a:xfrm>
          <a:prstGeom prst="rect">
            <a:avLst/>
          </a:prstGeom>
          <a:noFill/>
          <a:ln>
            <a:noFill/>
          </a:ln>
        </p:spPr>
        <p:txBody>
          <a:bodyPr anchorCtr="0" anchor="ctr" bIns="71075" lIns="106625" spcFirstLastPara="1" rIns="106625" wrap="square" tIns="710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Applications:</a:t>
            </a:r>
            <a:r>
              <a:rPr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Banking, distributed systems, flexible modifications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8124631" y="2843615"/>
            <a:ext cx="3714472" cy="1670624"/>
          </a:xfrm>
          <a:custGeom>
            <a:rect b="b" l="l" r="r" t="t"/>
            <a:pathLst>
              <a:path extrusionOk="0" h="1670624" w="3714472">
                <a:moveTo>
                  <a:pt x="35545" y="0"/>
                </a:moveTo>
                <a:lnTo>
                  <a:pt x="3607836" y="0"/>
                </a:lnTo>
                <a:cubicBezTo>
                  <a:pt x="3666730" y="0"/>
                  <a:pt x="3714472" y="47743"/>
                  <a:pt x="3714472" y="106636"/>
                </a:cubicBezTo>
                <a:lnTo>
                  <a:pt x="3714472" y="1563988"/>
                </a:lnTo>
                <a:cubicBezTo>
                  <a:pt x="3714472" y="1622881"/>
                  <a:pt x="3666730" y="1670624"/>
                  <a:pt x="3607836" y="1670624"/>
                </a:cubicBezTo>
                <a:lnTo>
                  <a:pt x="35545" y="1670624"/>
                </a:lnTo>
                <a:cubicBezTo>
                  <a:pt x="15914" y="1670624"/>
                  <a:pt x="0" y="1654710"/>
                  <a:pt x="0" y="1635079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8124631" y="2843615"/>
            <a:ext cx="35545" cy="1670624"/>
          </a:xfrm>
          <a:custGeom>
            <a:rect b="b" l="l" r="r" t="t"/>
            <a:pathLst>
              <a:path extrusionOk="0" h="1670624" w="35545">
                <a:moveTo>
                  <a:pt x="35545" y="0"/>
                </a:moveTo>
                <a:lnTo>
                  <a:pt x="35545" y="0"/>
                </a:lnTo>
                <a:lnTo>
                  <a:pt x="35545" y="1670624"/>
                </a:lnTo>
                <a:lnTo>
                  <a:pt x="35545" y="1670624"/>
                </a:lnTo>
                <a:cubicBezTo>
                  <a:pt x="15914" y="1670624"/>
                  <a:pt x="0" y="1654710"/>
                  <a:pt x="0" y="1635079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8284584" y="2985796"/>
            <a:ext cx="355452" cy="355452"/>
          </a:xfrm>
          <a:custGeom>
            <a:rect b="b" l="l" r="r" t="t"/>
            <a:pathLst>
              <a:path extrusionOk="0" h="355452" w="355452">
                <a:moveTo>
                  <a:pt x="71090" y="0"/>
                </a:moveTo>
                <a:lnTo>
                  <a:pt x="284362" y="0"/>
                </a:lnTo>
                <a:cubicBezTo>
                  <a:pt x="323624" y="0"/>
                  <a:pt x="355452" y="31828"/>
                  <a:pt x="355452" y="71090"/>
                </a:cubicBezTo>
                <a:lnTo>
                  <a:pt x="355452" y="284362"/>
                </a:lnTo>
                <a:cubicBezTo>
                  <a:pt x="355452" y="323624"/>
                  <a:pt x="323624" y="355452"/>
                  <a:pt x="284362" y="355452"/>
                </a:cubicBezTo>
                <a:lnTo>
                  <a:pt x="71090" y="355452"/>
                </a:lnTo>
                <a:cubicBezTo>
                  <a:pt x="31828" y="355452"/>
                  <a:pt x="0" y="323624"/>
                  <a:pt x="0" y="284362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8351232" y="3074659"/>
            <a:ext cx="222157" cy="177726"/>
          </a:xfrm>
          <a:custGeom>
            <a:rect b="b" l="l" r="r" t="t"/>
            <a:pathLst>
              <a:path extrusionOk="0" h="177726" w="222157">
                <a:moveTo>
                  <a:pt x="66647" y="22216"/>
                </a:moveTo>
                <a:cubicBezTo>
                  <a:pt x="66647" y="9962"/>
                  <a:pt x="76610" y="0"/>
                  <a:pt x="88863" y="0"/>
                </a:cubicBezTo>
                <a:lnTo>
                  <a:pt x="199942" y="0"/>
                </a:lnTo>
                <a:cubicBezTo>
                  <a:pt x="212195" y="0"/>
                  <a:pt x="222157" y="9962"/>
                  <a:pt x="222157" y="22216"/>
                </a:cubicBezTo>
                <a:lnTo>
                  <a:pt x="222157" y="99971"/>
                </a:lnTo>
                <a:cubicBezTo>
                  <a:pt x="222157" y="112224"/>
                  <a:pt x="212195" y="122187"/>
                  <a:pt x="199942" y="122187"/>
                </a:cubicBezTo>
                <a:lnTo>
                  <a:pt x="88863" y="122187"/>
                </a:lnTo>
                <a:cubicBezTo>
                  <a:pt x="76610" y="122187"/>
                  <a:pt x="66647" y="112224"/>
                  <a:pt x="66647" y="99971"/>
                </a:cubicBezTo>
                <a:lnTo>
                  <a:pt x="66647" y="22216"/>
                </a:lnTo>
                <a:close/>
                <a:moveTo>
                  <a:pt x="111079" y="33324"/>
                </a:moveTo>
                <a:cubicBezTo>
                  <a:pt x="111079" y="27193"/>
                  <a:pt x="106101" y="22216"/>
                  <a:pt x="99971" y="22216"/>
                </a:cubicBezTo>
                <a:cubicBezTo>
                  <a:pt x="93840" y="22216"/>
                  <a:pt x="88863" y="27193"/>
                  <a:pt x="88863" y="33324"/>
                </a:cubicBezTo>
                <a:cubicBezTo>
                  <a:pt x="88863" y="39454"/>
                  <a:pt x="93840" y="44431"/>
                  <a:pt x="99971" y="44431"/>
                </a:cubicBezTo>
                <a:cubicBezTo>
                  <a:pt x="106101" y="44431"/>
                  <a:pt x="111079" y="39454"/>
                  <a:pt x="111079" y="33324"/>
                </a:cubicBezTo>
                <a:close/>
                <a:moveTo>
                  <a:pt x="165403" y="37316"/>
                </a:moveTo>
                <a:cubicBezTo>
                  <a:pt x="163876" y="34851"/>
                  <a:pt x="161203" y="33324"/>
                  <a:pt x="158287" y="33324"/>
                </a:cubicBezTo>
                <a:cubicBezTo>
                  <a:pt x="155371" y="33324"/>
                  <a:pt x="152699" y="34851"/>
                  <a:pt x="151171" y="37316"/>
                </a:cubicBezTo>
                <a:lnTo>
                  <a:pt x="132427" y="67966"/>
                </a:lnTo>
                <a:lnTo>
                  <a:pt x="126213" y="59080"/>
                </a:lnTo>
                <a:cubicBezTo>
                  <a:pt x="124651" y="56858"/>
                  <a:pt x="122117" y="55539"/>
                  <a:pt x="119375" y="55539"/>
                </a:cubicBezTo>
                <a:cubicBezTo>
                  <a:pt x="116633" y="55539"/>
                  <a:pt x="114099" y="56858"/>
                  <a:pt x="112537" y="59080"/>
                </a:cubicBezTo>
                <a:lnTo>
                  <a:pt x="93098" y="86850"/>
                </a:lnTo>
                <a:cubicBezTo>
                  <a:pt x="91328" y="89384"/>
                  <a:pt x="91085" y="92716"/>
                  <a:pt x="92542" y="95458"/>
                </a:cubicBezTo>
                <a:cubicBezTo>
                  <a:pt x="94000" y="98201"/>
                  <a:pt x="96881" y="99971"/>
                  <a:pt x="99971" y="99971"/>
                </a:cubicBezTo>
                <a:lnTo>
                  <a:pt x="188834" y="99971"/>
                </a:lnTo>
                <a:cubicBezTo>
                  <a:pt x="191854" y="99971"/>
                  <a:pt x="194631" y="98339"/>
                  <a:pt x="196089" y="95701"/>
                </a:cubicBezTo>
                <a:cubicBezTo>
                  <a:pt x="197547" y="93063"/>
                  <a:pt x="197512" y="89870"/>
                  <a:pt x="195915" y="87266"/>
                </a:cubicBezTo>
                <a:lnTo>
                  <a:pt x="165368" y="37281"/>
                </a:lnTo>
                <a:close/>
                <a:moveTo>
                  <a:pt x="49985" y="44431"/>
                </a:moveTo>
                <a:lnTo>
                  <a:pt x="49985" y="99971"/>
                </a:lnTo>
                <a:cubicBezTo>
                  <a:pt x="49985" y="121458"/>
                  <a:pt x="67376" y="138848"/>
                  <a:pt x="88863" y="138848"/>
                </a:cubicBezTo>
                <a:lnTo>
                  <a:pt x="155510" y="138848"/>
                </a:lnTo>
                <a:lnTo>
                  <a:pt x="155510" y="144402"/>
                </a:lnTo>
                <a:cubicBezTo>
                  <a:pt x="155510" y="156656"/>
                  <a:pt x="145548" y="166618"/>
                  <a:pt x="133294" y="166618"/>
                </a:cubicBezTo>
                <a:lnTo>
                  <a:pt x="22216" y="166618"/>
                </a:lnTo>
                <a:cubicBezTo>
                  <a:pt x="9962" y="166618"/>
                  <a:pt x="0" y="156656"/>
                  <a:pt x="0" y="144402"/>
                </a:cubicBezTo>
                <a:lnTo>
                  <a:pt x="0" y="66647"/>
                </a:lnTo>
                <a:cubicBezTo>
                  <a:pt x="0" y="54394"/>
                  <a:pt x="9962" y="44431"/>
                  <a:pt x="22216" y="44431"/>
                </a:cubicBezTo>
                <a:lnTo>
                  <a:pt x="49985" y="44431"/>
                </a:lnTo>
                <a:close/>
                <a:moveTo>
                  <a:pt x="18050" y="68036"/>
                </a:moveTo>
                <a:lnTo>
                  <a:pt x="18050" y="76367"/>
                </a:lnTo>
                <a:cubicBezTo>
                  <a:pt x="18050" y="79421"/>
                  <a:pt x="20550" y="81921"/>
                  <a:pt x="23604" y="81921"/>
                </a:cubicBezTo>
                <a:lnTo>
                  <a:pt x="31935" y="81921"/>
                </a:lnTo>
                <a:cubicBezTo>
                  <a:pt x="34990" y="81921"/>
                  <a:pt x="37489" y="79421"/>
                  <a:pt x="37489" y="76367"/>
                </a:cubicBezTo>
                <a:lnTo>
                  <a:pt x="37489" y="68036"/>
                </a:lnTo>
                <a:cubicBezTo>
                  <a:pt x="37489" y="64981"/>
                  <a:pt x="34990" y="62482"/>
                  <a:pt x="31935" y="62482"/>
                </a:cubicBezTo>
                <a:lnTo>
                  <a:pt x="23604" y="62482"/>
                </a:lnTo>
                <a:cubicBezTo>
                  <a:pt x="20550" y="62482"/>
                  <a:pt x="18050" y="64981"/>
                  <a:pt x="18050" y="68036"/>
                </a:cubicBezTo>
                <a:close/>
                <a:moveTo>
                  <a:pt x="23604" y="95805"/>
                </a:moveTo>
                <a:cubicBezTo>
                  <a:pt x="20550" y="95805"/>
                  <a:pt x="18050" y="98305"/>
                  <a:pt x="18050" y="101359"/>
                </a:cubicBezTo>
                <a:lnTo>
                  <a:pt x="18050" y="109690"/>
                </a:lnTo>
                <a:cubicBezTo>
                  <a:pt x="18050" y="112745"/>
                  <a:pt x="20550" y="115244"/>
                  <a:pt x="23604" y="115244"/>
                </a:cubicBezTo>
                <a:lnTo>
                  <a:pt x="31935" y="115244"/>
                </a:lnTo>
                <a:cubicBezTo>
                  <a:pt x="34990" y="115244"/>
                  <a:pt x="37489" y="112745"/>
                  <a:pt x="37489" y="109690"/>
                </a:cubicBezTo>
                <a:lnTo>
                  <a:pt x="37489" y="101359"/>
                </a:lnTo>
                <a:cubicBezTo>
                  <a:pt x="37489" y="98305"/>
                  <a:pt x="34990" y="95805"/>
                  <a:pt x="31935" y="95805"/>
                </a:cubicBezTo>
                <a:lnTo>
                  <a:pt x="23604" y="95805"/>
                </a:lnTo>
                <a:close/>
                <a:moveTo>
                  <a:pt x="23604" y="129129"/>
                </a:moveTo>
                <a:cubicBezTo>
                  <a:pt x="20550" y="129129"/>
                  <a:pt x="18050" y="131628"/>
                  <a:pt x="18050" y="134683"/>
                </a:cubicBezTo>
                <a:lnTo>
                  <a:pt x="18050" y="143014"/>
                </a:lnTo>
                <a:cubicBezTo>
                  <a:pt x="18050" y="146069"/>
                  <a:pt x="20550" y="148568"/>
                  <a:pt x="23604" y="148568"/>
                </a:cubicBezTo>
                <a:lnTo>
                  <a:pt x="31935" y="148568"/>
                </a:lnTo>
                <a:cubicBezTo>
                  <a:pt x="34990" y="148568"/>
                  <a:pt x="37489" y="146069"/>
                  <a:pt x="37489" y="143014"/>
                </a:cubicBezTo>
                <a:lnTo>
                  <a:pt x="37489" y="134683"/>
                </a:lnTo>
                <a:cubicBezTo>
                  <a:pt x="37489" y="131628"/>
                  <a:pt x="34990" y="129129"/>
                  <a:pt x="31935" y="129129"/>
                </a:cubicBezTo>
                <a:lnTo>
                  <a:pt x="23604" y="129129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8746672" y="2985796"/>
            <a:ext cx="1119673" cy="248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9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Multimedia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8284584" y="3412338"/>
            <a:ext cx="3483429" cy="39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Contains audio, video, images, and text media. Stored in object-oriented databases.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284584" y="3874426"/>
            <a:ext cx="3412338" cy="319907"/>
          </a:xfrm>
          <a:custGeom>
            <a:rect b="b" l="l" r="r" t="t"/>
            <a:pathLst>
              <a:path extrusionOk="0" h="319907" w="3412338">
                <a:moveTo>
                  <a:pt x="35545" y="0"/>
                </a:moveTo>
                <a:lnTo>
                  <a:pt x="3376793" y="0"/>
                </a:lnTo>
                <a:cubicBezTo>
                  <a:pt x="3396424" y="0"/>
                  <a:pt x="3412338" y="15914"/>
                  <a:pt x="3412338" y="35545"/>
                </a:cubicBezTo>
                <a:lnTo>
                  <a:pt x="3412338" y="284362"/>
                </a:lnTo>
                <a:cubicBezTo>
                  <a:pt x="3412338" y="303993"/>
                  <a:pt x="3396424" y="319907"/>
                  <a:pt x="3376793" y="319907"/>
                </a:cubicBezTo>
                <a:lnTo>
                  <a:pt x="35545" y="319907"/>
                </a:lnTo>
                <a:cubicBezTo>
                  <a:pt x="15914" y="319907"/>
                  <a:pt x="0" y="303993"/>
                  <a:pt x="0" y="28436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8284584" y="3874426"/>
            <a:ext cx="3474542" cy="31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71075" lIns="106625" spcFirstLastPara="1" rIns="106625" wrap="square" tIns="710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Uses:</a:t>
            </a:r>
            <a:r>
              <a:rPr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Digital libraries, video-on-demand, music databases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73224" y="4656420"/>
            <a:ext cx="3714472" cy="1492898"/>
          </a:xfrm>
          <a:custGeom>
            <a:rect b="b" l="l" r="r" t="t"/>
            <a:pathLst>
              <a:path extrusionOk="0" h="1492898" w="3714472">
                <a:moveTo>
                  <a:pt x="35545" y="0"/>
                </a:moveTo>
                <a:lnTo>
                  <a:pt x="3607835" y="0"/>
                </a:lnTo>
                <a:cubicBezTo>
                  <a:pt x="3666729" y="0"/>
                  <a:pt x="3714472" y="47743"/>
                  <a:pt x="3714472" y="106638"/>
                </a:cubicBezTo>
                <a:lnTo>
                  <a:pt x="3714472" y="1386260"/>
                </a:lnTo>
                <a:cubicBezTo>
                  <a:pt x="3714472" y="1445155"/>
                  <a:pt x="3666729" y="1492898"/>
                  <a:pt x="3607835" y="1492898"/>
                </a:cubicBezTo>
                <a:lnTo>
                  <a:pt x="35545" y="1492898"/>
                </a:lnTo>
                <a:cubicBezTo>
                  <a:pt x="15914" y="1492898"/>
                  <a:pt x="0" y="1476984"/>
                  <a:pt x="0" y="1457353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373224" y="4656420"/>
            <a:ext cx="35545" cy="1492898"/>
          </a:xfrm>
          <a:custGeom>
            <a:rect b="b" l="l" r="r" t="t"/>
            <a:pathLst>
              <a:path extrusionOk="0" h="1492898" w="35545">
                <a:moveTo>
                  <a:pt x="35545" y="0"/>
                </a:moveTo>
                <a:lnTo>
                  <a:pt x="35545" y="0"/>
                </a:lnTo>
                <a:lnTo>
                  <a:pt x="35545" y="1492898"/>
                </a:lnTo>
                <a:lnTo>
                  <a:pt x="35545" y="1492898"/>
                </a:lnTo>
                <a:cubicBezTo>
                  <a:pt x="15914" y="1492898"/>
                  <a:pt x="0" y="1476984"/>
                  <a:pt x="0" y="1457353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533178" y="4798601"/>
            <a:ext cx="355452" cy="355452"/>
          </a:xfrm>
          <a:custGeom>
            <a:rect b="b" l="l" r="r" t="t"/>
            <a:pathLst>
              <a:path extrusionOk="0" h="355452" w="355452">
                <a:moveTo>
                  <a:pt x="71090" y="0"/>
                </a:moveTo>
                <a:lnTo>
                  <a:pt x="284362" y="0"/>
                </a:lnTo>
                <a:cubicBezTo>
                  <a:pt x="323624" y="0"/>
                  <a:pt x="355452" y="31828"/>
                  <a:pt x="355452" y="71090"/>
                </a:cubicBezTo>
                <a:lnTo>
                  <a:pt x="355452" y="284362"/>
                </a:lnTo>
                <a:cubicBezTo>
                  <a:pt x="355452" y="323624"/>
                  <a:pt x="323624" y="355452"/>
                  <a:pt x="284362" y="355452"/>
                </a:cubicBezTo>
                <a:lnTo>
                  <a:pt x="71090" y="355452"/>
                </a:lnTo>
                <a:cubicBezTo>
                  <a:pt x="31828" y="355452"/>
                  <a:pt x="0" y="323624"/>
                  <a:pt x="0" y="284362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99825" y="4887464"/>
            <a:ext cx="222157" cy="177726"/>
          </a:xfrm>
          <a:custGeom>
            <a:rect b="b" l="l" r="r" t="t"/>
            <a:pathLst>
              <a:path extrusionOk="0" h="177726" w="222157">
                <a:moveTo>
                  <a:pt x="199942" y="16662"/>
                </a:moveTo>
                <a:cubicBezTo>
                  <a:pt x="199942" y="12809"/>
                  <a:pt x="197963" y="9233"/>
                  <a:pt x="194665" y="7220"/>
                </a:cubicBezTo>
                <a:cubicBezTo>
                  <a:pt x="191368" y="5207"/>
                  <a:pt x="187306" y="4999"/>
                  <a:pt x="183870" y="6734"/>
                </a:cubicBezTo>
                <a:lnTo>
                  <a:pt x="143535" y="26902"/>
                </a:lnTo>
                <a:lnTo>
                  <a:pt x="81261" y="6109"/>
                </a:lnTo>
                <a:cubicBezTo>
                  <a:pt x="78449" y="5172"/>
                  <a:pt x="75429" y="5380"/>
                  <a:pt x="72791" y="6699"/>
                </a:cubicBezTo>
                <a:lnTo>
                  <a:pt x="28360" y="28915"/>
                </a:lnTo>
                <a:cubicBezTo>
                  <a:pt x="24576" y="30824"/>
                  <a:pt x="22216" y="34677"/>
                  <a:pt x="22216" y="38878"/>
                </a:cubicBezTo>
                <a:lnTo>
                  <a:pt x="22216" y="161064"/>
                </a:lnTo>
                <a:cubicBezTo>
                  <a:pt x="22216" y="164917"/>
                  <a:pt x="24194" y="168493"/>
                  <a:pt x="27492" y="170506"/>
                </a:cubicBezTo>
                <a:cubicBezTo>
                  <a:pt x="30790" y="172519"/>
                  <a:pt x="34851" y="172727"/>
                  <a:pt x="38287" y="170992"/>
                </a:cubicBezTo>
                <a:lnTo>
                  <a:pt x="78588" y="150824"/>
                </a:lnTo>
                <a:lnTo>
                  <a:pt x="138744" y="170888"/>
                </a:lnTo>
                <a:cubicBezTo>
                  <a:pt x="137252" y="168666"/>
                  <a:pt x="135794" y="166340"/>
                  <a:pt x="134371" y="163980"/>
                </a:cubicBezTo>
                <a:cubicBezTo>
                  <a:pt x="130552" y="157628"/>
                  <a:pt x="126769" y="150338"/>
                  <a:pt x="123957" y="142528"/>
                </a:cubicBezTo>
                <a:lnTo>
                  <a:pt x="88828" y="130830"/>
                </a:lnTo>
                <a:lnTo>
                  <a:pt x="88828" y="32074"/>
                </a:lnTo>
                <a:lnTo>
                  <a:pt x="133260" y="46896"/>
                </a:lnTo>
                <a:lnTo>
                  <a:pt x="133260" y="81365"/>
                </a:lnTo>
                <a:cubicBezTo>
                  <a:pt x="144020" y="68938"/>
                  <a:pt x="159988" y="61093"/>
                  <a:pt x="177691" y="61093"/>
                </a:cubicBezTo>
                <a:cubicBezTo>
                  <a:pt x="185536" y="61093"/>
                  <a:pt x="193034" y="62621"/>
                  <a:pt x="199907" y="65432"/>
                </a:cubicBezTo>
                <a:lnTo>
                  <a:pt x="199942" y="16662"/>
                </a:lnTo>
                <a:close/>
                <a:moveTo>
                  <a:pt x="177726" y="77755"/>
                </a:moveTo>
                <a:cubicBezTo>
                  <a:pt x="154712" y="77755"/>
                  <a:pt x="136071" y="96083"/>
                  <a:pt x="136071" y="118681"/>
                </a:cubicBezTo>
                <a:cubicBezTo>
                  <a:pt x="136071" y="142597"/>
                  <a:pt x="158322" y="170888"/>
                  <a:pt x="170298" y="184391"/>
                </a:cubicBezTo>
                <a:cubicBezTo>
                  <a:pt x="174324" y="188903"/>
                  <a:pt x="181162" y="188903"/>
                  <a:pt x="185189" y="184391"/>
                </a:cubicBezTo>
                <a:cubicBezTo>
                  <a:pt x="197165" y="170888"/>
                  <a:pt x="219415" y="142597"/>
                  <a:pt x="219415" y="118681"/>
                </a:cubicBezTo>
                <a:cubicBezTo>
                  <a:pt x="219415" y="96083"/>
                  <a:pt x="200775" y="77755"/>
                  <a:pt x="177761" y="77755"/>
                </a:cubicBezTo>
                <a:close/>
                <a:moveTo>
                  <a:pt x="163841" y="119410"/>
                </a:moveTo>
                <a:cubicBezTo>
                  <a:pt x="163841" y="111746"/>
                  <a:pt x="170063" y="105525"/>
                  <a:pt x="177726" y="105525"/>
                </a:cubicBezTo>
                <a:cubicBezTo>
                  <a:pt x="185389" y="105525"/>
                  <a:pt x="191611" y="111746"/>
                  <a:pt x="191611" y="119410"/>
                </a:cubicBezTo>
                <a:cubicBezTo>
                  <a:pt x="191611" y="127073"/>
                  <a:pt x="185389" y="133294"/>
                  <a:pt x="177726" y="133294"/>
                </a:cubicBezTo>
                <a:cubicBezTo>
                  <a:pt x="170063" y="133294"/>
                  <a:pt x="163841" y="127073"/>
                  <a:pt x="163841" y="11941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995265" y="4798601"/>
            <a:ext cx="1261854" cy="248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9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Spatial Database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33178" y="5225143"/>
            <a:ext cx="3483429" cy="39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Stores geographical information like maps and positioning data.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533178" y="5687230"/>
            <a:ext cx="3412338" cy="319907"/>
          </a:xfrm>
          <a:custGeom>
            <a:rect b="b" l="l" r="r" t="t"/>
            <a:pathLst>
              <a:path extrusionOk="0" h="319907" w="3412338">
                <a:moveTo>
                  <a:pt x="35545" y="0"/>
                </a:moveTo>
                <a:lnTo>
                  <a:pt x="3376793" y="0"/>
                </a:lnTo>
                <a:cubicBezTo>
                  <a:pt x="3396424" y="0"/>
                  <a:pt x="3412338" y="15914"/>
                  <a:pt x="3412338" y="35545"/>
                </a:cubicBezTo>
                <a:lnTo>
                  <a:pt x="3412338" y="284362"/>
                </a:lnTo>
                <a:cubicBezTo>
                  <a:pt x="3412338" y="303993"/>
                  <a:pt x="3396424" y="319907"/>
                  <a:pt x="3376793" y="319907"/>
                </a:cubicBezTo>
                <a:lnTo>
                  <a:pt x="35545" y="319907"/>
                </a:lnTo>
                <a:cubicBezTo>
                  <a:pt x="15914" y="319907"/>
                  <a:pt x="0" y="303993"/>
                  <a:pt x="0" y="28436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533178" y="5687230"/>
            <a:ext cx="3474542" cy="31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71075" lIns="106625" spcFirstLastPara="1" rIns="106625" wrap="square" tIns="710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Format:</a:t>
            </a:r>
            <a:r>
              <a:rPr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Coordinates, topology, lines, polygons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248872" y="4656420"/>
            <a:ext cx="3714472" cy="1492898"/>
          </a:xfrm>
          <a:custGeom>
            <a:rect b="b" l="l" r="r" t="t"/>
            <a:pathLst>
              <a:path extrusionOk="0" h="1492898" w="3714472">
                <a:moveTo>
                  <a:pt x="35545" y="0"/>
                </a:moveTo>
                <a:lnTo>
                  <a:pt x="3607835" y="0"/>
                </a:lnTo>
                <a:cubicBezTo>
                  <a:pt x="3666729" y="0"/>
                  <a:pt x="3714472" y="47743"/>
                  <a:pt x="3714472" y="106638"/>
                </a:cubicBezTo>
                <a:lnTo>
                  <a:pt x="3714472" y="1386260"/>
                </a:lnTo>
                <a:cubicBezTo>
                  <a:pt x="3714472" y="1445155"/>
                  <a:pt x="3666729" y="1492898"/>
                  <a:pt x="3607835" y="1492898"/>
                </a:cubicBezTo>
                <a:lnTo>
                  <a:pt x="35545" y="1492898"/>
                </a:lnTo>
                <a:cubicBezTo>
                  <a:pt x="15914" y="1492898"/>
                  <a:pt x="0" y="1476984"/>
                  <a:pt x="0" y="1457353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248872" y="4656420"/>
            <a:ext cx="35545" cy="1492898"/>
          </a:xfrm>
          <a:custGeom>
            <a:rect b="b" l="l" r="r" t="t"/>
            <a:pathLst>
              <a:path extrusionOk="0" h="1492898" w="35545">
                <a:moveTo>
                  <a:pt x="35545" y="0"/>
                </a:moveTo>
                <a:lnTo>
                  <a:pt x="35545" y="0"/>
                </a:lnTo>
                <a:lnTo>
                  <a:pt x="35545" y="1492898"/>
                </a:lnTo>
                <a:lnTo>
                  <a:pt x="35545" y="1492898"/>
                </a:lnTo>
                <a:cubicBezTo>
                  <a:pt x="15914" y="1492898"/>
                  <a:pt x="0" y="1476984"/>
                  <a:pt x="0" y="1457353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408825" y="4798601"/>
            <a:ext cx="355452" cy="355452"/>
          </a:xfrm>
          <a:custGeom>
            <a:rect b="b" l="l" r="r" t="t"/>
            <a:pathLst>
              <a:path extrusionOk="0" h="355452" w="355452">
                <a:moveTo>
                  <a:pt x="71090" y="0"/>
                </a:moveTo>
                <a:lnTo>
                  <a:pt x="284362" y="0"/>
                </a:lnTo>
                <a:cubicBezTo>
                  <a:pt x="323624" y="0"/>
                  <a:pt x="355452" y="31828"/>
                  <a:pt x="355452" y="71090"/>
                </a:cubicBezTo>
                <a:lnTo>
                  <a:pt x="355452" y="284362"/>
                </a:lnTo>
                <a:cubicBezTo>
                  <a:pt x="355452" y="323624"/>
                  <a:pt x="323624" y="355452"/>
                  <a:pt x="284362" y="355452"/>
                </a:cubicBezTo>
                <a:lnTo>
                  <a:pt x="71090" y="355452"/>
                </a:lnTo>
                <a:cubicBezTo>
                  <a:pt x="31828" y="355452"/>
                  <a:pt x="0" y="323624"/>
                  <a:pt x="0" y="284362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497688" y="4887464"/>
            <a:ext cx="177726" cy="177726"/>
          </a:xfrm>
          <a:custGeom>
            <a:rect b="b" l="l" r="r" t="t"/>
            <a:pathLst>
              <a:path extrusionOk="0" h="177726" w="177726">
                <a:moveTo>
                  <a:pt x="22216" y="22216"/>
                </a:moveTo>
                <a:cubicBezTo>
                  <a:pt x="22216" y="16072"/>
                  <a:pt x="17252" y="11108"/>
                  <a:pt x="11108" y="11108"/>
                </a:cubicBezTo>
                <a:cubicBezTo>
                  <a:pt x="4964" y="11108"/>
                  <a:pt x="0" y="16072"/>
                  <a:pt x="0" y="22216"/>
                </a:cubicBezTo>
                <a:lnTo>
                  <a:pt x="0" y="138848"/>
                </a:lnTo>
                <a:cubicBezTo>
                  <a:pt x="0" y="154191"/>
                  <a:pt x="12427" y="166618"/>
                  <a:pt x="27770" y="166618"/>
                </a:cubicBezTo>
                <a:lnTo>
                  <a:pt x="166618" y="166618"/>
                </a:lnTo>
                <a:cubicBezTo>
                  <a:pt x="172762" y="166618"/>
                  <a:pt x="177726" y="161654"/>
                  <a:pt x="177726" y="155510"/>
                </a:cubicBezTo>
                <a:cubicBezTo>
                  <a:pt x="177726" y="149366"/>
                  <a:pt x="172762" y="144402"/>
                  <a:pt x="166618" y="144402"/>
                </a:cubicBezTo>
                <a:lnTo>
                  <a:pt x="27770" y="144402"/>
                </a:lnTo>
                <a:cubicBezTo>
                  <a:pt x="24715" y="144402"/>
                  <a:pt x="22216" y="141903"/>
                  <a:pt x="22216" y="138848"/>
                </a:cubicBezTo>
                <a:lnTo>
                  <a:pt x="22216" y="22216"/>
                </a:lnTo>
                <a:close/>
                <a:moveTo>
                  <a:pt x="163355" y="52276"/>
                </a:moveTo>
                <a:cubicBezTo>
                  <a:pt x="167694" y="47937"/>
                  <a:pt x="167694" y="40891"/>
                  <a:pt x="163355" y="36552"/>
                </a:cubicBezTo>
                <a:cubicBezTo>
                  <a:pt x="159016" y="32213"/>
                  <a:pt x="151970" y="32213"/>
                  <a:pt x="147631" y="36552"/>
                </a:cubicBezTo>
                <a:lnTo>
                  <a:pt x="111079" y="73138"/>
                </a:lnTo>
                <a:lnTo>
                  <a:pt x="91154" y="53248"/>
                </a:lnTo>
                <a:cubicBezTo>
                  <a:pt x="86815" y="48909"/>
                  <a:pt x="79768" y="48909"/>
                  <a:pt x="75429" y="53248"/>
                </a:cubicBezTo>
                <a:lnTo>
                  <a:pt x="42106" y="86572"/>
                </a:lnTo>
                <a:cubicBezTo>
                  <a:pt x="37767" y="90911"/>
                  <a:pt x="37767" y="97958"/>
                  <a:pt x="42106" y="102297"/>
                </a:cubicBezTo>
                <a:cubicBezTo>
                  <a:pt x="46445" y="106636"/>
                  <a:pt x="53491" y="106636"/>
                  <a:pt x="57830" y="102297"/>
                </a:cubicBezTo>
                <a:lnTo>
                  <a:pt x="83309" y="76818"/>
                </a:lnTo>
                <a:lnTo>
                  <a:pt x="103234" y="96743"/>
                </a:lnTo>
                <a:cubicBezTo>
                  <a:pt x="107573" y="101082"/>
                  <a:pt x="114619" y="101082"/>
                  <a:pt x="118958" y="96743"/>
                </a:cubicBezTo>
                <a:lnTo>
                  <a:pt x="163390" y="52311"/>
                </a:ln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4870913" y="4798601"/>
            <a:ext cx="1164105" cy="248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9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Time-series DB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408825" y="5225143"/>
            <a:ext cx="3483429" cy="39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Contains time-related data with continuous flow requiring real-time analysis.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408825" y="5687230"/>
            <a:ext cx="3412338" cy="319907"/>
          </a:xfrm>
          <a:custGeom>
            <a:rect b="b" l="l" r="r" t="t"/>
            <a:pathLst>
              <a:path extrusionOk="0" h="319907" w="3412338">
                <a:moveTo>
                  <a:pt x="35545" y="0"/>
                </a:moveTo>
                <a:lnTo>
                  <a:pt x="3376793" y="0"/>
                </a:lnTo>
                <a:cubicBezTo>
                  <a:pt x="3396424" y="0"/>
                  <a:pt x="3412338" y="15914"/>
                  <a:pt x="3412338" y="35545"/>
                </a:cubicBezTo>
                <a:lnTo>
                  <a:pt x="3412338" y="284362"/>
                </a:lnTo>
                <a:cubicBezTo>
                  <a:pt x="3412338" y="303993"/>
                  <a:pt x="3396424" y="319907"/>
                  <a:pt x="3376793" y="319907"/>
                </a:cubicBezTo>
                <a:lnTo>
                  <a:pt x="35545" y="319907"/>
                </a:lnTo>
                <a:cubicBezTo>
                  <a:pt x="15914" y="319907"/>
                  <a:pt x="0" y="303993"/>
                  <a:pt x="0" y="28436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408825" y="5687230"/>
            <a:ext cx="3474542" cy="31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71075" lIns="106625" spcFirstLastPara="1" rIns="106625" wrap="square" tIns="710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Analysis:</a:t>
            </a:r>
            <a:r>
              <a:rPr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Stock trends, variable correlations over time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124631" y="4656420"/>
            <a:ext cx="3714472" cy="1492898"/>
          </a:xfrm>
          <a:custGeom>
            <a:rect b="b" l="l" r="r" t="t"/>
            <a:pathLst>
              <a:path extrusionOk="0" h="1492898" w="3714472">
                <a:moveTo>
                  <a:pt x="35545" y="0"/>
                </a:moveTo>
                <a:lnTo>
                  <a:pt x="3607835" y="0"/>
                </a:lnTo>
                <a:cubicBezTo>
                  <a:pt x="3666729" y="0"/>
                  <a:pt x="3714472" y="47743"/>
                  <a:pt x="3714472" y="106638"/>
                </a:cubicBezTo>
                <a:lnTo>
                  <a:pt x="3714472" y="1386260"/>
                </a:lnTo>
                <a:cubicBezTo>
                  <a:pt x="3714472" y="1445155"/>
                  <a:pt x="3666729" y="1492898"/>
                  <a:pt x="3607835" y="1492898"/>
                </a:cubicBezTo>
                <a:lnTo>
                  <a:pt x="35545" y="1492898"/>
                </a:lnTo>
                <a:cubicBezTo>
                  <a:pt x="15914" y="1492898"/>
                  <a:pt x="0" y="1476984"/>
                  <a:pt x="0" y="1457353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8124631" y="4656420"/>
            <a:ext cx="35545" cy="1492898"/>
          </a:xfrm>
          <a:custGeom>
            <a:rect b="b" l="l" r="r" t="t"/>
            <a:pathLst>
              <a:path extrusionOk="0" h="1492898" w="35545">
                <a:moveTo>
                  <a:pt x="35545" y="0"/>
                </a:moveTo>
                <a:lnTo>
                  <a:pt x="35545" y="0"/>
                </a:lnTo>
                <a:lnTo>
                  <a:pt x="35545" y="1492898"/>
                </a:lnTo>
                <a:lnTo>
                  <a:pt x="35545" y="1492898"/>
                </a:lnTo>
                <a:cubicBezTo>
                  <a:pt x="15914" y="1492898"/>
                  <a:pt x="0" y="1476984"/>
                  <a:pt x="0" y="1457353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8284584" y="4798601"/>
            <a:ext cx="355452" cy="355452"/>
          </a:xfrm>
          <a:custGeom>
            <a:rect b="b" l="l" r="r" t="t"/>
            <a:pathLst>
              <a:path extrusionOk="0" h="355452" w="355452">
                <a:moveTo>
                  <a:pt x="71090" y="0"/>
                </a:moveTo>
                <a:lnTo>
                  <a:pt x="284362" y="0"/>
                </a:lnTo>
                <a:cubicBezTo>
                  <a:pt x="323624" y="0"/>
                  <a:pt x="355452" y="31828"/>
                  <a:pt x="355452" y="71090"/>
                </a:cubicBezTo>
                <a:lnTo>
                  <a:pt x="355452" y="284362"/>
                </a:lnTo>
                <a:cubicBezTo>
                  <a:pt x="355452" y="323624"/>
                  <a:pt x="323624" y="355452"/>
                  <a:pt x="284362" y="355452"/>
                </a:cubicBezTo>
                <a:lnTo>
                  <a:pt x="71090" y="355452"/>
                </a:lnTo>
                <a:cubicBezTo>
                  <a:pt x="31828" y="355452"/>
                  <a:pt x="0" y="323624"/>
                  <a:pt x="0" y="284362"/>
                </a:cubicBezTo>
                <a:lnTo>
                  <a:pt x="0" y="71090"/>
                </a:lnTo>
                <a:cubicBezTo>
                  <a:pt x="0" y="31855"/>
                  <a:pt x="31855" y="0"/>
                  <a:pt x="71090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8373447" y="4887464"/>
            <a:ext cx="177726" cy="177726"/>
          </a:xfrm>
          <a:custGeom>
            <a:rect b="b" l="l" r="r" t="t"/>
            <a:pathLst>
              <a:path extrusionOk="0" h="177726" w="177726">
                <a:moveTo>
                  <a:pt x="122152" y="97194"/>
                </a:moveTo>
                <a:lnTo>
                  <a:pt x="55886" y="97194"/>
                </a:lnTo>
                <a:cubicBezTo>
                  <a:pt x="56893" y="119583"/>
                  <a:pt x="61857" y="140202"/>
                  <a:pt x="68904" y="155302"/>
                </a:cubicBezTo>
                <a:cubicBezTo>
                  <a:pt x="72861" y="163806"/>
                  <a:pt x="77130" y="169812"/>
                  <a:pt x="81087" y="173491"/>
                </a:cubicBezTo>
                <a:cubicBezTo>
                  <a:pt x="84975" y="177136"/>
                  <a:pt x="87648" y="177726"/>
                  <a:pt x="89037" y="177726"/>
                </a:cubicBezTo>
                <a:cubicBezTo>
                  <a:pt x="90425" y="177726"/>
                  <a:pt x="93098" y="177136"/>
                  <a:pt x="96986" y="173491"/>
                </a:cubicBezTo>
                <a:cubicBezTo>
                  <a:pt x="100943" y="169812"/>
                  <a:pt x="105212" y="163772"/>
                  <a:pt x="109170" y="155302"/>
                </a:cubicBezTo>
                <a:cubicBezTo>
                  <a:pt x="116216" y="140202"/>
                  <a:pt x="121180" y="119583"/>
                  <a:pt x="122187" y="97194"/>
                </a:cubicBezTo>
                <a:close/>
                <a:moveTo>
                  <a:pt x="55852" y="80532"/>
                </a:moveTo>
                <a:lnTo>
                  <a:pt x="122117" y="80532"/>
                </a:lnTo>
                <a:cubicBezTo>
                  <a:pt x="121145" y="58143"/>
                  <a:pt x="116181" y="37524"/>
                  <a:pt x="109135" y="22424"/>
                </a:cubicBezTo>
                <a:cubicBezTo>
                  <a:pt x="105178" y="13954"/>
                  <a:pt x="100908" y="7914"/>
                  <a:pt x="96951" y="4235"/>
                </a:cubicBezTo>
                <a:cubicBezTo>
                  <a:pt x="93063" y="590"/>
                  <a:pt x="90390" y="0"/>
                  <a:pt x="89002" y="0"/>
                </a:cubicBezTo>
                <a:cubicBezTo>
                  <a:pt x="87613" y="0"/>
                  <a:pt x="84941" y="590"/>
                  <a:pt x="81053" y="4235"/>
                </a:cubicBezTo>
                <a:cubicBezTo>
                  <a:pt x="77096" y="7914"/>
                  <a:pt x="72826" y="13954"/>
                  <a:pt x="68869" y="22424"/>
                </a:cubicBezTo>
                <a:cubicBezTo>
                  <a:pt x="61822" y="37524"/>
                  <a:pt x="56858" y="58143"/>
                  <a:pt x="55852" y="80532"/>
                </a:cubicBezTo>
                <a:close/>
                <a:moveTo>
                  <a:pt x="39190" y="80532"/>
                </a:moveTo>
                <a:cubicBezTo>
                  <a:pt x="40405" y="50819"/>
                  <a:pt x="48076" y="23222"/>
                  <a:pt x="59288" y="5103"/>
                </a:cubicBezTo>
                <a:cubicBezTo>
                  <a:pt x="27318" y="16419"/>
                  <a:pt x="3784" y="45542"/>
                  <a:pt x="521" y="80532"/>
                </a:cubicBezTo>
                <a:lnTo>
                  <a:pt x="39190" y="80532"/>
                </a:lnTo>
                <a:close/>
                <a:moveTo>
                  <a:pt x="521" y="97194"/>
                </a:moveTo>
                <a:cubicBezTo>
                  <a:pt x="3784" y="132184"/>
                  <a:pt x="27318" y="161307"/>
                  <a:pt x="59288" y="172623"/>
                </a:cubicBezTo>
                <a:cubicBezTo>
                  <a:pt x="48076" y="154504"/>
                  <a:pt x="40405" y="126907"/>
                  <a:pt x="39190" y="97194"/>
                </a:cubicBezTo>
                <a:lnTo>
                  <a:pt x="521" y="97194"/>
                </a:lnTo>
                <a:close/>
                <a:moveTo>
                  <a:pt x="138814" y="97194"/>
                </a:moveTo>
                <a:cubicBezTo>
                  <a:pt x="137599" y="126907"/>
                  <a:pt x="129927" y="154504"/>
                  <a:pt x="118715" y="172623"/>
                </a:cubicBezTo>
                <a:cubicBezTo>
                  <a:pt x="150685" y="161272"/>
                  <a:pt x="174220" y="132184"/>
                  <a:pt x="177483" y="97194"/>
                </a:cubicBezTo>
                <a:lnTo>
                  <a:pt x="138814" y="97194"/>
                </a:lnTo>
                <a:close/>
                <a:moveTo>
                  <a:pt x="177483" y="80532"/>
                </a:moveTo>
                <a:cubicBezTo>
                  <a:pt x="174220" y="45542"/>
                  <a:pt x="150685" y="16419"/>
                  <a:pt x="118715" y="5103"/>
                </a:cubicBezTo>
                <a:cubicBezTo>
                  <a:pt x="129927" y="23222"/>
                  <a:pt x="137599" y="50819"/>
                  <a:pt x="138814" y="80532"/>
                </a:cubicBezTo>
                <a:lnTo>
                  <a:pt x="177483" y="80532"/>
                </a:ln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8746672" y="4798601"/>
            <a:ext cx="1279627" cy="2488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9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World Wide Web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284584" y="5225143"/>
            <a:ext cx="3483429" cy="39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 heterogeneous repository. Dynamic, continuously increasing volume.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284584" y="5687230"/>
            <a:ext cx="3412338" cy="319907"/>
          </a:xfrm>
          <a:custGeom>
            <a:rect b="b" l="l" r="r" t="t"/>
            <a:pathLst>
              <a:path extrusionOk="0" h="319907" w="3412338">
                <a:moveTo>
                  <a:pt x="35545" y="0"/>
                </a:moveTo>
                <a:lnTo>
                  <a:pt x="3376793" y="0"/>
                </a:lnTo>
                <a:cubicBezTo>
                  <a:pt x="3396424" y="0"/>
                  <a:pt x="3412338" y="15914"/>
                  <a:pt x="3412338" y="35545"/>
                </a:cubicBezTo>
                <a:lnTo>
                  <a:pt x="3412338" y="284362"/>
                </a:lnTo>
                <a:cubicBezTo>
                  <a:pt x="3412338" y="303993"/>
                  <a:pt x="3396424" y="319907"/>
                  <a:pt x="3376793" y="319907"/>
                </a:cubicBezTo>
                <a:lnTo>
                  <a:pt x="35545" y="319907"/>
                </a:lnTo>
                <a:cubicBezTo>
                  <a:pt x="15914" y="319907"/>
                  <a:pt x="0" y="303993"/>
                  <a:pt x="0" y="284362"/>
                </a:cubicBezTo>
                <a:lnTo>
                  <a:pt x="0" y="35545"/>
                </a:lnTo>
                <a:cubicBezTo>
                  <a:pt x="0" y="15927"/>
                  <a:pt x="15927" y="0"/>
                  <a:pt x="3554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8284584" y="5687230"/>
            <a:ext cx="3474542" cy="31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71075" lIns="106625" spcFirstLastPara="1" rIns="106625" wrap="square" tIns="710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Characteristics:</a:t>
            </a:r>
            <a:r>
              <a:rPr lang="en-US" sz="98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Multi-source, unstructured, HTML-linked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8906" y="105968"/>
            <a:ext cx="1502714" cy="56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326863" y="408579"/>
            <a:ext cx="457609" cy="457609"/>
          </a:xfrm>
          <a:custGeom>
            <a:rect b="b" l="l" r="r" t="t"/>
            <a:pathLst>
              <a:path extrusionOk="0" h="457609" w="457609">
                <a:moveTo>
                  <a:pt x="98061" y="0"/>
                </a:moveTo>
                <a:lnTo>
                  <a:pt x="359548" y="0"/>
                </a:lnTo>
                <a:cubicBezTo>
                  <a:pt x="413705" y="0"/>
                  <a:pt x="457609" y="43903"/>
                  <a:pt x="457609" y="98061"/>
                </a:cubicBezTo>
                <a:lnTo>
                  <a:pt x="457609" y="359548"/>
                </a:lnTo>
                <a:cubicBezTo>
                  <a:pt x="457609" y="413705"/>
                  <a:pt x="413705" y="457609"/>
                  <a:pt x="359548" y="457609"/>
                </a:cubicBezTo>
                <a:lnTo>
                  <a:pt x="98061" y="457609"/>
                </a:lnTo>
                <a:cubicBezTo>
                  <a:pt x="43903" y="457609"/>
                  <a:pt x="0" y="413705"/>
                  <a:pt x="0" y="359548"/>
                </a:cubicBezTo>
                <a:lnTo>
                  <a:pt x="0" y="98061"/>
                </a:lnTo>
                <a:cubicBezTo>
                  <a:pt x="0" y="43940"/>
                  <a:pt x="43940" y="0"/>
                  <a:pt x="98061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57609" y="539324"/>
            <a:ext cx="196118" cy="196118"/>
          </a:xfrm>
          <a:custGeom>
            <a:rect b="b" l="l" r="r" t="t"/>
            <a:pathLst>
              <a:path extrusionOk="0" h="196118" w="196118">
                <a:moveTo>
                  <a:pt x="73544" y="24515"/>
                </a:moveTo>
                <a:cubicBezTo>
                  <a:pt x="73544" y="17735"/>
                  <a:pt x="79022" y="12257"/>
                  <a:pt x="85802" y="12257"/>
                </a:cubicBezTo>
                <a:lnTo>
                  <a:pt x="110316" y="12257"/>
                </a:lnTo>
                <a:cubicBezTo>
                  <a:pt x="117096" y="12257"/>
                  <a:pt x="122574" y="17735"/>
                  <a:pt x="122574" y="24515"/>
                </a:cubicBezTo>
                <a:lnTo>
                  <a:pt x="122574" y="49029"/>
                </a:lnTo>
                <a:cubicBezTo>
                  <a:pt x="122574" y="55809"/>
                  <a:pt x="117096" y="61287"/>
                  <a:pt x="110316" y="61287"/>
                </a:cubicBezTo>
                <a:lnTo>
                  <a:pt x="107252" y="61287"/>
                </a:lnTo>
                <a:lnTo>
                  <a:pt x="107252" y="85802"/>
                </a:lnTo>
                <a:lnTo>
                  <a:pt x="153217" y="85802"/>
                </a:lnTo>
                <a:cubicBezTo>
                  <a:pt x="168462" y="85802"/>
                  <a:pt x="180796" y="98136"/>
                  <a:pt x="180796" y="113381"/>
                </a:cubicBezTo>
                <a:lnTo>
                  <a:pt x="180796" y="134831"/>
                </a:lnTo>
                <a:lnTo>
                  <a:pt x="183861" y="134831"/>
                </a:lnTo>
                <a:cubicBezTo>
                  <a:pt x="190640" y="134831"/>
                  <a:pt x="196118" y="140309"/>
                  <a:pt x="196118" y="147088"/>
                </a:cubicBezTo>
                <a:lnTo>
                  <a:pt x="196118" y="171603"/>
                </a:lnTo>
                <a:cubicBezTo>
                  <a:pt x="196118" y="178383"/>
                  <a:pt x="190640" y="183861"/>
                  <a:pt x="183861" y="183861"/>
                </a:cubicBezTo>
                <a:lnTo>
                  <a:pt x="159346" y="183861"/>
                </a:lnTo>
                <a:cubicBezTo>
                  <a:pt x="152566" y="183861"/>
                  <a:pt x="147088" y="178383"/>
                  <a:pt x="147088" y="171603"/>
                </a:cubicBezTo>
                <a:lnTo>
                  <a:pt x="147088" y="147088"/>
                </a:lnTo>
                <a:cubicBezTo>
                  <a:pt x="147088" y="140309"/>
                  <a:pt x="152566" y="134831"/>
                  <a:pt x="159346" y="134831"/>
                </a:cubicBezTo>
                <a:lnTo>
                  <a:pt x="162410" y="134831"/>
                </a:lnTo>
                <a:lnTo>
                  <a:pt x="162410" y="113381"/>
                </a:lnTo>
                <a:cubicBezTo>
                  <a:pt x="162410" y="108286"/>
                  <a:pt x="158312" y="104188"/>
                  <a:pt x="153217" y="104188"/>
                </a:cubicBezTo>
                <a:lnTo>
                  <a:pt x="107252" y="104188"/>
                </a:lnTo>
                <a:lnTo>
                  <a:pt x="107252" y="134831"/>
                </a:lnTo>
                <a:lnTo>
                  <a:pt x="110316" y="134831"/>
                </a:lnTo>
                <a:cubicBezTo>
                  <a:pt x="117096" y="134831"/>
                  <a:pt x="122574" y="140309"/>
                  <a:pt x="122574" y="147088"/>
                </a:cubicBezTo>
                <a:lnTo>
                  <a:pt x="122574" y="171603"/>
                </a:lnTo>
                <a:cubicBezTo>
                  <a:pt x="122574" y="178383"/>
                  <a:pt x="117096" y="183861"/>
                  <a:pt x="110316" y="183861"/>
                </a:cubicBezTo>
                <a:lnTo>
                  <a:pt x="85802" y="183861"/>
                </a:lnTo>
                <a:cubicBezTo>
                  <a:pt x="79022" y="183861"/>
                  <a:pt x="73544" y="178383"/>
                  <a:pt x="73544" y="171603"/>
                </a:cubicBezTo>
                <a:lnTo>
                  <a:pt x="73544" y="147088"/>
                </a:lnTo>
                <a:cubicBezTo>
                  <a:pt x="73544" y="140309"/>
                  <a:pt x="79022" y="134831"/>
                  <a:pt x="85802" y="134831"/>
                </a:cubicBezTo>
                <a:lnTo>
                  <a:pt x="88866" y="134831"/>
                </a:lnTo>
                <a:lnTo>
                  <a:pt x="88866" y="104188"/>
                </a:lnTo>
                <a:lnTo>
                  <a:pt x="42901" y="104188"/>
                </a:lnTo>
                <a:cubicBezTo>
                  <a:pt x="37806" y="104188"/>
                  <a:pt x="33708" y="108286"/>
                  <a:pt x="33708" y="113381"/>
                </a:cubicBezTo>
                <a:lnTo>
                  <a:pt x="33708" y="134831"/>
                </a:lnTo>
                <a:lnTo>
                  <a:pt x="36772" y="134831"/>
                </a:lnTo>
                <a:cubicBezTo>
                  <a:pt x="43552" y="134831"/>
                  <a:pt x="49029" y="140309"/>
                  <a:pt x="49029" y="147088"/>
                </a:cubicBezTo>
                <a:lnTo>
                  <a:pt x="49029" y="171603"/>
                </a:lnTo>
                <a:cubicBezTo>
                  <a:pt x="49029" y="178383"/>
                  <a:pt x="43552" y="183861"/>
                  <a:pt x="36772" y="183861"/>
                </a:cubicBezTo>
                <a:lnTo>
                  <a:pt x="12257" y="183861"/>
                </a:lnTo>
                <a:cubicBezTo>
                  <a:pt x="5478" y="183861"/>
                  <a:pt x="0" y="178383"/>
                  <a:pt x="0" y="171603"/>
                </a:cubicBezTo>
                <a:lnTo>
                  <a:pt x="0" y="147088"/>
                </a:lnTo>
                <a:cubicBezTo>
                  <a:pt x="0" y="140309"/>
                  <a:pt x="5478" y="134831"/>
                  <a:pt x="12257" y="134831"/>
                </a:cubicBezTo>
                <a:lnTo>
                  <a:pt x="15322" y="134831"/>
                </a:lnTo>
                <a:lnTo>
                  <a:pt x="15322" y="113381"/>
                </a:lnTo>
                <a:cubicBezTo>
                  <a:pt x="15322" y="98136"/>
                  <a:pt x="27656" y="85802"/>
                  <a:pt x="42901" y="85802"/>
                </a:cubicBezTo>
                <a:lnTo>
                  <a:pt x="88866" y="85802"/>
                </a:lnTo>
                <a:lnTo>
                  <a:pt x="88866" y="61287"/>
                </a:lnTo>
                <a:lnTo>
                  <a:pt x="85802" y="61287"/>
                </a:lnTo>
                <a:cubicBezTo>
                  <a:pt x="79022" y="61287"/>
                  <a:pt x="73544" y="55809"/>
                  <a:pt x="73544" y="49029"/>
                </a:cubicBezTo>
                <a:lnTo>
                  <a:pt x="73544" y="24515"/>
                </a:ln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915217" y="326863"/>
            <a:ext cx="4886606" cy="392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88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Data Mining Functionalities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915217" y="719099"/>
            <a:ext cx="4772204" cy="228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7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Kinds of Patterns Discovered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33401" y="1085186"/>
            <a:ext cx="5675981" cy="5128485"/>
          </a:xfrm>
          <a:custGeom>
            <a:rect b="b" l="l" r="r" t="t"/>
            <a:pathLst>
              <a:path extrusionOk="0" h="5128485" w="5675981">
                <a:moveTo>
                  <a:pt x="98057" y="0"/>
                </a:moveTo>
                <a:lnTo>
                  <a:pt x="5577924" y="0"/>
                </a:lnTo>
                <a:cubicBezTo>
                  <a:pt x="5632079" y="0"/>
                  <a:pt x="5675981" y="43901"/>
                  <a:pt x="5675981" y="98057"/>
                </a:cubicBezTo>
                <a:lnTo>
                  <a:pt x="5675981" y="5030428"/>
                </a:lnTo>
                <a:cubicBezTo>
                  <a:pt x="5675981" y="5084583"/>
                  <a:pt x="5632079" y="5128485"/>
                  <a:pt x="5577924" y="5128485"/>
                </a:cubicBezTo>
                <a:lnTo>
                  <a:pt x="98057" y="5128485"/>
                </a:lnTo>
                <a:cubicBezTo>
                  <a:pt x="43901" y="5128485"/>
                  <a:pt x="0" y="5084583"/>
                  <a:pt x="0" y="5030428"/>
                </a:cubicBezTo>
                <a:lnTo>
                  <a:pt x="0" y="98057"/>
                </a:lnTo>
                <a:cubicBezTo>
                  <a:pt x="0" y="43901"/>
                  <a:pt x="43901" y="0"/>
                  <a:pt x="98057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20000"/>
                </a:srgbClr>
              </a:gs>
              <a:gs pos="100000">
                <a:srgbClr val="2D3748"/>
              </a:gs>
            </a:gsLst>
            <a:lin ang="2700000" scaled="0"/>
          </a:gradFill>
          <a:ln cap="flat" cmpd="sng" w="203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503369" y="1255156"/>
            <a:ext cx="392236" cy="392236"/>
          </a:xfrm>
          <a:custGeom>
            <a:rect b="b" l="l" r="r" t="t"/>
            <a:pathLst>
              <a:path extrusionOk="0" h="392236" w="392236">
                <a:moveTo>
                  <a:pt x="98059" y="0"/>
                </a:moveTo>
                <a:lnTo>
                  <a:pt x="294177" y="0"/>
                </a:lnTo>
                <a:cubicBezTo>
                  <a:pt x="348333" y="0"/>
                  <a:pt x="392236" y="43903"/>
                  <a:pt x="392236" y="98059"/>
                </a:cubicBezTo>
                <a:lnTo>
                  <a:pt x="392236" y="294177"/>
                </a:lnTo>
                <a:cubicBezTo>
                  <a:pt x="392236" y="348333"/>
                  <a:pt x="348333" y="392236"/>
                  <a:pt x="294177" y="392236"/>
                </a:cubicBezTo>
                <a:lnTo>
                  <a:pt x="98059" y="392236"/>
                </a:lnTo>
                <a:cubicBezTo>
                  <a:pt x="43903" y="392236"/>
                  <a:pt x="0" y="348333"/>
                  <a:pt x="0" y="294177"/>
                </a:cubicBezTo>
                <a:lnTo>
                  <a:pt x="0" y="98059"/>
                </a:lnTo>
                <a:cubicBezTo>
                  <a:pt x="0" y="43903"/>
                  <a:pt x="43903" y="0"/>
                  <a:pt x="98059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07557" y="1369558"/>
            <a:ext cx="183861" cy="163432"/>
          </a:xfrm>
          <a:custGeom>
            <a:rect b="b" l="l" r="r" t="t"/>
            <a:pathLst>
              <a:path extrusionOk="0" h="163432" w="183861">
                <a:moveTo>
                  <a:pt x="91930" y="10214"/>
                </a:moveTo>
                <a:cubicBezTo>
                  <a:pt x="66139" y="10214"/>
                  <a:pt x="45486" y="21961"/>
                  <a:pt x="30452" y="35942"/>
                </a:cubicBezTo>
                <a:cubicBezTo>
                  <a:pt x="15513" y="49827"/>
                  <a:pt x="5522" y="66394"/>
                  <a:pt x="766" y="77790"/>
                </a:cubicBezTo>
                <a:cubicBezTo>
                  <a:pt x="-287" y="80311"/>
                  <a:pt x="-287" y="83120"/>
                  <a:pt x="766" y="85642"/>
                </a:cubicBezTo>
                <a:cubicBezTo>
                  <a:pt x="5522" y="97038"/>
                  <a:pt x="15513" y="113636"/>
                  <a:pt x="30452" y="127489"/>
                </a:cubicBezTo>
                <a:cubicBezTo>
                  <a:pt x="45486" y="141439"/>
                  <a:pt x="66139" y="153217"/>
                  <a:pt x="91930" y="153217"/>
                </a:cubicBezTo>
                <a:cubicBezTo>
                  <a:pt x="117722" y="153217"/>
                  <a:pt x="138374" y="141471"/>
                  <a:pt x="153409" y="127489"/>
                </a:cubicBezTo>
                <a:cubicBezTo>
                  <a:pt x="168347" y="113604"/>
                  <a:pt x="178338" y="97038"/>
                  <a:pt x="183095" y="85642"/>
                </a:cubicBezTo>
                <a:cubicBezTo>
                  <a:pt x="184148" y="83120"/>
                  <a:pt x="184148" y="80311"/>
                  <a:pt x="183095" y="77790"/>
                </a:cubicBezTo>
                <a:cubicBezTo>
                  <a:pt x="178338" y="66394"/>
                  <a:pt x="168347" y="49796"/>
                  <a:pt x="153409" y="35942"/>
                </a:cubicBezTo>
                <a:cubicBezTo>
                  <a:pt x="138374" y="21993"/>
                  <a:pt x="117722" y="10214"/>
                  <a:pt x="91930" y="10214"/>
                </a:cubicBezTo>
                <a:close/>
                <a:moveTo>
                  <a:pt x="45965" y="81716"/>
                </a:moveTo>
                <a:cubicBezTo>
                  <a:pt x="45965" y="56347"/>
                  <a:pt x="66561" y="35751"/>
                  <a:pt x="91930" y="35751"/>
                </a:cubicBezTo>
                <a:cubicBezTo>
                  <a:pt x="117299" y="35751"/>
                  <a:pt x="137895" y="56347"/>
                  <a:pt x="137895" y="81716"/>
                </a:cubicBezTo>
                <a:cubicBezTo>
                  <a:pt x="137895" y="107085"/>
                  <a:pt x="117299" y="127681"/>
                  <a:pt x="91930" y="127681"/>
                </a:cubicBezTo>
                <a:cubicBezTo>
                  <a:pt x="66561" y="127681"/>
                  <a:pt x="45965" y="107085"/>
                  <a:pt x="45965" y="81716"/>
                </a:cubicBezTo>
                <a:close/>
                <a:moveTo>
                  <a:pt x="91930" y="61287"/>
                </a:moveTo>
                <a:cubicBezTo>
                  <a:pt x="91930" y="72555"/>
                  <a:pt x="82769" y="81716"/>
                  <a:pt x="71501" y="81716"/>
                </a:cubicBezTo>
                <a:cubicBezTo>
                  <a:pt x="67831" y="81716"/>
                  <a:pt x="64383" y="80758"/>
                  <a:pt x="61383" y="79035"/>
                </a:cubicBezTo>
                <a:cubicBezTo>
                  <a:pt x="61063" y="82514"/>
                  <a:pt x="61351" y="86089"/>
                  <a:pt x="62308" y="89632"/>
                </a:cubicBezTo>
                <a:cubicBezTo>
                  <a:pt x="66681" y="105975"/>
                  <a:pt x="83503" y="115679"/>
                  <a:pt x="99847" y="111306"/>
                </a:cubicBezTo>
                <a:cubicBezTo>
                  <a:pt x="116190" y="106933"/>
                  <a:pt x="125893" y="90111"/>
                  <a:pt x="121520" y="73768"/>
                </a:cubicBezTo>
                <a:cubicBezTo>
                  <a:pt x="117626" y="59180"/>
                  <a:pt x="103805" y="49891"/>
                  <a:pt x="89249" y="51168"/>
                </a:cubicBezTo>
                <a:cubicBezTo>
                  <a:pt x="90941" y="54137"/>
                  <a:pt x="91930" y="57584"/>
                  <a:pt x="91930" y="61287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993664" y="1304185"/>
            <a:ext cx="2042895" cy="294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29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Descriptive Tasks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03369" y="1778137"/>
            <a:ext cx="5401416" cy="212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Describe general properties of existing data without prior assumptions.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19713" y="2121343"/>
            <a:ext cx="5319700" cy="637383"/>
          </a:xfrm>
          <a:custGeom>
            <a:rect b="b" l="l" r="r" t="t"/>
            <a:pathLst>
              <a:path extrusionOk="0" h="637383" w="5319700">
                <a:moveTo>
                  <a:pt x="32686" y="0"/>
                </a:moveTo>
                <a:lnTo>
                  <a:pt x="5254330" y="0"/>
                </a:lnTo>
                <a:cubicBezTo>
                  <a:pt x="5290433" y="0"/>
                  <a:pt x="5319700" y="29267"/>
                  <a:pt x="5319700" y="65370"/>
                </a:cubicBezTo>
                <a:lnTo>
                  <a:pt x="5319700" y="572013"/>
                </a:lnTo>
                <a:cubicBezTo>
                  <a:pt x="5319700" y="608116"/>
                  <a:pt x="5290433" y="637383"/>
                  <a:pt x="5254330" y="637383"/>
                </a:cubicBezTo>
                <a:lnTo>
                  <a:pt x="32686" y="637383"/>
                </a:lnTo>
                <a:cubicBezTo>
                  <a:pt x="14634" y="637383"/>
                  <a:pt x="0" y="622749"/>
                  <a:pt x="0" y="60469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19713" y="2121343"/>
            <a:ext cx="32686" cy="637383"/>
          </a:xfrm>
          <a:custGeom>
            <a:rect b="b" l="l" r="r" t="t"/>
            <a:pathLst>
              <a:path extrusionOk="0" h="637383" w="32686">
                <a:moveTo>
                  <a:pt x="32686" y="0"/>
                </a:moveTo>
                <a:lnTo>
                  <a:pt x="32686" y="0"/>
                </a:lnTo>
                <a:lnTo>
                  <a:pt x="32686" y="637383"/>
                </a:lnTo>
                <a:lnTo>
                  <a:pt x="32686" y="637383"/>
                </a:lnTo>
                <a:cubicBezTo>
                  <a:pt x="14634" y="637383"/>
                  <a:pt x="0" y="622749"/>
                  <a:pt x="0" y="60469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34115" y="2219402"/>
            <a:ext cx="5180783" cy="228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8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Characterization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34115" y="2480893"/>
            <a:ext cx="5172611" cy="179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Summarize general features of a target class. Produces characteristic rules.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19713" y="2856786"/>
            <a:ext cx="5319700" cy="637383"/>
          </a:xfrm>
          <a:custGeom>
            <a:rect b="b" l="l" r="r" t="t"/>
            <a:pathLst>
              <a:path extrusionOk="0" h="637383" w="5319700">
                <a:moveTo>
                  <a:pt x="32686" y="0"/>
                </a:moveTo>
                <a:lnTo>
                  <a:pt x="5254330" y="0"/>
                </a:lnTo>
                <a:cubicBezTo>
                  <a:pt x="5290433" y="0"/>
                  <a:pt x="5319700" y="29267"/>
                  <a:pt x="5319700" y="65370"/>
                </a:cubicBezTo>
                <a:lnTo>
                  <a:pt x="5319700" y="572013"/>
                </a:lnTo>
                <a:cubicBezTo>
                  <a:pt x="5319700" y="608116"/>
                  <a:pt x="5290433" y="637383"/>
                  <a:pt x="5254330" y="637383"/>
                </a:cubicBezTo>
                <a:lnTo>
                  <a:pt x="32686" y="637383"/>
                </a:lnTo>
                <a:cubicBezTo>
                  <a:pt x="14634" y="637383"/>
                  <a:pt x="0" y="622749"/>
                  <a:pt x="0" y="60469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519713" y="2856786"/>
            <a:ext cx="32686" cy="637383"/>
          </a:xfrm>
          <a:custGeom>
            <a:rect b="b" l="l" r="r" t="t"/>
            <a:pathLst>
              <a:path extrusionOk="0" h="637383" w="32686">
                <a:moveTo>
                  <a:pt x="32686" y="0"/>
                </a:moveTo>
                <a:lnTo>
                  <a:pt x="32686" y="0"/>
                </a:lnTo>
                <a:lnTo>
                  <a:pt x="32686" y="637383"/>
                </a:lnTo>
                <a:lnTo>
                  <a:pt x="32686" y="637383"/>
                </a:lnTo>
                <a:cubicBezTo>
                  <a:pt x="14634" y="637383"/>
                  <a:pt x="0" y="622749"/>
                  <a:pt x="0" y="60469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634115" y="2954845"/>
            <a:ext cx="5180783" cy="228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8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Discrimination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34115" y="3216335"/>
            <a:ext cx="5172611" cy="179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Compare general features of target class vs. contrasting class.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19713" y="3592228"/>
            <a:ext cx="5319700" cy="931560"/>
          </a:xfrm>
          <a:custGeom>
            <a:rect b="b" l="l" r="r" t="t"/>
            <a:pathLst>
              <a:path extrusionOk="0" h="931560" w="5319700">
                <a:moveTo>
                  <a:pt x="32686" y="0"/>
                </a:moveTo>
                <a:lnTo>
                  <a:pt x="5254323" y="0"/>
                </a:lnTo>
                <a:cubicBezTo>
                  <a:pt x="5290429" y="0"/>
                  <a:pt x="5319700" y="29270"/>
                  <a:pt x="5319700" y="65377"/>
                </a:cubicBezTo>
                <a:lnTo>
                  <a:pt x="5319700" y="866183"/>
                </a:lnTo>
                <a:cubicBezTo>
                  <a:pt x="5319700" y="902290"/>
                  <a:pt x="5290429" y="931560"/>
                  <a:pt x="5254323" y="931560"/>
                </a:cubicBezTo>
                <a:lnTo>
                  <a:pt x="32686" y="931560"/>
                </a:lnTo>
                <a:cubicBezTo>
                  <a:pt x="14634" y="931560"/>
                  <a:pt x="0" y="916926"/>
                  <a:pt x="0" y="898874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519713" y="3592228"/>
            <a:ext cx="32686" cy="931560"/>
          </a:xfrm>
          <a:custGeom>
            <a:rect b="b" l="l" r="r" t="t"/>
            <a:pathLst>
              <a:path extrusionOk="0" h="931560" w="32686">
                <a:moveTo>
                  <a:pt x="32686" y="0"/>
                </a:moveTo>
                <a:lnTo>
                  <a:pt x="32686" y="0"/>
                </a:lnTo>
                <a:lnTo>
                  <a:pt x="32686" y="931560"/>
                </a:lnTo>
                <a:lnTo>
                  <a:pt x="32686" y="931560"/>
                </a:lnTo>
                <a:cubicBezTo>
                  <a:pt x="14634" y="931560"/>
                  <a:pt x="0" y="916926"/>
                  <a:pt x="0" y="898874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34115" y="3690287"/>
            <a:ext cx="5180783" cy="228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8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Association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34115" y="3951778"/>
            <a:ext cx="5172611" cy="179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Discover association rules of the form P → Q [s,c]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34115" y="4196925"/>
            <a:ext cx="1299282" cy="228804"/>
          </a:xfrm>
          <a:custGeom>
            <a:rect b="b" l="l" r="r" t="t"/>
            <a:pathLst>
              <a:path extrusionOk="0" h="228804" w="1299282">
                <a:moveTo>
                  <a:pt x="32687" y="0"/>
                </a:moveTo>
                <a:lnTo>
                  <a:pt x="1266595" y="0"/>
                </a:lnTo>
                <a:cubicBezTo>
                  <a:pt x="1284647" y="0"/>
                  <a:pt x="1299282" y="14634"/>
                  <a:pt x="1299282" y="32687"/>
                </a:cubicBezTo>
                <a:lnTo>
                  <a:pt x="1299282" y="196117"/>
                </a:lnTo>
                <a:cubicBezTo>
                  <a:pt x="1299282" y="214170"/>
                  <a:pt x="1284647" y="228804"/>
                  <a:pt x="1266595" y="228804"/>
                </a:cubicBezTo>
                <a:lnTo>
                  <a:pt x="32687" y="228804"/>
                </a:lnTo>
                <a:cubicBezTo>
                  <a:pt x="14647" y="228804"/>
                  <a:pt x="0" y="214158"/>
                  <a:pt x="0" y="196117"/>
                </a:cubicBezTo>
                <a:lnTo>
                  <a:pt x="0" y="32687"/>
                </a:lnTo>
                <a:cubicBezTo>
                  <a:pt x="0" y="14647"/>
                  <a:pt x="14647" y="0"/>
                  <a:pt x="3268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732174" y="4242685"/>
            <a:ext cx="632276" cy="130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1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Support (s):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335339" y="4242685"/>
            <a:ext cx="556076" cy="130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1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Popularity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2063018" y="4196925"/>
            <a:ext cx="1479056" cy="228804"/>
          </a:xfrm>
          <a:custGeom>
            <a:rect b="b" l="l" r="r" t="t"/>
            <a:pathLst>
              <a:path extrusionOk="0" h="228804" w="1479056">
                <a:moveTo>
                  <a:pt x="32687" y="0"/>
                </a:moveTo>
                <a:lnTo>
                  <a:pt x="1446369" y="0"/>
                </a:lnTo>
                <a:cubicBezTo>
                  <a:pt x="1464422" y="0"/>
                  <a:pt x="1479056" y="14634"/>
                  <a:pt x="1479056" y="32687"/>
                </a:cubicBezTo>
                <a:lnTo>
                  <a:pt x="1479056" y="196117"/>
                </a:lnTo>
                <a:cubicBezTo>
                  <a:pt x="1479056" y="214170"/>
                  <a:pt x="1464422" y="228804"/>
                  <a:pt x="1446369" y="228804"/>
                </a:cubicBezTo>
                <a:lnTo>
                  <a:pt x="32687" y="228804"/>
                </a:lnTo>
                <a:cubicBezTo>
                  <a:pt x="14647" y="228804"/>
                  <a:pt x="0" y="214158"/>
                  <a:pt x="0" y="196117"/>
                </a:cubicBezTo>
                <a:lnTo>
                  <a:pt x="0" y="32687"/>
                </a:lnTo>
                <a:cubicBezTo>
                  <a:pt x="0" y="14647"/>
                  <a:pt x="14647" y="0"/>
                  <a:pt x="32687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2161077" y="4242685"/>
            <a:ext cx="804799" cy="130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1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Confidence (c):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936764" y="4242685"/>
            <a:ext cx="561694" cy="130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1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Likelihood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19713" y="4621847"/>
            <a:ext cx="5319700" cy="637383"/>
          </a:xfrm>
          <a:custGeom>
            <a:rect b="b" l="l" r="r" t="t"/>
            <a:pathLst>
              <a:path extrusionOk="0" h="637383" w="5319700">
                <a:moveTo>
                  <a:pt x="32686" y="0"/>
                </a:moveTo>
                <a:lnTo>
                  <a:pt x="5254330" y="0"/>
                </a:lnTo>
                <a:cubicBezTo>
                  <a:pt x="5290433" y="0"/>
                  <a:pt x="5319700" y="29267"/>
                  <a:pt x="5319700" y="65370"/>
                </a:cubicBezTo>
                <a:lnTo>
                  <a:pt x="5319700" y="572013"/>
                </a:lnTo>
                <a:cubicBezTo>
                  <a:pt x="5319700" y="608116"/>
                  <a:pt x="5290433" y="637383"/>
                  <a:pt x="5254330" y="637383"/>
                </a:cubicBezTo>
                <a:lnTo>
                  <a:pt x="32686" y="637383"/>
                </a:lnTo>
                <a:cubicBezTo>
                  <a:pt x="14634" y="637383"/>
                  <a:pt x="0" y="622749"/>
                  <a:pt x="0" y="60469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519713" y="4621847"/>
            <a:ext cx="32686" cy="637383"/>
          </a:xfrm>
          <a:custGeom>
            <a:rect b="b" l="l" r="r" t="t"/>
            <a:pathLst>
              <a:path extrusionOk="0" h="637383" w="32686">
                <a:moveTo>
                  <a:pt x="32686" y="0"/>
                </a:moveTo>
                <a:lnTo>
                  <a:pt x="32686" y="0"/>
                </a:lnTo>
                <a:lnTo>
                  <a:pt x="32686" y="637383"/>
                </a:lnTo>
                <a:lnTo>
                  <a:pt x="32686" y="637383"/>
                </a:lnTo>
                <a:cubicBezTo>
                  <a:pt x="14634" y="637383"/>
                  <a:pt x="0" y="622749"/>
                  <a:pt x="0" y="60469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634115" y="4719906"/>
            <a:ext cx="5180783" cy="228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8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Clustering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34115" y="4981397"/>
            <a:ext cx="5172611" cy="179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similar data without predefined classes. Aka unsupervised classification.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19713" y="5357290"/>
            <a:ext cx="5319700" cy="637383"/>
          </a:xfrm>
          <a:custGeom>
            <a:rect b="b" l="l" r="r" t="t"/>
            <a:pathLst>
              <a:path extrusionOk="0" h="637383" w="5319700">
                <a:moveTo>
                  <a:pt x="32686" y="0"/>
                </a:moveTo>
                <a:lnTo>
                  <a:pt x="5254330" y="0"/>
                </a:lnTo>
                <a:cubicBezTo>
                  <a:pt x="5290433" y="0"/>
                  <a:pt x="5319700" y="29267"/>
                  <a:pt x="5319700" y="65370"/>
                </a:cubicBezTo>
                <a:lnTo>
                  <a:pt x="5319700" y="572013"/>
                </a:lnTo>
                <a:cubicBezTo>
                  <a:pt x="5319700" y="608116"/>
                  <a:pt x="5290433" y="637383"/>
                  <a:pt x="5254330" y="637383"/>
                </a:cubicBezTo>
                <a:lnTo>
                  <a:pt x="32686" y="637383"/>
                </a:lnTo>
                <a:cubicBezTo>
                  <a:pt x="14634" y="637383"/>
                  <a:pt x="0" y="622749"/>
                  <a:pt x="0" y="60469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519713" y="5357290"/>
            <a:ext cx="32686" cy="637383"/>
          </a:xfrm>
          <a:custGeom>
            <a:rect b="b" l="l" r="r" t="t"/>
            <a:pathLst>
              <a:path extrusionOk="0" h="637383" w="32686">
                <a:moveTo>
                  <a:pt x="32686" y="0"/>
                </a:moveTo>
                <a:lnTo>
                  <a:pt x="32686" y="0"/>
                </a:lnTo>
                <a:lnTo>
                  <a:pt x="32686" y="637383"/>
                </a:lnTo>
                <a:lnTo>
                  <a:pt x="32686" y="637383"/>
                </a:lnTo>
                <a:cubicBezTo>
                  <a:pt x="14634" y="637383"/>
                  <a:pt x="0" y="622749"/>
                  <a:pt x="0" y="60469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634115" y="5455349"/>
            <a:ext cx="5180783" cy="228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8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Outlier Analysis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34115" y="5716839"/>
            <a:ext cx="5172611" cy="179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Identify data elements that cannot be grouped. Reveals exceptions or anomalies.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6182415" y="1085186"/>
            <a:ext cx="5675981" cy="5128485"/>
          </a:xfrm>
          <a:custGeom>
            <a:rect b="b" l="l" r="r" t="t"/>
            <a:pathLst>
              <a:path extrusionOk="0" h="5128485" w="5675981">
                <a:moveTo>
                  <a:pt x="98057" y="0"/>
                </a:moveTo>
                <a:lnTo>
                  <a:pt x="5577924" y="0"/>
                </a:lnTo>
                <a:cubicBezTo>
                  <a:pt x="5632079" y="0"/>
                  <a:pt x="5675981" y="43901"/>
                  <a:pt x="5675981" y="98057"/>
                </a:cubicBezTo>
                <a:lnTo>
                  <a:pt x="5675981" y="5030428"/>
                </a:lnTo>
                <a:cubicBezTo>
                  <a:pt x="5675981" y="5084583"/>
                  <a:pt x="5632079" y="5128485"/>
                  <a:pt x="5577924" y="5128485"/>
                </a:cubicBezTo>
                <a:lnTo>
                  <a:pt x="98057" y="5128485"/>
                </a:lnTo>
                <a:cubicBezTo>
                  <a:pt x="43901" y="5128485"/>
                  <a:pt x="0" y="5084583"/>
                  <a:pt x="0" y="5030428"/>
                </a:cubicBezTo>
                <a:lnTo>
                  <a:pt x="0" y="98057"/>
                </a:lnTo>
                <a:cubicBezTo>
                  <a:pt x="0" y="43901"/>
                  <a:pt x="43901" y="0"/>
                  <a:pt x="98057" y="0"/>
                </a:cubicBezTo>
                <a:close/>
              </a:path>
            </a:pathLst>
          </a:custGeom>
          <a:gradFill>
            <a:gsLst>
              <a:gs pos="0">
                <a:srgbClr val="F6AD55">
                  <a:alpha val="20000"/>
                </a:srgbClr>
              </a:gs>
              <a:gs pos="100000">
                <a:srgbClr val="2D3748"/>
              </a:gs>
            </a:gsLst>
            <a:lin ang="2700000" scaled="0"/>
          </a:gradFill>
          <a:ln cap="flat" cmpd="sng" w="203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6352383" y="1255156"/>
            <a:ext cx="392236" cy="392236"/>
          </a:xfrm>
          <a:custGeom>
            <a:rect b="b" l="l" r="r" t="t"/>
            <a:pathLst>
              <a:path extrusionOk="0" h="392236" w="392236">
                <a:moveTo>
                  <a:pt x="98059" y="0"/>
                </a:moveTo>
                <a:lnTo>
                  <a:pt x="294177" y="0"/>
                </a:lnTo>
                <a:cubicBezTo>
                  <a:pt x="348333" y="0"/>
                  <a:pt x="392236" y="43903"/>
                  <a:pt x="392236" y="98059"/>
                </a:cubicBezTo>
                <a:lnTo>
                  <a:pt x="392236" y="294177"/>
                </a:lnTo>
                <a:cubicBezTo>
                  <a:pt x="392236" y="348333"/>
                  <a:pt x="348333" y="392236"/>
                  <a:pt x="294177" y="392236"/>
                </a:cubicBezTo>
                <a:lnTo>
                  <a:pt x="98059" y="392236"/>
                </a:lnTo>
                <a:cubicBezTo>
                  <a:pt x="43903" y="392236"/>
                  <a:pt x="0" y="348333"/>
                  <a:pt x="0" y="294177"/>
                </a:cubicBezTo>
                <a:lnTo>
                  <a:pt x="0" y="98059"/>
                </a:lnTo>
                <a:cubicBezTo>
                  <a:pt x="0" y="43903"/>
                  <a:pt x="43903" y="0"/>
                  <a:pt x="98059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6466786" y="1369558"/>
            <a:ext cx="163432" cy="163432"/>
          </a:xfrm>
          <a:custGeom>
            <a:rect b="b" l="l" r="r" t="t"/>
            <a:pathLst>
              <a:path extrusionOk="0" h="163432" w="163432">
                <a:moveTo>
                  <a:pt x="21035" y="72938"/>
                </a:moveTo>
                <a:cubicBezTo>
                  <a:pt x="25281" y="43252"/>
                  <a:pt x="50849" y="20429"/>
                  <a:pt x="81716" y="20429"/>
                </a:cubicBezTo>
                <a:cubicBezTo>
                  <a:pt x="98634" y="20429"/>
                  <a:pt x="113955" y="27292"/>
                  <a:pt x="125064" y="38368"/>
                </a:cubicBezTo>
                <a:cubicBezTo>
                  <a:pt x="125127" y="38432"/>
                  <a:pt x="125191" y="38496"/>
                  <a:pt x="125255" y="38560"/>
                </a:cubicBezTo>
                <a:lnTo>
                  <a:pt x="127681" y="40858"/>
                </a:lnTo>
                <a:lnTo>
                  <a:pt x="112391" y="40858"/>
                </a:lnTo>
                <a:cubicBezTo>
                  <a:pt x="106741" y="40858"/>
                  <a:pt x="102177" y="45423"/>
                  <a:pt x="102177" y="51072"/>
                </a:cubicBezTo>
                <a:cubicBezTo>
                  <a:pt x="102177" y="56722"/>
                  <a:pt x="106741" y="61287"/>
                  <a:pt x="112391" y="61287"/>
                </a:cubicBezTo>
                <a:lnTo>
                  <a:pt x="153249" y="61287"/>
                </a:lnTo>
                <a:cubicBezTo>
                  <a:pt x="158899" y="61287"/>
                  <a:pt x="163464" y="56722"/>
                  <a:pt x="163464" y="51072"/>
                </a:cubicBezTo>
                <a:lnTo>
                  <a:pt x="163464" y="10214"/>
                </a:lnTo>
                <a:cubicBezTo>
                  <a:pt x="163464" y="4565"/>
                  <a:pt x="158899" y="0"/>
                  <a:pt x="153249" y="0"/>
                </a:cubicBezTo>
                <a:cubicBezTo>
                  <a:pt x="147599" y="0"/>
                  <a:pt x="143035" y="4565"/>
                  <a:pt x="143035" y="10214"/>
                </a:cubicBezTo>
                <a:lnTo>
                  <a:pt x="143035" y="27260"/>
                </a:lnTo>
                <a:lnTo>
                  <a:pt x="139428" y="23844"/>
                </a:lnTo>
                <a:cubicBezTo>
                  <a:pt x="124649" y="9129"/>
                  <a:pt x="104220" y="0"/>
                  <a:pt x="81716" y="0"/>
                </a:cubicBezTo>
                <a:cubicBezTo>
                  <a:pt x="40539" y="0"/>
                  <a:pt x="6480" y="30452"/>
                  <a:pt x="830" y="70065"/>
                </a:cubicBezTo>
                <a:cubicBezTo>
                  <a:pt x="32" y="75651"/>
                  <a:pt x="3894" y="80822"/>
                  <a:pt x="9480" y="81620"/>
                </a:cubicBezTo>
                <a:cubicBezTo>
                  <a:pt x="15066" y="82418"/>
                  <a:pt x="20237" y="78524"/>
                  <a:pt x="21035" y="72970"/>
                </a:cubicBezTo>
                <a:close/>
                <a:moveTo>
                  <a:pt x="162602" y="93367"/>
                </a:moveTo>
                <a:cubicBezTo>
                  <a:pt x="163400" y="87781"/>
                  <a:pt x="159505" y="82610"/>
                  <a:pt x="153951" y="81812"/>
                </a:cubicBezTo>
                <a:cubicBezTo>
                  <a:pt x="148397" y="81014"/>
                  <a:pt x="143194" y="84908"/>
                  <a:pt x="142396" y="90462"/>
                </a:cubicBezTo>
                <a:cubicBezTo>
                  <a:pt x="138151" y="120148"/>
                  <a:pt x="112583" y="142971"/>
                  <a:pt x="81716" y="142971"/>
                </a:cubicBezTo>
                <a:cubicBezTo>
                  <a:pt x="64798" y="142971"/>
                  <a:pt x="49476" y="136108"/>
                  <a:pt x="38368" y="125032"/>
                </a:cubicBezTo>
                <a:cubicBezTo>
                  <a:pt x="38304" y="124968"/>
                  <a:pt x="38240" y="124904"/>
                  <a:pt x="38177" y="124840"/>
                </a:cubicBezTo>
                <a:lnTo>
                  <a:pt x="35751" y="122542"/>
                </a:lnTo>
                <a:lnTo>
                  <a:pt x="51040" y="122542"/>
                </a:lnTo>
                <a:cubicBezTo>
                  <a:pt x="56690" y="122542"/>
                  <a:pt x="61255" y="117977"/>
                  <a:pt x="61255" y="112327"/>
                </a:cubicBezTo>
                <a:cubicBezTo>
                  <a:pt x="61255" y="106677"/>
                  <a:pt x="56690" y="102113"/>
                  <a:pt x="51040" y="102113"/>
                </a:cubicBezTo>
                <a:lnTo>
                  <a:pt x="10214" y="102145"/>
                </a:lnTo>
                <a:cubicBezTo>
                  <a:pt x="7501" y="102145"/>
                  <a:pt x="4884" y="103230"/>
                  <a:pt x="2969" y="105177"/>
                </a:cubicBezTo>
                <a:cubicBezTo>
                  <a:pt x="1053" y="107124"/>
                  <a:pt x="-32" y="109710"/>
                  <a:pt x="0" y="112455"/>
                </a:cubicBezTo>
                <a:lnTo>
                  <a:pt x="319" y="152994"/>
                </a:lnTo>
                <a:cubicBezTo>
                  <a:pt x="351" y="158644"/>
                  <a:pt x="4980" y="163176"/>
                  <a:pt x="10629" y="163112"/>
                </a:cubicBezTo>
                <a:cubicBezTo>
                  <a:pt x="16279" y="163049"/>
                  <a:pt x="20812" y="158452"/>
                  <a:pt x="20748" y="152802"/>
                </a:cubicBezTo>
                <a:lnTo>
                  <a:pt x="20620" y="136363"/>
                </a:lnTo>
                <a:lnTo>
                  <a:pt x="24036" y="139587"/>
                </a:lnTo>
                <a:cubicBezTo>
                  <a:pt x="38815" y="154302"/>
                  <a:pt x="59212" y="163432"/>
                  <a:pt x="81716" y="163432"/>
                </a:cubicBezTo>
                <a:cubicBezTo>
                  <a:pt x="122893" y="163432"/>
                  <a:pt x="156952" y="132980"/>
                  <a:pt x="162602" y="93367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6842678" y="1304185"/>
            <a:ext cx="1895807" cy="294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29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Predictive Tasks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352383" y="1778137"/>
            <a:ext cx="5401416" cy="212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Make predictions based on inference from available data.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368727" y="2121343"/>
            <a:ext cx="5319700" cy="996933"/>
          </a:xfrm>
          <a:custGeom>
            <a:rect b="b" l="l" r="r" t="t"/>
            <a:pathLst>
              <a:path extrusionOk="0" h="996933" w="5319700">
                <a:moveTo>
                  <a:pt x="32686" y="0"/>
                </a:moveTo>
                <a:lnTo>
                  <a:pt x="5254331" y="0"/>
                </a:lnTo>
                <a:cubicBezTo>
                  <a:pt x="5290433" y="0"/>
                  <a:pt x="5319700" y="29267"/>
                  <a:pt x="5319700" y="65369"/>
                </a:cubicBezTo>
                <a:lnTo>
                  <a:pt x="5319700" y="931564"/>
                </a:lnTo>
                <a:cubicBezTo>
                  <a:pt x="5319700" y="967666"/>
                  <a:pt x="5290433" y="996933"/>
                  <a:pt x="5254331" y="996933"/>
                </a:cubicBezTo>
                <a:lnTo>
                  <a:pt x="32686" y="996933"/>
                </a:lnTo>
                <a:cubicBezTo>
                  <a:pt x="14634" y="996933"/>
                  <a:pt x="0" y="982299"/>
                  <a:pt x="0" y="96424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368727" y="2121343"/>
            <a:ext cx="32686" cy="996933"/>
          </a:xfrm>
          <a:custGeom>
            <a:rect b="b" l="l" r="r" t="t"/>
            <a:pathLst>
              <a:path extrusionOk="0" h="996933" w="32686">
                <a:moveTo>
                  <a:pt x="32686" y="0"/>
                </a:moveTo>
                <a:lnTo>
                  <a:pt x="32686" y="0"/>
                </a:lnTo>
                <a:lnTo>
                  <a:pt x="32686" y="996933"/>
                </a:lnTo>
                <a:lnTo>
                  <a:pt x="32686" y="996933"/>
                </a:lnTo>
                <a:cubicBezTo>
                  <a:pt x="14634" y="996933"/>
                  <a:pt x="0" y="982299"/>
                  <a:pt x="0" y="96424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6483129" y="2219402"/>
            <a:ext cx="5180783" cy="228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8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Classification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483129" y="2480893"/>
            <a:ext cx="5172611" cy="179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Find a model that describes data classes. Assigns labels to new observations.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483129" y="2726040"/>
            <a:ext cx="5107239" cy="294177"/>
          </a:xfrm>
          <a:custGeom>
            <a:rect b="b" l="l" r="r" t="t"/>
            <a:pathLst>
              <a:path extrusionOk="0" h="294177" w="5107239">
                <a:moveTo>
                  <a:pt x="32686" y="0"/>
                </a:moveTo>
                <a:lnTo>
                  <a:pt x="5074553" y="0"/>
                </a:lnTo>
                <a:cubicBezTo>
                  <a:pt x="5092605" y="0"/>
                  <a:pt x="5107239" y="14634"/>
                  <a:pt x="5107239" y="32686"/>
                </a:cubicBezTo>
                <a:lnTo>
                  <a:pt x="5107239" y="261491"/>
                </a:lnTo>
                <a:cubicBezTo>
                  <a:pt x="5107239" y="279543"/>
                  <a:pt x="5092605" y="294177"/>
                  <a:pt x="5074553" y="294177"/>
                </a:cubicBezTo>
                <a:lnTo>
                  <a:pt x="32686" y="294177"/>
                </a:lnTo>
                <a:cubicBezTo>
                  <a:pt x="14646" y="294177"/>
                  <a:pt x="0" y="279531"/>
                  <a:pt x="0" y="261491"/>
                </a:cubicBezTo>
                <a:lnTo>
                  <a:pt x="0" y="32686"/>
                </a:lnTo>
                <a:cubicBezTo>
                  <a:pt x="0" y="14634"/>
                  <a:pt x="14634" y="0"/>
                  <a:pt x="32686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6581188" y="2804486"/>
            <a:ext cx="467721" cy="130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7019797" y="2804486"/>
            <a:ext cx="2927061" cy="130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set → Model building → New object classification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368727" y="3216335"/>
            <a:ext cx="5319700" cy="996933"/>
          </a:xfrm>
          <a:custGeom>
            <a:rect b="b" l="l" r="r" t="t"/>
            <a:pathLst>
              <a:path extrusionOk="0" h="996933" w="5319700">
                <a:moveTo>
                  <a:pt x="32686" y="0"/>
                </a:moveTo>
                <a:lnTo>
                  <a:pt x="5254331" y="0"/>
                </a:lnTo>
                <a:cubicBezTo>
                  <a:pt x="5290433" y="0"/>
                  <a:pt x="5319700" y="29267"/>
                  <a:pt x="5319700" y="65369"/>
                </a:cubicBezTo>
                <a:lnTo>
                  <a:pt x="5319700" y="931564"/>
                </a:lnTo>
                <a:cubicBezTo>
                  <a:pt x="5319700" y="967666"/>
                  <a:pt x="5290433" y="996933"/>
                  <a:pt x="5254331" y="996933"/>
                </a:cubicBezTo>
                <a:lnTo>
                  <a:pt x="32686" y="996933"/>
                </a:lnTo>
                <a:cubicBezTo>
                  <a:pt x="14634" y="996933"/>
                  <a:pt x="0" y="982299"/>
                  <a:pt x="0" y="96424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6368727" y="3216335"/>
            <a:ext cx="32686" cy="996933"/>
          </a:xfrm>
          <a:custGeom>
            <a:rect b="b" l="l" r="r" t="t"/>
            <a:pathLst>
              <a:path extrusionOk="0" h="996933" w="32686">
                <a:moveTo>
                  <a:pt x="32686" y="0"/>
                </a:moveTo>
                <a:lnTo>
                  <a:pt x="32686" y="0"/>
                </a:lnTo>
                <a:lnTo>
                  <a:pt x="32686" y="996933"/>
                </a:lnTo>
                <a:lnTo>
                  <a:pt x="32686" y="996933"/>
                </a:lnTo>
                <a:cubicBezTo>
                  <a:pt x="14634" y="996933"/>
                  <a:pt x="0" y="982299"/>
                  <a:pt x="0" y="964247"/>
                </a:cubicBezTo>
                <a:lnTo>
                  <a:pt x="0" y="32686"/>
                </a:lnTo>
                <a:cubicBezTo>
                  <a:pt x="0" y="14646"/>
                  <a:pt x="14646" y="0"/>
                  <a:pt x="32686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483129" y="3314394"/>
            <a:ext cx="5180783" cy="228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8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Prediction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483129" y="3575885"/>
            <a:ext cx="5172611" cy="179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Forecast missing numerical values or trends in time-related data.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483129" y="3821032"/>
            <a:ext cx="5107239" cy="294177"/>
          </a:xfrm>
          <a:custGeom>
            <a:rect b="b" l="l" r="r" t="t"/>
            <a:pathLst>
              <a:path extrusionOk="0" h="294177" w="5107239">
                <a:moveTo>
                  <a:pt x="32686" y="0"/>
                </a:moveTo>
                <a:lnTo>
                  <a:pt x="5074553" y="0"/>
                </a:lnTo>
                <a:cubicBezTo>
                  <a:pt x="5092605" y="0"/>
                  <a:pt x="5107239" y="14634"/>
                  <a:pt x="5107239" y="32686"/>
                </a:cubicBezTo>
                <a:lnTo>
                  <a:pt x="5107239" y="261491"/>
                </a:lnTo>
                <a:cubicBezTo>
                  <a:pt x="5107239" y="279543"/>
                  <a:pt x="5092605" y="294177"/>
                  <a:pt x="5074553" y="294177"/>
                </a:cubicBezTo>
                <a:lnTo>
                  <a:pt x="32686" y="294177"/>
                </a:lnTo>
                <a:cubicBezTo>
                  <a:pt x="14646" y="294177"/>
                  <a:pt x="0" y="279531"/>
                  <a:pt x="0" y="261491"/>
                </a:cubicBezTo>
                <a:lnTo>
                  <a:pt x="0" y="32686"/>
                </a:lnTo>
                <a:cubicBezTo>
                  <a:pt x="0" y="14634"/>
                  <a:pt x="14634" y="0"/>
                  <a:pt x="32686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6581188" y="3899478"/>
            <a:ext cx="511235" cy="130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7063311" y="3899478"/>
            <a:ext cx="2585182" cy="130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Credit card fraud detection using historical patterns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352383" y="4311327"/>
            <a:ext cx="5336043" cy="1732375"/>
          </a:xfrm>
          <a:custGeom>
            <a:rect b="b" l="l" r="r" t="t"/>
            <a:pathLst>
              <a:path extrusionOk="0" h="1732375" w="5336043">
                <a:moveTo>
                  <a:pt x="65380" y="0"/>
                </a:moveTo>
                <a:lnTo>
                  <a:pt x="5270663" y="0"/>
                </a:lnTo>
                <a:cubicBezTo>
                  <a:pt x="5306771" y="0"/>
                  <a:pt x="5336043" y="29272"/>
                  <a:pt x="5336043" y="65380"/>
                </a:cubicBezTo>
                <a:lnTo>
                  <a:pt x="5336043" y="1666995"/>
                </a:lnTo>
                <a:cubicBezTo>
                  <a:pt x="5336043" y="1703104"/>
                  <a:pt x="5306771" y="1732375"/>
                  <a:pt x="5270663" y="1732375"/>
                </a:cubicBezTo>
                <a:lnTo>
                  <a:pt x="65380" y="1732375"/>
                </a:lnTo>
                <a:cubicBezTo>
                  <a:pt x="29272" y="1732375"/>
                  <a:pt x="0" y="1703104"/>
                  <a:pt x="0" y="1666995"/>
                </a:cubicBezTo>
                <a:lnTo>
                  <a:pt x="0" y="65380"/>
                </a:lnTo>
                <a:cubicBezTo>
                  <a:pt x="0" y="29296"/>
                  <a:pt x="29296" y="0"/>
                  <a:pt x="65380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6446357" y="4442073"/>
            <a:ext cx="5148097" cy="228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8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Prediction vs Classification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036853" y="4775473"/>
            <a:ext cx="773032" cy="773032"/>
          </a:xfrm>
          <a:custGeom>
            <a:rect b="b" l="l" r="r" t="t"/>
            <a:pathLst>
              <a:path extrusionOk="0" h="773032" w="773032">
                <a:moveTo>
                  <a:pt x="98059" y="0"/>
                </a:moveTo>
                <a:lnTo>
                  <a:pt x="674973" y="0"/>
                </a:lnTo>
                <a:cubicBezTo>
                  <a:pt x="729093" y="0"/>
                  <a:pt x="773032" y="43939"/>
                  <a:pt x="773032" y="98059"/>
                </a:cubicBezTo>
                <a:lnTo>
                  <a:pt x="773032" y="674973"/>
                </a:lnTo>
                <a:cubicBezTo>
                  <a:pt x="773032" y="729129"/>
                  <a:pt x="729129" y="773032"/>
                  <a:pt x="674973" y="773032"/>
                </a:cubicBezTo>
                <a:lnTo>
                  <a:pt x="98059" y="773032"/>
                </a:lnTo>
                <a:cubicBezTo>
                  <a:pt x="43903" y="773032"/>
                  <a:pt x="0" y="729129"/>
                  <a:pt x="0" y="674973"/>
                </a:cubicBezTo>
                <a:lnTo>
                  <a:pt x="0" y="98059"/>
                </a:lnTo>
                <a:cubicBezTo>
                  <a:pt x="0" y="43939"/>
                  <a:pt x="43939" y="0"/>
                  <a:pt x="98059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 cap="flat" cmpd="sng" w="203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8302021" y="5038598"/>
            <a:ext cx="245147" cy="245147"/>
          </a:xfrm>
          <a:custGeom>
            <a:rect b="b" l="l" r="r" t="t"/>
            <a:pathLst>
              <a:path extrusionOk="0" h="245147" w="245147">
                <a:moveTo>
                  <a:pt x="30643" y="30643"/>
                </a:moveTo>
                <a:cubicBezTo>
                  <a:pt x="30643" y="22169"/>
                  <a:pt x="23797" y="15322"/>
                  <a:pt x="15322" y="15322"/>
                </a:cubicBezTo>
                <a:cubicBezTo>
                  <a:pt x="6847" y="15322"/>
                  <a:pt x="0" y="22169"/>
                  <a:pt x="0" y="30643"/>
                </a:cubicBezTo>
                <a:lnTo>
                  <a:pt x="0" y="191521"/>
                </a:lnTo>
                <a:cubicBezTo>
                  <a:pt x="0" y="212685"/>
                  <a:pt x="17141" y="229826"/>
                  <a:pt x="38304" y="229826"/>
                </a:cubicBezTo>
                <a:lnTo>
                  <a:pt x="229826" y="229826"/>
                </a:lnTo>
                <a:cubicBezTo>
                  <a:pt x="238301" y="229826"/>
                  <a:pt x="245147" y="222979"/>
                  <a:pt x="245147" y="214504"/>
                </a:cubicBezTo>
                <a:cubicBezTo>
                  <a:pt x="245147" y="206029"/>
                  <a:pt x="238301" y="199182"/>
                  <a:pt x="229826" y="199182"/>
                </a:cubicBezTo>
                <a:lnTo>
                  <a:pt x="38304" y="199182"/>
                </a:lnTo>
                <a:cubicBezTo>
                  <a:pt x="34091" y="199182"/>
                  <a:pt x="30643" y="195735"/>
                  <a:pt x="30643" y="191521"/>
                </a:cubicBezTo>
                <a:lnTo>
                  <a:pt x="30643" y="30643"/>
                </a:lnTo>
                <a:close/>
                <a:moveTo>
                  <a:pt x="225325" y="72108"/>
                </a:moveTo>
                <a:cubicBezTo>
                  <a:pt x="231310" y="66123"/>
                  <a:pt x="231310" y="56403"/>
                  <a:pt x="225325" y="50418"/>
                </a:cubicBezTo>
                <a:cubicBezTo>
                  <a:pt x="219340" y="44433"/>
                  <a:pt x="209620" y="44433"/>
                  <a:pt x="203635" y="50418"/>
                </a:cubicBezTo>
                <a:lnTo>
                  <a:pt x="153217" y="100884"/>
                </a:lnTo>
                <a:lnTo>
                  <a:pt x="125734" y="73448"/>
                </a:lnTo>
                <a:cubicBezTo>
                  <a:pt x="119749" y="67463"/>
                  <a:pt x="110029" y="67463"/>
                  <a:pt x="104044" y="73448"/>
                </a:cubicBezTo>
                <a:lnTo>
                  <a:pt x="58079" y="119414"/>
                </a:lnTo>
                <a:cubicBezTo>
                  <a:pt x="52094" y="125399"/>
                  <a:pt x="52094" y="135118"/>
                  <a:pt x="58079" y="141103"/>
                </a:cubicBezTo>
                <a:cubicBezTo>
                  <a:pt x="64064" y="147088"/>
                  <a:pt x="73784" y="147088"/>
                  <a:pt x="79769" y="141103"/>
                </a:cubicBezTo>
                <a:lnTo>
                  <a:pt x="114913" y="105959"/>
                </a:lnTo>
                <a:lnTo>
                  <a:pt x="142396" y="133443"/>
                </a:lnTo>
                <a:cubicBezTo>
                  <a:pt x="148381" y="139428"/>
                  <a:pt x="158101" y="139428"/>
                  <a:pt x="164086" y="133443"/>
                </a:cubicBezTo>
                <a:lnTo>
                  <a:pt x="225373" y="72156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8001715" y="5618780"/>
            <a:ext cx="841673" cy="16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1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8005801" y="5782212"/>
            <a:ext cx="833501" cy="130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2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Values &amp; Trends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8945533" y="5177411"/>
            <a:ext cx="294177" cy="326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16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9229087" y="4775473"/>
            <a:ext cx="773032" cy="773032"/>
          </a:xfrm>
          <a:custGeom>
            <a:rect b="b" l="l" r="r" t="t"/>
            <a:pathLst>
              <a:path extrusionOk="0" h="773032" w="773032">
                <a:moveTo>
                  <a:pt x="98059" y="0"/>
                </a:moveTo>
                <a:lnTo>
                  <a:pt x="674973" y="0"/>
                </a:lnTo>
                <a:cubicBezTo>
                  <a:pt x="729093" y="0"/>
                  <a:pt x="773032" y="43939"/>
                  <a:pt x="773032" y="98059"/>
                </a:cubicBezTo>
                <a:lnTo>
                  <a:pt x="773032" y="674973"/>
                </a:lnTo>
                <a:cubicBezTo>
                  <a:pt x="773032" y="729129"/>
                  <a:pt x="729129" y="773032"/>
                  <a:pt x="674973" y="773032"/>
                </a:cubicBezTo>
                <a:lnTo>
                  <a:pt x="98059" y="773032"/>
                </a:lnTo>
                <a:cubicBezTo>
                  <a:pt x="43903" y="773032"/>
                  <a:pt x="0" y="729129"/>
                  <a:pt x="0" y="674973"/>
                </a:cubicBezTo>
                <a:lnTo>
                  <a:pt x="0" y="98059"/>
                </a:lnTo>
                <a:cubicBezTo>
                  <a:pt x="0" y="43939"/>
                  <a:pt x="43939" y="0"/>
                  <a:pt x="98059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 cap="flat" cmpd="sng" w="203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9478933" y="5038598"/>
            <a:ext cx="275791" cy="245147"/>
          </a:xfrm>
          <a:custGeom>
            <a:rect b="b" l="l" r="r" t="t"/>
            <a:pathLst>
              <a:path extrusionOk="0" h="245147" w="275791">
                <a:moveTo>
                  <a:pt x="192096" y="18721"/>
                </a:moveTo>
                <a:lnTo>
                  <a:pt x="263055" y="90685"/>
                </a:lnTo>
                <a:cubicBezTo>
                  <a:pt x="276318" y="104140"/>
                  <a:pt x="276318" y="125686"/>
                  <a:pt x="263055" y="139140"/>
                </a:cubicBezTo>
                <a:lnTo>
                  <a:pt x="188170" y="214935"/>
                </a:lnTo>
                <a:cubicBezTo>
                  <a:pt x="183717" y="219436"/>
                  <a:pt x="176439" y="219484"/>
                  <a:pt x="171938" y="215031"/>
                </a:cubicBezTo>
                <a:cubicBezTo>
                  <a:pt x="167438" y="210578"/>
                  <a:pt x="167390" y="203300"/>
                  <a:pt x="171843" y="198799"/>
                </a:cubicBezTo>
                <a:lnTo>
                  <a:pt x="246728" y="122957"/>
                </a:lnTo>
                <a:cubicBezTo>
                  <a:pt x="251132" y="118504"/>
                  <a:pt x="251132" y="111274"/>
                  <a:pt x="246728" y="106821"/>
                </a:cubicBezTo>
                <a:lnTo>
                  <a:pt x="175721" y="34905"/>
                </a:lnTo>
                <a:cubicBezTo>
                  <a:pt x="171268" y="30404"/>
                  <a:pt x="171316" y="23126"/>
                  <a:pt x="175817" y="18673"/>
                </a:cubicBezTo>
                <a:cubicBezTo>
                  <a:pt x="180317" y="14220"/>
                  <a:pt x="187595" y="14268"/>
                  <a:pt x="192048" y="18769"/>
                </a:cubicBezTo>
                <a:close/>
                <a:moveTo>
                  <a:pt x="15370" y="109885"/>
                </a:moveTo>
                <a:lnTo>
                  <a:pt x="15370" y="45965"/>
                </a:lnTo>
                <a:cubicBezTo>
                  <a:pt x="15370" y="29063"/>
                  <a:pt x="29111" y="15322"/>
                  <a:pt x="46013" y="15322"/>
                </a:cubicBezTo>
                <a:lnTo>
                  <a:pt x="109933" y="15322"/>
                </a:lnTo>
                <a:cubicBezTo>
                  <a:pt x="118073" y="15322"/>
                  <a:pt x="125877" y="18530"/>
                  <a:pt x="131623" y="24275"/>
                </a:cubicBezTo>
                <a:lnTo>
                  <a:pt x="200571" y="93223"/>
                </a:lnTo>
                <a:cubicBezTo>
                  <a:pt x="212541" y="105193"/>
                  <a:pt x="212541" y="124585"/>
                  <a:pt x="200571" y="136555"/>
                </a:cubicBezTo>
                <a:lnTo>
                  <a:pt x="136651" y="200475"/>
                </a:lnTo>
                <a:cubicBezTo>
                  <a:pt x="124680" y="212445"/>
                  <a:pt x="105289" y="212445"/>
                  <a:pt x="93319" y="200475"/>
                </a:cubicBezTo>
                <a:lnTo>
                  <a:pt x="24371" y="131527"/>
                </a:lnTo>
                <a:cubicBezTo>
                  <a:pt x="18625" y="125782"/>
                  <a:pt x="15417" y="117977"/>
                  <a:pt x="15417" y="109838"/>
                </a:cubicBezTo>
                <a:close/>
                <a:moveTo>
                  <a:pt x="84317" y="68948"/>
                </a:moveTo>
                <a:cubicBezTo>
                  <a:pt x="84317" y="60491"/>
                  <a:pt x="77452" y="53626"/>
                  <a:pt x="68996" y="53626"/>
                </a:cubicBezTo>
                <a:cubicBezTo>
                  <a:pt x="60539" y="53626"/>
                  <a:pt x="53674" y="60491"/>
                  <a:pt x="53674" y="68948"/>
                </a:cubicBezTo>
                <a:cubicBezTo>
                  <a:pt x="53674" y="77404"/>
                  <a:pt x="60539" y="84269"/>
                  <a:pt x="68996" y="84269"/>
                </a:cubicBezTo>
                <a:cubicBezTo>
                  <a:pt x="77452" y="84269"/>
                  <a:pt x="84317" y="77404"/>
                  <a:pt x="84317" y="68948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9193949" y="5618780"/>
            <a:ext cx="841673" cy="163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1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Classification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9198035" y="5782212"/>
            <a:ext cx="833501" cy="130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2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Class Labels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8906" y="105968"/>
            <a:ext cx="1502714" cy="56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"/>
          <p:cNvSpPr/>
          <p:nvPr/>
        </p:nvSpPr>
        <p:spPr>
          <a:xfrm>
            <a:off x="332434" y="415542"/>
            <a:ext cx="465407" cy="465407"/>
          </a:xfrm>
          <a:custGeom>
            <a:rect b="b" l="l" r="r" t="t"/>
            <a:pathLst>
              <a:path extrusionOk="0" h="465407" w="465407">
                <a:moveTo>
                  <a:pt x="99732" y="0"/>
                </a:moveTo>
                <a:lnTo>
                  <a:pt x="365675" y="0"/>
                </a:lnTo>
                <a:cubicBezTo>
                  <a:pt x="420755" y="0"/>
                  <a:pt x="465407" y="44652"/>
                  <a:pt x="465407" y="99732"/>
                </a:cubicBezTo>
                <a:lnTo>
                  <a:pt x="465407" y="365675"/>
                </a:lnTo>
                <a:cubicBezTo>
                  <a:pt x="465407" y="420755"/>
                  <a:pt x="420755" y="465407"/>
                  <a:pt x="365675" y="465407"/>
                </a:cubicBezTo>
                <a:lnTo>
                  <a:pt x="99732" y="465407"/>
                </a:lnTo>
                <a:cubicBezTo>
                  <a:pt x="44652" y="465407"/>
                  <a:pt x="0" y="420755"/>
                  <a:pt x="0" y="365675"/>
                </a:cubicBezTo>
                <a:lnTo>
                  <a:pt x="0" y="99732"/>
                </a:lnTo>
                <a:cubicBezTo>
                  <a:pt x="0" y="44688"/>
                  <a:pt x="44688" y="0"/>
                  <a:pt x="99732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465407" y="548515"/>
            <a:ext cx="199460" cy="199460"/>
          </a:xfrm>
          <a:custGeom>
            <a:rect b="b" l="l" r="r" t="t"/>
            <a:pathLst>
              <a:path extrusionOk="0" h="199460" w="199460">
                <a:moveTo>
                  <a:pt x="99730" y="0"/>
                </a:moveTo>
                <a:cubicBezTo>
                  <a:pt x="104093" y="0"/>
                  <a:pt x="108184" y="2298"/>
                  <a:pt x="110404" y="6038"/>
                </a:cubicBezTo>
                <a:lnTo>
                  <a:pt x="147803" y="68370"/>
                </a:lnTo>
                <a:cubicBezTo>
                  <a:pt x="150102" y="72226"/>
                  <a:pt x="150179" y="77018"/>
                  <a:pt x="147959" y="80914"/>
                </a:cubicBezTo>
                <a:cubicBezTo>
                  <a:pt x="145738" y="84810"/>
                  <a:pt x="141609" y="87264"/>
                  <a:pt x="137129" y="87264"/>
                </a:cubicBezTo>
                <a:lnTo>
                  <a:pt x="62331" y="87264"/>
                </a:lnTo>
                <a:cubicBezTo>
                  <a:pt x="57851" y="87264"/>
                  <a:pt x="53683" y="84848"/>
                  <a:pt x="51501" y="80953"/>
                </a:cubicBezTo>
                <a:cubicBezTo>
                  <a:pt x="49320" y="77057"/>
                  <a:pt x="49359" y="72265"/>
                  <a:pt x="51657" y="68409"/>
                </a:cubicBezTo>
                <a:lnTo>
                  <a:pt x="89056" y="6077"/>
                </a:lnTo>
                <a:cubicBezTo>
                  <a:pt x="91276" y="2298"/>
                  <a:pt x="95367" y="0"/>
                  <a:pt x="99730" y="0"/>
                </a:cubicBezTo>
                <a:close/>
                <a:moveTo>
                  <a:pt x="49865" y="105963"/>
                </a:moveTo>
                <a:cubicBezTo>
                  <a:pt x="73946" y="105963"/>
                  <a:pt x="93497" y="125514"/>
                  <a:pt x="93497" y="149595"/>
                </a:cubicBezTo>
                <a:cubicBezTo>
                  <a:pt x="93497" y="173676"/>
                  <a:pt x="73946" y="193227"/>
                  <a:pt x="49865" y="193227"/>
                </a:cubicBezTo>
                <a:cubicBezTo>
                  <a:pt x="25784" y="193227"/>
                  <a:pt x="6233" y="173676"/>
                  <a:pt x="6233" y="149595"/>
                </a:cubicBezTo>
                <a:cubicBezTo>
                  <a:pt x="6233" y="125514"/>
                  <a:pt x="25784" y="105963"/>
                  <a:pt x="49865" y="105963"/>
                </a:cubicBezTo>
                <a:close/>
                <a:moveTo>
                  <a:pt x="127779" y="112196"/>
                </a:moveTo>
                <a:lnTo>
                  <a:pt x="171411" y="112196"/>
                </a:lnTo>
                <a:cubicBezTo>
                  <a:pt x="180021" y="112196"/>
                  <a:pt x="186994" y="119170"/>
                  <a:pt x="186994" y="127779"/>
                </a:cubicBezTo>
                <a:lnTo>
                  <a:pt x="186994" y="171411"/>
                </a:lnTo>
                <a:cubicBezTo>
                  <a:pt x="186994" y="180021"/>
                  <a:pt x="180021" y="186994"/>
                  <a:pt x="171411" y="186994"/>
                </a:cubicBezTo>
                <a:lnTo>
                  <a:pt x="127779" y="186994"/>
                </a:lnTo>
                <a:cubicBezTo>
                  <a:pt x="119170" y="186994"/>
                  <a:pt x="112196" y="180021"/>
                  <a:pt x="112196" y="171411"/>
                </a:cubicBezTo>
                <a:lnTo>
                  <a:pt x="112196" y="127779"/>
                </a:lnTo>
                <a:cubicBezTo>
                  <a:pt x="112196" y="119170"/>
                  <a:pt x="119170" y="112196"/>
                  <a:pt x="127779" y="112196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930814" y="332434"/>
            <a:ext cx="5643059" cy="39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41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Data Objects &amp; Attribute Types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930814" y="731354"/>
            <a:ext cx="5526708" cy="232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9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Foundation of Data Representation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39082" y="1103679"/>
            <a:ext cx="4517772" cy="1392897"/>
          </a:xfrm>
          <a:custGeom>
            <a:rect b="b" l="l" r="r" t="t"/>
            <a:pathLst>
              <a:path extrusionOk="0" h="1392897" w="4517772">
                <a:moveTo>
                  <a:pt x="99731" y="0"/>
                </a:moveTo>
                <a:lnTo>
                  <a:pt x="4418040" y="0"/>
                </a:lnTo>
                <a:cubicBezTo>
                  <a:pt x="4473121" y="0"/>
                  <a:pt x="4517772" y="44651"/>
                  <a:pt x="4517772" y="99731"/>
                </a:cubicBezTo>
                <a:lnTo>
                  <a:pt x="4517772" y="1293165"/>
                </a:lnTo>
                <a:cubicBezTo>
                  <a:pt x="4517772" y="1348245"/>
                  <a:pt x="4473121" y="1392897"/>
                  <a:pt x="4418040" y="1392897"/>
                </a:cubicBezTo>
                <a:lnTo>
                  <a:pt x="99731" y="1392897"/>
                </a:lnTo>
                <a:cubicBezTo>
                  <a:pt x="44651" y="1392897"/>
                  <a:pt x="0" y="1348245"/>
                  <a:pt x="0" y="1293165"/>
                </a:cubicBezTo>
                <a:lnTo>
                  <a:pt x="0" y="99731"/>
                </a:lnTo>
                <a:cubicBezTo>
                  <a:pt x="0" y="44688"/>
                  <a:pt x="44688" y="0"/>
                  <a:pt x="99731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20000"/>
                </a:srgbClr>
              </a:gs>
              <a:gs pos="100000">
                <a:srgbClr val="2D3748"/>
              </a:gs>
            </a:gsLst>
            <a:lin ang="2700000" scaled="0"/>
          </a:gradFill>
          <a:ln cap="flat" cmpd="sng" w="203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478704" y="1243302"/>
            <a:ext cx="332434" cy="332434"/>
          </a:xfrm>
          <a:custGeom>
            <a:rect b="b" l="l" r="r" t="t"/>
            <a:pathLst>
              <a:path extrusionOk="0" h="332434" w="332434">
                <a:moveTo>
                  <a:pt x="66487" y="0"/>
                </a:moveTo>
                <a:lnTo>
                  <a:pt x="265947" y="0"/>
                </a:lnTo>
                <a:cubicBezTo>
                  <a:pt x="302642" y="0"/>
                  <a:pt x="332434" y="29792"/>
                  <a:pt x="332434" y="66487"/>
                </a:cubicBezTo>
                <a:lnTo>
                  <a:pt x="332434" y="265947"/>
                </a:lnTo>
                <a:cubicBezTo>
                  <a:pt x="332434" y="302642"/>
                  <a:pt x="302642" y="332434"/>
                  <a:pt x="265947" y="332434"/>
                </a:cubicBezTo>
                <a:lnTo>
                  <a:pt x="66487" y="332434"/>
                </a:lnTo>
                <a:cubicBezTo>
                  <a:pt x="29792" y="332434"/>
                  <a:pt x="0" y="302642"/>
                  <a:pt x="0" y="265947"/>
                </a:cubicBezTo>
                <a:lnTo>
                  <a:pt x="0" y="66487"/>
                </a:lnTo>
                <a:cubicBezTo>
                  <a:pt x="0" y="29792"/>
                  <a:pt x="29792" y="0"/>
                  <a:pt x="66487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561813" y="1326411"/>
            <a:ext cx="166217" cy="166217"/>
          </a:xfrm>
          <a:custGeom>
            <a:rect b="b" l="l" r="r" t="t"/>
            <a:pathLst>
              <a:path extrusionOk="0" h="166217" w="166217">
                <a:moveTo>
                  <a:pt x="72817" y="-812"/>
                </a:moveTo>
                <a:cubicBezTo>
                  <a:pt x="79245" y="-4513"/>
                  <a:pt x="87166" y="-4513"/>
                  <a:pt x="93594" y="-812"/>
                </a:cubicBezTo>
                <a:lnTo>
                  <a:pt x="150699" y="32140"/>
                </a:lnTo>
                <a:cubicBezTo>
                  <a:pt x="157127" y="35840"/>
                  <a:pt x="161087" y="42723"/>
                  <a:pt x="161087" y="50125"/>
                </a:cubicBezTo>
                <a:lnTo>
                  <a:pt x="161087" y="116027"/>
                </a:lnTo>
                <a:cubicBezTo>
                  <a:pt x="161087" y="123461"/>
                  <a:pt x="157127" y="130311"/>
                  <a:pt x="150699" y="134012"/>
                </a:cubicBezTo>
                <a:lnTo>
                  <a:pt x="93594" y="167028"/>
                </a:lnTo>
                <a:cubicBezTo>
                  <a:pt x="87166" y="170729"/>
                  <a:pt x="79245" y="170729"/>
                  <a:pt x="72817" y="167028"/>
                </a:cubicBezTo>
                <a:lnTo>
                  <a:pt x="15745" y="134077"/>
                </a:lnTo>
                <a:cubicBezTo>
                  <a:pt x="9317" y="130376"/>
                  <a:pt x="5357" y="123494"/>
                  <a:pt x="5357" y="116092"/>
                </a:cubicBezTo>
                <a:lnTo>
                  <a:pt x="5357" y="50190"/>
                </a:lnTo>
                <a:cubicBezTo>
                  <a:pt x="5357" y="42755"/>
                  <a:pt x="9317" y="35905"/>
                  <a:pt x="15745" y="32204"/>
                </a:cubicBezTo>
                <a:lnTo>
                  <a:pt x="72817" y="-812"/>
                </a:lnTo>
                <a:close/>
                <a:moveTo>
                  <a:pt x="140278" y="116060"/>
                </a:moveTo>
                <a:lnTo>
                  <a:pt x="140278" y="62137"/>
                </a:lnTo>
                <a:lnTo>
                  <a:pt x="93594" y="89082"/>
                </a:lnTo>
                <a:lnTo>
                  <a:pt x="93594" y="143005"/>
                </a:lnTo>
                <a:lnTo>
                  <a:pt x="140278" y="116060"/>
                </a:ln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910868" y="1276546"/>
            <a:ext cx="939125" cy="232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9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Data Object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478704" y="1675466"/>
            <a:ext cx="4305014" cy="2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7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Represents an entity. A group of attributes describing an entity.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78704" y="1991278"/>
            <a:ext cx="4238528" cy="365677"/>
          </a:xfrm>
          <a:custGeom>
            <a:rect b="b" l="l" r="r" t="t"/>
            <a:pathLst>
              <a:path extrusionOk="0" h="365677" w="4238528">
                <a:moveTo>
                  <a:pt x="66487" y="0"/>
                </a:moveTo>
                <a:lnTo>
                  <a:pt x="4172040" y="0"/>
                </a:lnTo>
                <a:cubicBezTo>
                  <a:pt x="4208760" y="0"/>
                  <a:pt x="4238528" y="29767"/>
                  <a:pt x="4238528" y="66487"/>
                </a:cubicBezTo>
                <a:lnTo>
                  <a:pt x="4238528" y="299190"/>
                </a:lnTo>
                <a:cubicBezTo>
                  <a:pt x="4238528" y="335909"/>
                  <a:pt x="4208760" y="365677"/>
                  <a:pt x="4172040" y="365677"/>
                </a:cubicBezTo>
                <a:lnTo>
                  <a:pt x="66487" y="365677"/>
                </a:lnTo>
                <a:cubicBezTo>
                  <a:pt x="29792" y="365677"/>
                  <a:pt x="0" y="335885"/>
                  <a:pt x="0" y="299190"/>
                </a:cubicBezTo>
                <a:lnTo>
                  <a:pt x="0" y="66487"/>
                </a:lnTo>
                <a:cubicBezTo>
                  <a:pt x="0" y="29792"/>
                  <a:pt x="29792" y="0"/>
                  <a:pt x="66487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578434" y="2091008"/>
            <a:ext cx="4097243" cy="166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6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Example:</a:t>
            </a:r>
            <a:r>
              <a:rPr lang="en-US" sz="916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Sales data object representing customers, sales, or purchases.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339082" y="2642846"/>
            <a:ext cx="4517772" cy="1392897"/>
          </a:xfrm>
          <a:custGeom>
            <a:rect b="b" l="l" r="r" t="t"/>
            <a:pathLst>
              <a:path extrusionOk="0" h="1392897" w="4517772">
                <a:moveTo>
                  <a:pt x="99731" y="0"/>
                </a:moveTo>
                <a:lnTo>
                  <a:pt x="4418040" y="0"/>
                </a:lnTo>
                <a:cubicBezTo>
                  <a:pt x="4473121" y="0"/>
                  <a:pt x="4517772" y="44651"/>
                  <a:pt x="4517772" y="99731"/>
                </a:cubicBezTo>
                <a:lnTo>
                  <a:pt x="4517772" y="1293165"/>
                </a:lnTo>
                <a:cubicBezTo>
                  <a:pt x="4517772" y="1348245"/>
                  <a:pt x="4473121" y="1392897"/>
                  <a:pt x="4418040" y="1392897"/>
                </a:cubicBezTo>
                <a:lnTo>
                  <a:pt x="99731" y="1392897"/>
                </a:lnTo>
                <a:cubicBezTo>
                  <a:pt x="44651" y="1392897"/>
                  <a:pt x="0" y="1348245"/>
                  <a:pt x="0" y="1293165"/>
                </a:cubicBezTo>
                <a:lnTo>
                  <a:pt x="0" y="99731"/>
                </a:lnTo>
                <a:cubicBezTo>
                  <a:pt x="0" y="44688"/>
                  <a:pt x="44688" y="0"/>
                  <a:pt x="99731" y="0"/>
                </a:cubicBezTo>
                <a:close/>
              </a:path>
            </a:pathLst>
          </a:custGeom>
          <a:gradFill>
            <a:gsLst>
              <a:gs pos="0">
                <a:srgbClr val="F6AD55">
                  <a:alpha val="20000"/>
                </a:srgbClr>
              </a:gs>
              <a:gs pos="100000">
                <a:srgbClr val="2D3748"/>
              </a:gs>
            </a:gsLst>
            <a:lin ang="2700000" scaled="0"/>
          </a:gradFill>
          <a:ln cap="flat" cmpd="sng" w="203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478704" y="2782469"/>
            <a:ext cx="332434" cy="332434"/>
          </a:xfrm>
          <a:custGeom>
            <a:rect b="b" l="l" r="r" t="t"/>
            <a:pathLst>
              <a:path extrusionOk="0" h="332434" w="332434">
                <a:moveTo>
                  <a:pt x="66487" y="0"/>
                </a:moveTo>
                <a:lnTo>
                  <a:pt x="265947" y="0"/>
                </a:lnTo>
                <a:cubicBezTo>
                  <a:pt x="302642" y="0"/>
                  <a:pt x="332434" y="29792"/>
                  <a:pt x="332434" y="66487"/>
                </a:cubicBezTo>
                <a:lnTo>
                  <a:pt x="332434" y="265947"/>
                </a:lnTo>
                <a:cubicBezTo>
                  <a:pt x="332434" y="302642"/>
                  <a:pt x="302642" y="332434"/>
                  <a:pt x="265947" y="332434"/>
                </a:cubicBezTo>
                <a:lnTo>
                  <a:pt x="66487" y="332434"/>
                </a:lnTo>
                <a:cubicBezTo>
                  <a:pt x="29792" y="332434"/>
                  <a:pt x="0" y="302642"/>
                  <a:pt x="0" y="265947"/>
                </a:cubicBezTo>
                <a:lnTo>
                  <a:pt x="0" y="66487"/>
                </a:lnTo>
                <a:cubicBezTo>
                  <a:pt x="0" y="29792"/>
                  <a:pt x="29792" y="0"/>
                  <a:pt x="66487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561813" y="2865578"/>
            <a:ext cx="166217" cy="166217"/>
          </a:xfrm>
          <a:custGeom>
            <a:rect b="b" l="l" r="r" t="t"/>
            <a:pathLst>
              <a:path extrusionOk="0" h="166217" w="166217">
                <a:moveTo>
                  <a:pt x="10551" y="31166"/>
                </a:moveTo>
                <a:lnTo>
                  <a:pt x="10551" y="79700"/>
                </a:lnTo>
                <a:cubicBezTo>
                  <a:pt x="10551" y="85219"/>
                  <a:pt x="12726" y="90510"/>
                  <a:pt x="16622" y="94406"/>
                </a:cubicBezTo>
                <a:lnTo>
                  <a:pt x="78953" y="156737"/>
                </a:lnTo>
                <a:cubicBezTo>
                  <a:pt x="87069" y="164853"/>
                  <a:pt x="100217" y="164853"/>
                  <a:pt x="108333" y="156737"/>
                </a:cubicBezTo>
                <a:lnTo>
                  <a:pt x="156867" y="108203"/>
                </a:lnTo>
                <a:cubicBezTo>
                  <a:pt x="164983" y="100087"/>
                  <a:pt x="164983" y="86939"/>
                  <a:pt x="156867" y="78823"/>
                </a:cubicBezTo>
                <a:lnTo>
                  <a:pt x="94536" y="16492"/>
                </a:lnTo>
                <a:cubicBezTo>
                  <a:pt x="90640" y="12564"/>
                  <a:pt x="85381" y="10389"/>
                  <a:pt x="79862" y="10389"/>
                </a:cubicBezTo>
                <a:lnTo>
                  <a:pt x="31328" y="10389"/>
                </a:lnTo>
                <a:cubicBezTo>
                  <a:pt x="19868" y="10389"/>
                  <a:pt x="10551" y="19706"/>
                  <a:pt x="10551" y="31166"/>
                </a:cubicBezTo>
                <a:close/>
                <a:moveTo>
                  <a:pt x="46911" y="36360"/>
                </a:moveTo>
                <a:cubicBezTo>
                  <a:pt x="52644" y="36360"/>
                  <a:pt x="57299" y="41015"/>
                  <a:pt x="57299" y="46748"/>
                </a:cubicBezTo>
                <a:cubicBezTo>
                  <a:pt x="57299" y="52482"/>
                  <a:pt x="52644" y="57137"/>
                  <a:pt x="46911" y="57137"/>
                </a:cubicBezTo>
                <a:cubicBezTo>
                  <a:pt x="41177" y="57137"/>
                  <a:pt x="36522" y="52482"/>
                  <a:pt x="36522" y="46748"/>
                </a:cubicBezTo>
                <a:cubicBezTo>
                  <a:pt x="36522" y="41015"/>
                  <a:pt x="41177" y="36360"/>
                  <a:pt x="46911" y="3636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910868" y="2815712"/>
            <a:ext cx="739665" cy="232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9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Attribute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478704" y="3214633"/>
            <a:ext cx="4305014" cy="2160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7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data field representing characteristics or features of a data object.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478704" y="3530445"/>
            <a:ext cx="4238528" cy="365677"/>
          </a:xfrm>
          <a:custGeom>
            <a:rect b="b" l="l" r="r" t="t"/>
            <a:pathLst>
              <a:path extrusionOk="0" h="365677" w="4238528">
                <a:moveTo>
                  <a:pt x="66487" y="0"/>
                </a:moveTo>
                <a:lnTo>
                  <a:pt x="4172040" y="0"/>
                </a:lnTo>
                <a:cubicBezTo>
                  <a:pt x="4208760" y="0"/>
                  <a:pt x="4238528" y="29767"/>
                  <a:pt x="4238528" y="66487"/>
                </a:cubicBezTo>
                <a:lnTo>
                  <a:pt x="4238528" y="299190"/>
                </a:lnTo>
                <a:cubicBezTo>
                  <a:pt x="4238528" y="335909"/>
                  <a:pt x="4208760" y="365677"/>
                  <a:pt x="4172040" y="365677"/>
                </a:cubicBezTo>
                <a:lnTo>
                  <a:pt x="66487" y="365677"/>
                </a:lnTo>
                <a:cubicBezTo>
                  <a:pt x="29792" y="365677"/>
                  <a:pt x="0" y="335885"/>
                  <a:pt x="0" y="299190"/>
                </a:cubicBezTo>
                <a:lnTo>
                  <a:pt x="0" y="66487"/>
                </a:lnTo>
                <a:cubicBezTo>
                  <a:pt x="0" y="29792"/>
                  <a:pt x="29792" y="0"/>
                  <a:pt x="66487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578434" y="3630175"/>
            <a:ext cx="4097243" cy="166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6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Example:</a:t>
            </a:r>
            <a:r>
              <a:rPr lang="en-US" sz="916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Customer ID, address form an attribute vector.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5011955" y="1097031"/>
            <a:ext cx="6848131" cy="2110953"/>
          </a:xfrm>
          <a:custGeom>
            <a:rect b="b" l="l" r="r" t="t"/>
            <a:pathLst>
              <a:path extrusionOk="0" h="2110953" w="6848131">
                <a:moveTo>
                  <a:pt x="33243" y="0"/>
                </a:moveTo>
                <a:lnTo>
                  <a:pt x="6748409" y="0"/>
                </a:lnTo>
                <a:cubicBezTo>
                  <a:pt x="6803484" y="0"/>
                  <a:pt x="6848131" y="44647"/>
                  <a:pt x="6848131" y="99721"/>
                </a:cubicBezTo>
                <a:lnTo>
                  <a:pt x="6848131" y="2011232"/>
                </a:lnTo>
                <a:cubicBezTo>
                  <a:pt x="6848131" y="2066306"/>
                  <a:pt x="6803484" y="2110953"/>
                  <a:pt x="6748409" y="2110953"/>
                </a:cubicBezTo>
                <a:lnTo>
                  <a:pt x="33243" y="2110953"/>
                </a:lnTo>
                <a:cubicBezTo>
                  <a:pt x="14884" y="2110953"/>
                  <a:pt x="0" y="2096069"/>
                  <a:pt x="0" y="2077710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011955" y="1097031"/>
            <a:ext cx="33243" cy="2110953"/>
          </a:xfrm>
          <a:custGeom>
            <a:rect b="b" l="l" r="r" t="t"/>
            <a:pathLst>
              <a:path extrusionOk="0" h="2110953" w="33243">
                <a:moveTo>
                  <a:pt x="33243" y="0"/>
                </a:moveTo>
                <a:lnTo>
                  <a:pt x="33243" y="0"/>
                </a:lnTo>
                <a:lnTo>
                  <a:pt x="33243" y="2110953"/>
                </a:lnTo>
                <a:lnTo>
                  <a:pt x="33243" y="2110953"/>
                </a:lnTo>
                <a:cubicBezTo>
                  <a:pt x="14884" y="2110953"/>
                  <a:pt x="0" y="2096069"/>
                  <a:pt x="0" y="2077710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5161550" y="1230004"/>
            <a:ext cx="332434" cy="332434"/>
          </a:xfrm>
          <a:custGeom>
            <a:rect b="b" l="l" r="r" t="t"/>
            <a:pathLst>
              <a:path extrusionOk="0" h="332434" w="332434">
                <a:moveTo>
                  <a:pt x="66487" y="0"/>
                </a:moveTo>
                <a:lnTo>
                  <a:pt x="265947" y="0"/>
                </a:lnTo>
                <a:cubicBezTo>
                  <a:pt x="302642" y="0"/>
                  <a:pt x="332434" y="29792"/>
                  <a:pt x="332434" y="66487"/>
                </a:cubicBezTo>
                <a:lnTo>
                  <a:pt x="332434" y="265947"/>
                </a:lnTo>
                <a:cubicBezTo>
                  <a:pt x="332434" y="302642"/>
                  <a:pt x="302642" y="332434"/>
                  <a:pt x="265947" y="332434"/>
                </a:cubicBezTo>
                <a:lnTo>
                  <a:pt x="66487" y="332434"/>
                </a:lnTo>
                <a:cubicBezTo>
                  <a:pt x="29792" y="332434"/>
                  <a:pt x="0" y="302642"/>
                  <a:pt x="0" y="265947"/>
                </a:cubicBezTo>
                <a:lnTo>
                  <a:pt x="0" y="66487"/>
                </a:lnTo>
                <a:cubicBezTo>
                  <a:pt x="0" y="29792"/>
                  <a:pt x="29792" y="0"/>
                  <a:pt x="66487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5244658" y="1313112"/>
            <a:ext cx="166217" cy="166217"/>
          </a:xfrm>
          <a:custGeom>
            <a:rect b="b" l="l" r="r" t="t"/>
            <a:pathLst>
              <a:path extrusionOk="0" h="166217" w="166217">
                <a:moveTo>
                  <a:pt x="166217" y="83108"/>
                </a:moveTo>
                <a:cubicBezTo>
                  <a:pt x="166217" y="83401"/>
                  <a:pt x="166217" y="83693"/>
                  <a:pt x="166217" y="83985"/>
                </a:cubicBezTo>
                <a:cubicBezTo>
                  <a:pt x="166087" y="95834"/>
                  <a:pt x="155309" y="103885"/>
                  <a:pt x="143459" y="103885"/>
                </a:cubicBezTo>
                <a:lnTo>
                  <a:pt x="111677" y="103885"/>
                </a:lnTo>
                <a:cubicBezTo>
                  <a:pt x="103074" y="103885"/>
                  <a:pt x="96094" y="110865"/>
                  <a:pt x="96094" y="119468"/>
                </a:cubicBezTo>
                <a:cubicBezTo>
                  <a:pt x="96094" y="120572"/>
                  <a:pt x="96224" y="121643"/>
                  <a:pt x="96419" y="122682"/>
                </a:cubicBezTo>
                <a:cubicBezTo>
                  <a:pt x="97100" y="125994"/>
                  <a:pt x="98529" y="129175"/>
                  <a:pt x="99925" y="132389"/>
                </a:cubicBezTo>
                <a:cubicBezTo>
                  <a:pt x="101905" y="136869"/>
                  <a:pt x="103853" y="141317"/>
                  <a:pt x="103853" y="146024"/>
                </a:cubicBezTo>
                <a:cubicBezTo>
                  <a:pt x="103853" y="156348"/>
                  <a:pt x="96841" y="165730"/>
                  <a:pt x="86517" y="166152"/>
                </a:cubicBezTo>
                <a:cubicBezTo>
                  <a:pt x="85381" y="166184"/>
                  <a:pt x="84245" y="166217"/>
                  <a:pt x="83076" y="166217"/>
                </a:cubicBezTo>
                <a:cubicBezTo>
                  <a:pt x="37172" y="166217"/>
                  <a:pt x="-32" y="129013"/>
                  <a:pt x="-32" y="83108"/>
                </a:cubicBezTo>
                <a:cubicBezTo>
                  <a:pt x="-32" y="37204"/>
                  <a:pt x="37204" y="0"/>
                  <a:pt x="83108" y="0"/>
                </a:cubicBezTo>
                <a:cubicBezTo>
                  <a:pt x="129013" y="0"/>
                  <a:pt x="166217" y="37204"/>
                  <a:pt x="166217" y="83108"/>
                </a:cubicBezTo>
                <a:close/>
                <a:moveTo>
                  <a:pt x="41554" y="93497"/>
                </a:moveTo>
                <a:cubicBezTo>
                  <a:pt x="41554" y="87763"/>
                  <a:pt x="36899" y="83108"/>
                  <a:pt x="31166" y="83108"/>
                </a:cubicBezTo>
                <a:cubicBezTo>
                  <a:pt x="25432" y="83108"/>
                  <a:pt x="20777" y="87763"/>
                  <a:pt x="20777" y="93497"/>
                </a:cubicBezTo>
                <a:cubicBezTo>
                  <a:pt x="20777" y="99231"/>
                  <a:pt x="25432" y="103885"/>
                  <a:pt x="31166" y="103885"/>
                </a:cubicBezTo>
                <a:cubicBezTo>
                  <a:pt x="36899" y="103885"/>
                  <a:pt x="41554" y="99231"/>
                  <a:pt x="41554" y="93497"/>
                </a:cubicBezTo>
                <a:close/>
                <a:moveTo>
                  <a:pt x="41554" y="62331"/>
                </a:moveTo>
                <a:cubicBezTo>
                  <a:pt x="47288" y="62331"/>
                  <a:pt x="51943" y="57676"/>
                  <a:pt x="51943" y="51943"/>
                </a:cubicBezTo>
                <a:cubicBezTo>
                  <a:pt x="51943" y="46209"/>
                  <a:pt x="47288" y="41554"/>
                  <a:pt x="41554" y="41554"/>
                </a:cubicBezTo>
                <a:cubicBezTo>
                  <a:pt x="35821" y="41554"/>
                  <a:pt x="31166" y="46209"/>
                  <a:pt x="31166" y="51943"/>
                </a:cubicBezTo>
                <a:cubicBezTo>
                  <a:pt x="31166" y="57676"/>
                  <a:pt x="35821" y="62331"/>
                  <a:pt x="41554" y="62331"/>
                </a:cubicBezTo>
                <a:close/>
                <a:moveTo>
                  <a:pt x="93497" y="31166"/>
                </a:moveTo>
                <a:cubicBezTo>
                  <a:pt x="93497" y="25432"/>
                  <a:pt x="88842" y="20777"/>
                  <a:pt x="83108" y="20777"/>
                </a:cubicBezTo>
                <a:cubicBezTo>
                  <a:pt x="77375" y="20777"/>
                  <a:pt x="72720" y="25432"/>
                  <a:pt x="72720" y="31166"/>
                </a:cubicBezTo>
                <a:cubicBezTo>
                  <a:pt x="72720" y="36899"/>
                  <a:pt x="77375" y="41554"/>
                  <a:pt x="83108" y="41554"/>
                </a:cubicBezTo>
                <a:cubicBezTo>
                  <a:pt x="88842" y="41554"/>
                  <a:pt x="93497" y="36899"/>
                  <a:pt x="93497" y="31166"/>
                </a:cubicBezTo>
                <a:close/>
                <a:moveTo>
                  <a:pt x="124663" y="62331"/>
                </a:moveTo>
                <a:cubicBezTo>
                  <a:pt x="130396" y="62331"/>
                  <a:pt x="135051" y="57676"/>
                  <a:pt x="135051" y="51943"/>
                </a:cubicBezTo>
                <a:cubicBezTo>
                  <a:pt x="135051" y="46209"/>
                  <a:pt x="130396" y="41554"/>
                  <a:pt x="124663" y="41554"/>
                </a:cubicBezTo>
                <a:cubicBezTo>
                  <a:pt x="118929" y="41554"/>
                  <a:pt x="114274" y="46209"/>
                  <a:pt x="114274" y="51943"/>
                </a:cubicBezTo>
                <a:cubicBezTo>
                  <a:pt x="114274" y="57676"/>
                  <a:pt x="118929" y="62331"/>
                  <a:pt x="124663" y="62331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5593714" y="1263247"/>
            <a:ext cx="1961358" cy="265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1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Qualitative Attributes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161550" y="1662168"/>
            <a:ext cx="2119264" cy="1412843"/>
          </a:xfrm>
          <a:custGeom>
            <a:rect b="b" l="l" r="r" t="t"/>
            <a:pathLst>
              <a:path extrusionOk="0" h="1412843" w="2119264">
                <a:moveTo>
                  <a:pt x="66488" y="0"/>
                </a:moveTo>
                <a:lnTo>
                  <a:pt x="2052775" y="0"/>
                </a:lnTo>
                <a:cubicBezTo>
                  <a:pt x="2089496" y="0"/>
                  <a:pt x="2119264" y="29768"/>
                  <a:pt x="2119264" y="66488"/>
                </a:cubicBezTo>
                <a:lnTo>
                  <a:pt x="2119264" y="1346354"/>
                </a:lnTo>
                <a:cubicBezTo>
                  <a:pt x="2119264" y="1383075"/>
                  <a:pt x="2089496" y="1412843"/>
                  <a:pt x="2052775" y="1412843"/>
                </a:cubicBezTo>
                <a:lnTo>
                  <a:pt x="66488" y="1412843"/>
                </a:lnTo>
                <a:cubicBezTo>
                  <a:pt x="29768" y="1412843"/>
                  <a:pt x="0" y="1383075"/>
                  <a:pt x="0" y="1346354"/>
                </a:cubicBezTo>
                <a:lnTo>
                  <a:pt x="0" y="66488"/>
                </a:lnTo>
                <a:cubicBezTo>
                  <a:pt x="0" y="29792"/>
                  <a:pt x="29792" y="0"/>
                  <a:pt x="66488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5261280" y="1761898"/>
            <a:ext cx="1986290" cy="199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7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Nominal (N)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5261280" y="2027845"/>
            <a:ext cx="1977980" cy="324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Names/symbols representing categories. </a:t>
            </a:r>
            <a:r>
              <a:rPr b="1"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order</a:t>
            </a:r>
            <a:r>
              <a:rPr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5261280" y="2414299"/>
            <a:ext cx="1919804" cy="199460"/>
          </a:xfrm>
          <a:custGeom>
            <a:rect b="b" l="l" r="r" t="t"/>
            <a:pathLst>
              <a:path extrusionOk="0" h="199460" w="1919804">
                <a:moveTo>
                  <a:pt x="33244" y="0"/>
                </a:moveTo>
                <a:lnTo>
                  <a:pt x="1886560" y="0"/>
                </a:lnTo>
                <a:cubicBezTo>
                  <a:pt x="1904920" y="0"/>
                  <a:pt x="1919804" y="14884"/>
                  <a:pt x="1919804" y="33244"/>
                </a:cubicBezTo>
                <a:lnTo>
                  <a:pt x="1919804" y="166216"/>
                </a:lnTo>
                <a:cubicBezTo>
                  <a:pt x="1919804" y="184576"/>
                  <a:pt x="1904920" y="199460"/>
                  <a:pt x="1886560" y="199460"/>
                </a:cubicBezTo>
                <a:lnTo>
                  <a:pt x="33244" y="199460"/>
                </a:lnTo>
                <a:cubicBezTo>
                  <a:pt x="14884" y="199460"/>
                  <a:pt x="0" y="184576"/>
                  <a:pt x="0" y="166216"/>
                </a:cubicBezTo>
                <a:lnTo>
                  <a:pt x="0" y="33244"/>
                </a:lnTo>
                <a:cubicBezTo>
                  <a:pt x="0" y="14896"/>
                  <a:pt x="14896" y="0"/>
                  <a:pt x="33244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5261280" y="2414299"/>
            <a:ext cx="1969669" cy="199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25" lIns="66475" spcFirstLastPara="1" rIns="66475" wrap="square" tIns="332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Ex:</a:t>
            </a:r>
            <a:r>
              <a:rPr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Colors, zip codes, gender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7382102" y="1662168"/>
            <a:ext cx="2119264" cy="1412843"/>
          </a:xfrm>
          <a:custGeom>
            <a:rect b="b" l="l" r="r" t="t"/>
            <a:pathLst>
              <a:path extrusionOk="0" h="1412843" w="2119264">
                <a:moveTo>
                  <a:pt x="66488" y="0"/>
                </a:moveTo>
                <a:lnTo>
                  <a:pt x="2052775" y="0"/>
                </a:lnTo>
                <a:cubicBezTo>
                  <a:pt x="2089496" y="0"/>
                  <a:pt x="2119264" y="29768"/>
                  <a:pt x="2119264" y="66488"/>
                </a:cubicBezTo>
                <a:lnTo>
                  <a:pt x="2119264" y="1346354"/>
                </a:lnTo>
                <a:cubicBezTo>
                  <a:pt x="2119264" y="1383075"/>
                  <a:pt x="2089496" y="1412843"/>
                  <a:pt x="2052775" y="1412843"/>
                </a:cubicBezTo>
                <a:lnTo>
                  <a:pt x="66488" y="1412843"/>
                </a:lnTo>
                <a:cubicBezTo>
                  <a:pt x="29768" y="1412843"/>
                  <a:pt x="0" y="1383075"/>
                  <a:pt x="0" y="1346354"/>
                </a:cubicBezTo>
                <a:lnTo>
                  <a:pt x="0" y="66488"/>
                </a:lnTo>
                <a:cubicBezTo>
                  <a:pt x="0" y="29792"/>
                  <a:pt x="29792" y="0"/>
                  <a:pt x="66488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7481832" y="1761898"/>
            <a:ext cx="1986290" cy="199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7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Binary (B)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481832" y="2027845"/>
            <a:ext cx="1977980" cy="324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Only 2 values/states. Can be symmetric or asymmetric.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7481832" y="2414299"/>
            <a:ext cx="1919804" cy="199460"/>
          </a:xfrm>
          <a:custGeom>
            <a:rect b="b" l="l" r="r" t="t"/>
            <a:pathLst>
              <a:path extrusionOk="0" h="199460" w="1919804">
                <a:moveTo>
                  <a:pt x="33244" y="0"/>
                </a:moveTo>
                <a:lnTo>
                  <a:pt x="1886560" y="0"/>
                </a:lnTo>
                <a:cubicBezTo>
                  <a:pt x="1904920" y="0"/>
                  <a:pt x="1919804" y="14884"/>
                  <a:pt x="1919804" y="33244"/>
                </a:cubicBezTo>
                <a:lnTo>
                  <a:pt x="1919804" y="166216"/>
                </a:lnTo>
                <a:cubicBezTo>
                  <a:pt x="1919804" y="184576"/>
                  <a:pt x="1904920" y="199460"/>
                  <a:pt x="1886560" y="199460"/>
                </a:cubicBezTo>
                <a:lnTo>
                  <a:pt x="33244" y="199460"/>
                </a:lnTo>
                <a:cubicBezTo>
                  <a:pt x="14884" y="199460"/>
                  <a:pt x="0" y="184576"/>
                  <a:pt x="0" y="166216"/>
                </a:cubicBezTo>
                <a:lnTo>
                  <a:pt x="0" y="33244"/>
                </a:lnTo>
                <a:cubicBezTo>
                  <a:pt x="0" y="14896"/>
                  <a:pt x="14896" y="0"/>
                  <a:pt x="33244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7481832" y="2414299"/>
            <a:ext cx="1969669" cy="199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25" lIns="66475" spcFirstLastPara="1" rIns="66475" wrap="square" tIns="332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Symmetric:</a:t>
            </a:r>
            <a:r>
              <a:rPr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Gender (equally important)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7481832" y="2646899"/>
            <a:ext cx="1919804" cy="332434"/>
          </a:xfrm>
          <a:custGeom>
            <a:rect b="b" l="l" r="r" t="t"/>
            <a:pathLst>
              <a:path extrusionOk="0" h="332434" w="1919804">
                <a:moveTo>
                  <a:pt x="33243" y="0"/>
                </a:moveTo>
                <a:lnTo>
                  <a:pt x="1886560" y="0"/>
                </a:lnTo>
                <a:cubicBezTo>
                  <a:pt x="1904920" y="0"/>
                  <a:pt x="1919804" y="14884"/>
                  <a:pt x="1919804" y="33243"/>
                </a:cubicBezTo>
                <a:lnTo>
                  <a:pt x="1919804" y="299190"/>
                </a:lnTo>
                <a:cubicBezTo>
                  <a:pt x="1919804" y="317550"/>
                  <a:pt x="1904920" y="332434"/>
                  <a:pt x="1886560" y="332434"/>
                </a:cubicBezTo>
                <a:lnTo>
                  <a:pt x="33243" y="332434"/>
                </a:lnTo>
                <a:cubicBezTo>
                  <a:pt x="14884" y="332434"/>
                  <a:pt x="0" y="317550"/>
                  <a:pt x="0" y="299190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"/>
          <p:cNvSpPr/>
          <p:nvPr/>
        </p:nvSpPr>
        <p:spPr>
          <a:xfrm>
            <a:off x="7481832" y="2646899"/>
            <a:ext cx="1969669" cy="33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25" lIns="66475" spcFirstLastPara="1" rIns="66475" wrap="square" tIns="332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Asymmetric:</a:t>
            </a:r>
            <a:r>
              <a:rPr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Test result (values not equal)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9602759" y="1662168"/>
            <a:ext cx="2119264" cy="1412843"/>
          </a:xfrm>
          <a:custGeom>
            <a:rect b="b" l="l" r="r" t="t"/>
            <a:pathLst>
              <a:path extrusionOk="0" h="1412843" w="2119264">
                <a:moveTo>
                  <a:pt x="66488" y="0"/>
                </a:moveTo>
                <a:lnTo>
                  <a:pt x="2052775" y="0"/>
                </a:lnTo>
                <a:cubicBezTo>
                  <a:pt x="2089496" y="0"/>
                  <a:pt x="2119264" y="29768"/>
                  <a:pt x="2119264" y="66488"/>
                </a:cubicBezTo>
                <a:lnTo>
                  <a:pt x="2119264" y="1346354"/>
                </a:lnTo>
                <a:cubicBezTo>
                  <a:pt x="2119264" y="1383075"/>
                  <a:pt x="2089496" y="1412843"/>
                  <a:pt x="2052775" y="1412843"/>
                </a:cubicBezTo>
                <a:lnTo>
                  <a:pt x="66488" y="1412843"/>
                </a:lnTo>
                <a:cubicBezTo>
                  <a:pt x="29768" y="1412843"/>
                  <a:pt x="0" y="1383075"/>
                  <a:pt x="0" y="1346354"/>
                </a:cubicBezTo>
                <a:lnTo>
                  <a:pt x="0" y="66488"/>
                </a:lnTo>
                <a:cubicBezTo>
                  <a:pt x="0" y="29792"/>
                  <a:pt x="29792" y="0"/>
                  <a:pt x="66488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9702489" y="1761898"/>
            <a:ext cx="1986290" cy="199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7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Ordinal (O)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9702489" y="2027845"/>
            <a:ext cx="1977980" cy="324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Meaningful sequence/ranking. Magnitude between values unknown.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9702489" y="2414299"/>
            <a:ext cx="1919804" cy="332434"/>
          </a:xfrm>
          <a:custGeom>
            <a:rect b="b" l="l" r="r" t="t"/>
            <a:pathLst>
              <a:path extrusionOk="0" h="332434" w="1919804">
                <a:moveTo>
                  <a:pt x="33243" y="0"/>
                </a:moveTo>
                <a:lnTo>
                  <a:pt x="1886560" y="0"/>
                </a:lnTo>
                <a:cubicBezTo>
                  <a:pt x="1904920" y="0"/>
                  <a:pt x="1919804" y="14884"/>
                  <a:pt x="1919804" y="33243"/>
                </a:cubicBezTo>
                <a:lnTo>
                  <a:pt x="1919804" y="299190"/>
                </a:lnTo>
                <a:cubicBezTo>
                  <a:pt x="1919804" y="317550"/>
                  <a:pt x="1904920" y="332434"/>
                  <a:pt x="1886560" y="332434"/>
                </a:cubicBezTo>
                <a:lnTo>
                  <a:pt x="33243" y="332434"/>
                </a:lnTo>
                <a:cubicBezTo>
                  <a:pt x="14884" y="332434"/>
                  <a:pt x="0" y="317550"/>
                  <a:pt x="0" y="299190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9702489" y="2414299"/>
            <a:ext cx="1969669" cy="33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25" lIns="66475" spcFirstLastPara="1" rIns="66475" wrap="square" tIns="332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Ex:</a:t>
            </a:r>
            <a:r>
              <a:rPr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Education levels (high school, bachelors, masters)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011955" y="3344802"/>
            <a:ext cx="6848131" cy="1745276"/>
          </a:xfrm>
          <a:custGeom>
            <a:rect b="b" l="l" r="r" t="t"/>
            <a:pathLst>
              <a:path extrusionOk="0" h="1745276" w="6848131">
                <a:moveTo>
                  <a:pt x="33243" y="0"/>
                </a:moveTo>
                <a:lnTo>
                  <a:pt x="6748406" y="0"/>
                </a:lnTo>
                <a:cubicBezTo>
                  <a:pt x="6803482" y="0"/>
                  <a:pt x="6848131" y="44648"/>
                  <a:pt x="6848131" y="99725"/>
                </a:cubicBezTo>
                <a:lnTo>
                  <a:pt x="6848131" y="1645551"/>
                </a:lnTo>
                <a:cubicBezTo>
                  <a:pt x="6848131" y="1700628"/>
                  <a:pt x="6803482" y="1745276"/>
                  <a:pt x="6748406" y="1745276"/>
                </a:cubicBezTo>
                <a:lnTo>
                  <a:pt x="33243" y="1745276"/>
                </a:lnTo>
                <a:cubicBezTo>
                  <a:pt x="14884" y="1745276"/>
                  <a:pt x="0" y="1730393"/>
                  <a:pt x="0" y="1712033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5011955" y="3344802"/>
            <a:ext cx="33243" cy="1745276"/>
          </a:xfrm>
          <a:custGeom>
            <a:rect b="b" l="l" r="r" t="t"/>
            <a:pathLst>
              <a:path extrusionOk="0" h="1745276" w="33243">
                <a:moveTo>
                  <a:pt x="33243" y="0"/>
                </a:moveTo>
                <a:lnTo>
                  <a:pt x="33243" y="0"/>
                </a:lnTo>
                <a:lnTo>
                  <a:pt x="33243" y="1745276"/>
                </a:lnTo>
                <a:lnTo>
                  <a:pt x="33243" y="1745276"/>
                </a:lnTo>
                <a:cubicBezTo>
                  <a:pt x="14884" y="1745276"/>
                  <a:pt x="0" y="1730393"/>
                  <a:pt x="0" y="1712033"/>
                </a:cubicBezTo>
                <a:lnTo>
                  <a:pt x="0" y="33243"/>
                </a:lnTo>
                <a:cubicBezTo>
                  <a:pt x="0" y="14896"/>
                  <a:pt x="14896" y="0"/>
                  <a:pt x="33243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5161550" y="3477775"/>
            <a:ext cx="332434" cy="332434"/>
          </a:xfrm>
          <a:custGeom>
            <a:rect b="b" l="l" r="r" t="t"/>
            <a:pathLst>
              <a:path extrusionOk="0" h="332434" w="332434">
                <a:moveTo>
                  <a:pt x="66487" y="0"/>
                </a:moveTo>
                <a:lnTo>
                  <a:pt x="265947" y="0"/>
                </a:lnTo>
                <a:cubicBezTo>
                  <a:pt x="302642" y="0"/>
                  <a:pt x="332434" y="29792"/>
                  <a:pt x="332434" y="66487"/>
                </a:cubicBezTo>
                <a:lnTo>
                  <a:pt x="332434" y="265947"/>
                </a:lnTo>
                <a:cubicBezTo>
                  <a:pt x="332434" y="302642"/>
                  <a:pt x="302642" y="332434"/>
                  <a:pt x="265947" y="332434"/>
                </a:cubicBezTo>
                <a:lnTo>
                  <a:pt x="66487" y="332434"/>
                </a:lnTo>
                <a:cubicBezTo>
                  <a:pt x="29792" y="332434"/>
                  <a:pt x="0" y="302642"/>
                  <a:pt x="0" y="265947"/>
                </a:cubicBezTo>
                <a:lnTo>
                  <a:pt x="0" y="66487"/>
                </a:lnTo>
                <a:cubicBezTo>
                  <a:pt x="0" y="29792"/>
                  <a:pt x="29792" y="0"/>
                  <a:pt x="66487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5265436" y="3560884"/>
            <a:ext cx="124663" cy="166217"/>
          </a:xfrm>
          <a:custGeom>
            <a:rect b="b" l="l" r="r" t="t"/>
            <a:pathLst>
              <a:path extrusionOk="0" h="166217" w="124663">
                <a:moveTo>
                  <a:pt x="20777" y="0"/>
                </a:moveTo>
                <a:cubicBezTo>
                  <a:pt x="9317" y="0"/>
                  <a:pt x="0" y="9317"/>
                  <a:pt x="0" y="20777"/>
                </a:cubicBezTo>
                <a:lnTo>
                  <a:pt x="0" y="145440"/>
                </a:lnTo>
                <a:cubicBezTo>
                  <a:pt x="0" y="156900"/>
                  <a:pt x="9317" y="166217"/>
                  <a:pt x="20777" y="166217"/>
                </a:cubicBezTo>
                <a:lnTo>
                  <a:pt x="103885" y="166217"/>
                </a:lnTo>
                <a:cubicBezTo>
                  <a:pt x="115345" y="166217"/>
                  <a:pt x="124663" y="156900"/>
                  <a:pt x="124663" y="145440"/>
                </a:cubicBezTo>
                <a:lnTo>
                  <a:pt x="124663" y="20777"/>
                </a:lnTo>
                <a:cubicBezTo>
                  <a:pt x="124663" y="9317"/>
                  <a:pt x="115345" y="0"/>
                  <a:pt x="103885" y="0"/>
                </a:cubicBezTo>
                <a:lnTo>
                  <a:pt x="20777" y="0"/>
                </a:lnTo>
                <a:close/>
                <a:moveTo>
                  <a:pt x="31166" y="20777"/>
                </a:moveTo>
                <a:lnTo>
                  <a:pt x="93497" y="20777"/>
                </a:lnTo>
                <a:cubicBezTo>
                  <a:pt x="99243" y="20777"/>
                  <a:pt x="103885" y="25419"/>
                  <a:pt x="103885" y="31166"/>
                </a:cubicBezTo>
                <a:lnTo>
                  <a:pt x="103885" y="41554"/>
                </a:lnTo>
                <a:cubicBezTo>
                  <a:pt x="103885" y="47300"/>
                  <a:pt x="99243" y="51943"/>
                  <a:pt x="93497" y="51943"/>
                </a:cubicBezTo>
                <a:lnTo>
                  <a:pt x="31166" y="51943"/>
                </a:lnTo>
                <a:cubicBezTo>
                  <a:pt x="25419" y="51943"/>
                  <a:pt x="20777" y="47300"/>
                  <a:pt x="20777" y="41554"/>
                </a:cubicBezTo>
                <a:lnTo>
                  <a:pt x="20777" y="31166"/>
                </a:lnTo>
                <a:cubicBezTo>
                  <a:pt x="20777" y="25419"/>
                  <a:pt x="25419" y="20777"/>
                  <a:pt x="31166" y="20777"/>
                </a:cubicBezTo>
                <a:close/>
                <a:moveTo>
                  <a:pt x="36360" y="75317"/>
                </a:moveTo>
                <a:cubicBezTo>
                  <a:pt x="36360" y="79617"/>
                  <a:pt x="32869" y="83108"/>
                  <a:pt x="28569" y="83108"/>
                </a:cubicBezTo>
                <a:cubicBezTo>
                  <a:pt x="24268" y="83108"/>
                  <a:pt x="20777" y="79617"/>
                  <a:pt x="20777" y="75317"/>
                </a:cubicBezTo>
                <a:cubicBezTo>
                  <a:pt x="20777" y="71017"/>
                  <a:pt x="24268" y="67526"/>
                  <a:pt x="28569" y="67526"/>
                </a:cubicBezTo>
                <a:cubicBezTo>
                  <a:pt x="32869" y="67526"/>
                  <a:pt x="36360" y="71017"/>
                  <a:pt x="36360" y="75317"/>
                </a:cubicBezTo>
                <a:close/>
                <a:moveTo>
                  <a:pt x="62331" y="83108"/>
                </a:moveTo>
                <a:cubicBezTo>
                  <a:pt x="58031" y="83108"/>
                  <a:pt x="54540" y="79617"/>
                  <a:pt x="54540" y="75317"/>
                </a:cubicBezTo>
                <a:cubicBezTo>
                  <a:pt x="54540" y="71017"/>
                  <a:pt x="58031" y="67526"/>
                  <a:pt x="62331" y="67526"/>
                </a:cubicBezTo>
                <a:cubicBezTo>
                  <a:pt x="66631" y="67526"/>
                  <a:pt x="70123" y="71017"/>
                  <a:pt x="70123" y="75317"/>
                </a:cubicBezTo>
                <a:cubicBezTo>
                  <a:pt x="70123" y="79617"/>
                  <a:pt x="66631" y="83108"/>
                  <a:pt x="62331" y="83108"/>
                </a:cubicBezTo>
                <a:close/>
                <a:moveTo>
                  <a:pt x="103885" y="75317"/>
                </a:moveTo>
                <a:cubicBezTo>
                  <a:pt x="103885" y="79617"/>
                  <a:pt x="100394" y="83108"/>
                  <a:pt x="96094" y="83108"/>
                </a:cubicBezTo>
                <a:cubicBezTo>
                  <a:pt x="91794" y="83108"/>
                  <a:pt x="88303" y="79617"/>
                  <a:pt x="88303" y="75317"/>
                </a:cubicBezTo>
                <a:cubicBezTo>
                  <a:pt x="88303" y="71017"/>
                  <a:pt x="91794" y="67526"/>
                  <a:pt x="96094" y="67526"/>
                </a:cubicBezTo>
                <a:cubicBezTo>
                  <a:pt x="100394" y="67526"/>
                  <a:pt x="103885" y="71017"/>
                  <a:pt x="103885" y="75317"/>
                </a:cubicBezTo>
                <a:close/>
                <a:moveTo>
                  <a:pt x="28569" y="114274"/>
                </a:moveTo>
                <a:cubicBezTo>
                  <a:pt x="24268" y="114274"/>
                  <a:pt x="20777" y="110783"/>
                  <a:pt x="20777" y="106483"/>
                </a:cubicBezTo>
                <a:cubicBezTo>
                  <a:pt x="20777" y="102182"/>
                  <a:pt x="24268" y="98691"/>
                  <a:pt x="28569" y="98691"/>
                </a:cubicBezTo>
                <a:cubicBezTo>
                  <a:pt x="32869" y="98691"/>
                  <a:pt x="36360" y="102182"/>
                  <a:pt x="36360" y="106483"/>
                </a:cubicBezTo>
                <a:cubicBezTo>
                  <a:pt x="36360" y="110783"/>
                  <a:pt x="32869" y="114274"/>
                  <a:pt x="28569" y="114274"/>
                </a:cubicBezTo>
                <a:close/>
                <a:moveTo>
                  <a:pt x="70123" y="106483"/>
                </a:moveTo>
                <a:cubicBezTo>
                  <a:pt x="70123" y="110783"/>
                  <a:pt x="66631" y="114274"/>
                  <a:pt x="62331" y="114274"/>
                </a:cubicBezTo>
                <a:cubicBezTo>
                  <a:pt x="58031" y="114274"/>
                  <a:pt x="54540" y="110783"/>
                  <a:pt x="54540" y="106483"/>
                </a:cubicBezTo>
                <a:cubicBezTo>
                  <a:pt x="54540" y="102182"/>
                  <a:pt x="58031" y="98691"/>
                  <a:pt x="62331" y="98691"/>
                </a:cubicBezTo>
                <a:cubicBezTo>
                  <a:pt x="66631" y="98691"/>
                  <a:pt x="70123" y="102182"/>
                  <a:pt x="70123" y="106483"/>
                </a:cubicBezTo>
                <a:close/>
                <a:moveTo>
                  <a:pt x="96094" y="114274"/>
                </a:moveTo>
                <a:cubicBezTo>
                  <a:pt x="91794" y="114274"/>
                  <a:pt x="88303" y="110783"/>
                  <a:pt x="88303" y="106483"/>
                </a:cubicBezTo>
                <a:cubicBezTo>
                  <a:pt x="88303" y="102182"/>
                  <a:pt x="91794" y="98691"/>
                  <a:pt x="96094" y="98691"/>
                </a:cubicBezTo>
                <a:cubicBezTo>
                  <a:pt x="100394" y="98691"/>
                  <a:pt x="103885" y="102182"/>
                  <a:pt x="103885" y="106483"/>
                </a:cubicBezTo>
                <a:cubicBezTo>
                  <a:pt x="103885" y="110783"/>
                  <a:pt x="100394" y="114274"/>
                  <a:pt x="96094" y="114274"/>
                </a:cubicBezTo>
                <a:close/>
                <a:moveTo>
                  <a:pt x="20777" y="137648"/>
                </a:moveTo>
                <a:cubicBezTo>
                  <a:pt x="20777" y="133331"/>
                  <a:pt x="24251" y="129857"/>
                  <a:pt x="28569" y="129857"/>
                </a:cubicBezTo>
                <a:lnTo>
                  <a:pt x="64928" y="129857"/>
                </a:lnTo>
                <a:cubicBezTo>
                  <a:pt x="69246" y="129857"/>
                  <a:pt x="72720" y="133331"/>
                  <a:pt x="72720" y="137648"/>
                </a:cubicBezTo>
                <a:cubicBezTo>
                  <a:pt x="72720" y="141966"/>
                  <a:pt x="69246" y="145440"/>
                  <a:pt x="64928" y="145440"/>
                </a:cubicBezTo>
                <a:lnTo>
                  <a:pt x="28569" y="145440"/>
                </a:lnTo>
                <a:cubicBezTo>
                  <a:pt x="24251" y="145440"/>
                  <a:pt x="20777" y="141966"/>
                  <a:pt x="20777" y="137648"/>
                </a:cubicBezTo>
                <a:close/>
                <a:moveTo>
                  <a:pt x="96094" y="129857"/>
                </a:moveTo>
                <a:cubicBezTo>
                  <a:pt x="100412" y="129857"/>
                  <a:pt x="103885" y="133331"/>
                  <a:pt x="103885" y="137648"/>
                </a:cubicBezTo>
                <a:cubicBezTo>
                  <a:pt x="103885" y="141966"/>
                  <a:pt x="100412" y="145440"/>
                  <a:pt x="96094" y="145440"/>
                </a:cubicBezTo>
                <a:cubicBezTo>
                  <a:pt x="91776" y="145440"/>
                  <a:pt x="88303" y="141966"/>
                  <a:pt x="88303" y="137648"/>
                </a:cubicBezTo>
                <a:cubicBezTo>
                  <a:pt x="88303" y="133331"/>
                  <a:pt x="91776" y="129857"/>
                  <a:pt x="96094" y="129857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5593714" y="3511019"/>
            <a:ext cx="2094331" cy="265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1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Quantitative Attributes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5161550" y="3909939"/>
            <a:ext cx="3232916" cy="1047166"/>
          </a:xfrm>
          <a:custGeom>
            <a:rect b="b" l="l" r="r" t="t"/>
            <a:pathLst>
              <a:path extrusionOk="0" h="1047166" w="3232916">
                <a:moveTo>
                  <a:pt x="66485" y="0"/>
                </a:moveTo>
                <a:lnTo>
                  <a:pt x="3166432" y="0"/>
                </a:lnTo>
                <a:cubicBezTo>
                  <a:pt x="3203150" y="0"/>
                  <a:pt x="3232916" y="29766"/>
                  <a:pt x="3232916" y="66485"/>
                </a:cubicBezTo>
                <a:lnTo>
                  <a:pt x="3232916" y="980681"/>
                </a:lnTo>
                <a:cubicBezTo>
                  <a:pt x="3232916" y="1017400"/>
                  <a:pt x="3203150" y="1047166"/>
                  <a:pt x="3166432" y="1047166"/>
                </a:cubicBezTo>
                <a:lnTo>
                  <a:pt x="66485" y="1047166"/>
                </a:lnTo>
                <a:cubicBezTo>
                  <a:pt x="29766" y="1047166"/>
                  <a:pt x="0" y="1017399"/>
                  <a:pt x="0" y="980681"/>
                </a:cubicBezTo>
                <a:lnTo>
                  <a:pt x="0" y="66485"/>
                </a:lnTo>
                <a:cubicBezTo>
                  <a:pt x="0" y="29791"/>
                  <a:pt x="29791" y="0"/>
                  <a:pt x="6648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5261280" y="4009669"/>
            <a:ext cx="3099943" cy="199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7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Interval-Scaled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261280" y="4275616"/>
            <a:ext cx="3091632" cy="324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Differences are interpretable, but </a:t>
            </a:r>
            <a:r>
              <a:rPr b="1"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true zero</a:t>
            </a:r>
            <a:r>
              <a:rPr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Can add/subtract but not multiply/divide.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261280" y="4662070"/>
            <a:ext cx="3033456" cy="199460"/>
          </a:xfrm>
          <a:custGeom>
            <a:rect b="b" l="l" r="r" t="t"/>
            <a:pathLst>
              <a:path extrusionOk="0" h="199460" w="3033456">
                <a:moveTo>
                  <a:pt x="33244" y="0"/>
                </a:moveTo>
                <a:lnTo>
                  <a:pt x="3000212" y="0"/>
                </a:lnTo>
                <a:cubicBezTo>
                  <a:pt x="3018572" y="0"/>
                  <a:pt x="3033456" y="14884"/>
                  <a:pt x="3033456" y="33244"/>
                </a:cubicBezTo>
                <a:lnTo>
                  <a:pt x="3033456" y="166216"/>
                </a:lnTo>
                <a:cubicBezTo>
                  <a:pt x="3033456" y="184576"/>
                  <a:pt x="3018572" y="199460"/>
                  <a:pt x="3000212" y="199460"/>
                </a:cubicBezTo>
                <a:lnTo>
                  <a:pt x="33244" y="199460"/>
                </a:lnTo>
                <a:cubicBezTo>
                  <a:pt x="14884" y="199460"/>
                  <a:pt x="0" y="184576"/>
                  <a:pt x="0" y="166216"/>
                </a:cubicBezTo>
                <a:lnTo>
                  <a:pt x="0" y="33244"/>
                </a:lnTo>
                <a:cubicBezTo>
                  <a:pt x="0" y="14896"/>
                  <a:pt x="14896" y="0"/>
                  <a:pt x="33244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5261280" y="4662070"/>
            <a:ext cx="3083321" cy="199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25" lIns="66475" spcFirstLastPara="1" rIns="66475" wrap="square" tIns="332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Ex:</a:t>
            </a:r>
            <a:r>
              <a:rPr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Temperature (°C), calendar dates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8492431" y="3909939"/>
            <a:ext cx="3232916" cy="1047166"/>
          </a:xfrm>
          <a:custGeom>
            <a:rect b="b" l="l" r="r" t="t"/>
            <a:pathLst>
              <a:path extrusionOk="0" h="1047166" w="3232916">
                <a:moveTo>
                  <a:pt x="66485" y="0"/>
                </a:moveTo>
                <a:lnTo>
                  <a:pt x="3166432" y="0"/>
                </a:lnTo>
                <a:cubicBezTo>
                  <a:pt x="3203150" y="0"/>
                  <a:pt x="3232916" y="29766"/>
                  <a:pt x="3232916" y="66485"/>
                </a:cubicBezTo>
                <a:lnTo>
                  <a:pt x="3232916" y="980681"/>
                </a:lnTo>
                <a:cubicBezTo>
                  <a:pt x="3232916" y="1017400"/>
                  <a:pt x="3203150" y="1047166"/>
                  <a:pt x="3166432" y="1047166"/>
                </a:cubicBezTo>
                <a:lnTo>
                  <a:pt x="66485" y="1047166"/>
                </a:lnTo>
                <a:cubicBezTo>
                  <a:pt x="29766" y="1047166"/>
                  <a:pt x="0" y="1017399"/>
                  <a:pt x="0" y="980681"/>
                </a:cubicBezTo>
                <a:lnTo>
                  <a:pt x="0" y="66485"/>
                </a:lnTo>
                <a:cubicBezTo>
                  <a:pt x="0" y="29791"/>
                  <a:pt x="29791" y="0"/>
                  <a:pt x="6648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8592160" y="4009669"/>
            <a:ext cx="3099943" cy="199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7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Ratio-Scaled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8592160" y="4275616"/>
            <a:ext cx="3091632" cy="324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Has a </a:t>
            </a:r>
            <a:r>
              <a:rPr b="1"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 zero point</a:t>
            </a:r>
            <a:r>
              <a:rPr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Can compute ratios, mean, median, mode.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8592160" y="4662070"/>
            <a:ext cx="3033456" cy="199460"/>
          </a:xfrm>
          <a:custGeom>
            <a:rect b="b" l="l" r="r" t="t"/>
            <a:pathLst>
              <a:path extrusionOk="0" h="199460" w="3033456">
                <a:moveTo>
                  <a:pt x="33244" y="0"/>
                </a:moveTo>
                <a:lnTo>
                  <a:pt x="3000212" y="0"/>
                </a:lnTo>
                <a:cubicBezTo>
                  <a:pt x="3018572" y="0"/>
                  <a:pt x="3033456" y="14884"/>
                  <a:pt x="3033456" y="33244"/>
                </a:cubicBezTo>
                <a:lnTo>
                  <a:pt x="3033456" y="166216"/>
                </a:lnTo>
                <a:cubicBezTo>
                  <a:pt x="3033456" y="184576"/>
                  <a:pt x="3018572" y="199460"/>
                  <a:pt x="3000212" y="199460"/>
                </a:cubicBezTo>
                <a:lnTo>
                  <a:pt x="33244" y="199460"/>
                </a:lnTo>
                <a:cubicBezTo>
                  <a:pt x="14884" y="199460"/>
                  <a:pt x="0" y="184576"/>
                  <a:pt x="0" y="166216"/>
                </a:cubicBezTo>
                <a:lnTo>
                  <a:pt x="0" y="33244"/>
                </a:lnTo>
                <a:cubicBezTo>
                  <a:pt x="0" y="14896"/>
                  <a:pt x="14896" y="0"/>
                  <a:pt x="33244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8592160" y="4662070"/>
            <a:ext cx="3083321" cy="199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225" lIns="66475" spcFirstLastPara="1" rIns="66475" wrap="square" tIns="332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Ex:</a:t>
            </a:r>
            <a:r>
              <a:rPr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Weight, height, age, income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4995333" y="5227101"/>
            <a:ext cx="6864753" cy="1163517"/>
          </a:xfrm>
          <a:custGeom>
            <a:rect b="b" l="l" r="r" t="t"/>
            <a:pathLst>
              <a:path extrusionOk="0" h="1163517" w="6864753">
                <a:moveTo>
                  <a:pt x="99725" y="0"/>
                </a:moveTo>
                <a:lnTo>
                  <a:pt x="6765027" y="0"/>
                </a:lnTo>
                <a:cubicBezTo>
                  <a:pt x="6820104" y="0"/>
                  <a:pt x="6864753" y="44648"/>
                  <a:pt x="6864753" y="99725"/>
                </a:cubicBezTo>
                <a:lnTo>
                  <a:pt x="6864753" y="1063792"/>
                </a:lnTo>
                <a:cubicBezTo>
                  <a:pt x="6864753" y="1118869"/>
                  <a:pt x="6820104" y="1163517"/>
                  <a:pt x="6765027" y="1163517"/>
                </a:cubicBezTo>
                <a:lnTo>
                  <a:pt x="99725" y="1163517"/>
                </a:lnTo>
                <a:cubicBezTo>
                  <a:pt x="44648" y="1163517"/>
                  <a:pt x="0" y="1118869"/>
                  <a:pt x="0" y="1063792"/>
                </a:cubicBezTo>
                <a:lnTo>
                  <a:pt x="0" y="99725"/>
                </a:lnTo>
                <a:cubicBezTo>
                  <a:pt x="0" y="44685"/>
                  <a:pt x="44685" y="0"/>
                  <a:pt x="9972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5061820" y="5326831"/>
            <a:ext cx="6731779" cy="199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7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Attribute Type Hierarchy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6512373" y="5775617"/>
            <a:ext cx="831084" cy="332434"/>
          </a:xfrm>
          <a:custGeom>
            <a:rect b="b" l="l" r="r" t="t"/>
            <a:pathLst>
              <a:path extrusionOk="0" h="332434" w="831084">
                <a:moveTo>
                  <a:pt x="66487" y="0"/>
                </a:moveTo>
                <a:lnTo>
                  <a:pt x="764597" y="0"/>
                </a:lnTo>
                <a:cubicBezTo>
                  <a:pt x="801317" y="0"/>
                  <a:pt x="831084" y="29767"/>
                  <a:pt x="831084" y="66487"/>
                </a:cubicBezTo>
                <a:lnTo>
                  <a:pt x="831084" y="265947"/>
                </a:lnTo>
                <a:cubicBezTo>
                  <a:pt x="831084" y="302666"/>
                  <a:pt x="801317" y="332434"/>
                  <a:pt x="764597" y="332434"/>
                </a:cubicBezTo>
                <a:lnTo>
                  <a:pt x="66487" y="332434"/>
                </a:lnTo>
                <a:cubicBezTo>
                  <a:pt x="29792" y="332434"/>
                  <a:pt x="0" y="302642"/>
                  <a:pt x="0" y="265947"/>
                </a:cubicBezTo>
                <a:lnTo>
                  <a:pt x="0" y="66487"/>
                </a:lnTo>
                <a:cubicBezTo>
                  <a:pt x="0" y="29792"/>
                  <a:pt x="29792" y="0"/>
                  <a:pt x="66487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8"/>
          <p:cNvSpPr/>
          <p:nvPr/>
        </p:nvSpPr>
        <p:spPr>
          <a:xfrm>
            <a:off x="6612103" y="5868700"/>
            <a:ext cx="630481" cy="14627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7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Attributes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7442044" y="5808860"/>
            <a:ext cx="299190" cy="265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1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7741235" y="5692508"/>
            <a:ext cx="739665" cy="332434"/>
          </a:xfrm>
          <a:custGeom>
            <a:rect b="b" l="l" r="r" t="t"/>
            <a:pathLst>
              <a:path extrusionOk="0" h="332434" w="739665">
                <a:moveTo>
                  <a:pt x="66487" y="0"/>
                </a:moveTo>
                <a:lnTo>
                  <a:pt x="673178" y="0"/>
                </a:lnTo>
                <a:cubicBezTo>
                  <a:pt x="709898" y="0"/>
                  <a:pt x="739665" y="29767"/>
                  <a:pt x="739665" y="66487"/>
                </a:cubicBezTo>
                <a:lnTo>
                  <a:pt x="739665" y="265947"/>
                </a:lnTo>
                <a:cubicBezTo>
                  <a:pt x="739665" y="302666"/>
                  <a:pt x="709898" y="332434"/>
                  <a:pt x="673178" y="332434"/>
                </a:cubicBezTo>
                <a:lnTo>
                  <a:pt x="66487" y="332434"/>
                </a:lnTo>
                <a:cubicBezTo>
                  <a:pt x="29792" y="332434"/>
                  <a:pt x="0" y="302642"/>
                  <a:pt x="0" y="265947"/>
                </a:cubicBezTo>
                <a:lnTo>
                  <a:pt x="0" y="66487"/>
                </a:lnTo>
                <a:cubicBezTo>
                  <a:pt x="0" y="29792"/>
                  <a:pt x="29792" y="0"/>
                  <a:pt x="66487" y="0"/>
                </a:cubicBezTo>
                <a:close/>
              </a:path>
            </a:pathLst>
          </a:custGeom>
          <a:solidFill>
            <a:srgbClr val="4FD1C5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7811877" y="5798888"/>
            <a:ext cx="599627" cy="132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Qualitative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7716302" y="6058185"/>
            <a:ext cx="789530" cy="132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N, O, 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8548633" y="5692508"/>
            <a:ext cx="814462" cy="332434"/>
          </a:xfrm>
          <a:custGeom>
            <a:rect b="b" l="l" r="r" t="t"/>
            <a:pathLst>
              <a:path extrusionOk="0" h="332434" w="814462">
                <a:moveTo>
                  <a:pt x="66487" y="0"/>
                </a:moveTo>
                <a:lnTo>
                  <a:pt x="747975" y="0"/>
                </a:lnTo>
                <a:cubicBezTo>
                  <a:pt x="784695" y="0"/>
                  <a:pt x="814462" y="29767"/>
                  <a:pt x="814462" y="66487"/>
                </a:cubicBezTo>
                <a:lnTo>
                  <a:pt x="814462" y="265947"/>
                </a:lnTo>
                <a:cubicBezTo>
                  <a:pt x="814462" y="302666"/>
                  <a:pt x="784695" y="332434"/>
                  <a:pt x="747975" y="332434"/>
                </a:cubicBezTo>
                <a:lnTo>
                  <a:pt x="66487" y="332434"/>
                </a:lnTo>
                <a:cubicBezTo>
                  <a:pt x="29792" y="332434"/>
                  <a:pt x="0" y="302642"/>
                  <a:pt x="0" y="265947"/>
                </a:cubicBezTo>
                <a:lnTo>
                  <a:pt x="0" y="66487"/>
                </a:lnTo>
                <a:cubicBezTo>
                  <a:pt x="0" y="29792"/>
                  <a:pt x="29792" y="0"/>
                  <a:pt x="66487" y="0"/>
                </a:cubicBezTo>
                <a:close/>
              </a:path>
            </a:pathLst>
          </a:custGeom>
          <a:solidFill>
            <a:srgbClr val="F6AD55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8619275" y="5798888"/>
            <a:ext cx="671724" cy="132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Quantitative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8523700" y="6058185"/>
            <a:ext cx="864327" cy="132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Numeric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9461370" y="5808860"/>
            <a:ext cx="299190" cy="265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1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9760560" y="5592778"/>
            <a:ext cx="581759" cy="332434"/>
          </a:xfrm>
          <a:custGeom>
            <a:rect b="b" l="l" r="r" t="t"/>
            <a:pathLst>
              <a:path extrusionOk="0" h="332434" w="581759">
                <a:moveTo>
                  <a:pt x="66487" y="0"/>
                </a:moveTo>
                <a:lnTo>
                  <a:pt x="515272" y="0"/>
                </a:lnTo>
                <a:cubicBezTo>
                  <a:pt x="551992" y="0"/>
                  <a:pt x="581759" y="29767"/>
                  <a:pt x="581759" y="66487"/>
                </a:cubicBezTo>
                <a:lnTo>
                  <a:pt x="581759" y="265947"/>
                </a:lnTo>
                <a:cubicBezTo>
                  <a:pt x="581759" y="302666"/>
                  <a:pt x="551992" y="332434"/>
                  <a:pt x="515272" y="332434"/>
                </a:cubicBezTo>
                <a:lnTo>
                  <a:pt x="66487" y="332434"/>
                </a:lnTo>
                <a:cubicBezTo>
                  <a:pt x="29792" y="332434"/>
                  <a:pt x="0" y="302642"/>
                  <a:pt x="0" y="265947"/>
                </a:cubicBezTo>
                <a:lnTo>
                  <a:pt x="0" y="66487"/>
                </a:lnTo>
                <a:cubicBezTo>
                  <a:pt x="0" y="29792"/>
                  <a:pt x="29792" y="0"/>
                  <a:pt x="66487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9831202" y="5699157"/>
            <a:ext cx="437773" cy="132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Interval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9760560" y="5958455"/>
            <a:ext cx="581759" cy="332434"/>
          </a:xfrm>
          <a:custGeom>
            <a:rect b="b" l="l" r="r" t="t"/>
            <a:pathLst>
              <a:path extrusionOk="0" h="332434" w="581759">
                <a:moveTo>
                  <a:pt x="66487" y="0"/>
                </a:moveTo>
                <a:lnTo>
                  <a:pt x="515272" y="0"/>
                </a:lnTo>
                <a:cubicBezTo>
                  <a:pt x="551992" y="0"/>
                  <a:pt x="581759" y="29767"/>
                  <a:pt x="581759" y="66487"/>
                </a:cubicBezTo>
                <a:lnTo>
                  <a:pt x="581759" y="265947"/>
                </a:lnTo>
                <a:cubicBezTo>
                  <a:pt x="581759" y="302666"/>
                  <a:pt x="551992" y="332434"/>
                  <a:pt x="515272" y="332434"/>
                </a:cubicBezTo>
                <a:lnTo>
                  <a:pt x="66487" y="332434"/>
                </a:lnTo>
                <a:cubicBezTo>
                  <a:pt x="29792" y="332434"/>
                  <a:pt x="0" y="302642"/>
                  <a:pt x="0" y="265947"/>
                </a:cubicBezTo>
                <a:lnTo>
                  <a:pt x="0" y="66487"/>
                </a:lnTo>
                <a:cubicBezTo>
                  <a:pt x="0" y="29792"/>
                  <a:pt x="29792" y="0"/>
                  <a:pt x="66487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9893326" y="6064834"/>
            <a:ext cx="313422" cy="132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Ratio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9" name="Google Shape;3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8906" y="105968"/>
            <a:ext cx="1502714" cy="56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"/>
          <p:cNvSpPr/>
          <p:nvPr/>
        </p:nvSpPr>
        <p:spPr>
          <a:xfrm>
            <a:off x="341513" y="426891"/>
            <a:ext cx="478118" cy="478118"/>
          </a:xfrm>
          <a:custGeom>
            <a:rect b="b" l="l" r="r" t="t"/>
            <a:pathLst>
              <a:path extrusionOk="0" h="478118" w="478118">
                <a:moveTo>
                  <a:pt x="102456" y="0"/>
                </a:moveTo>
                <a:lnTo>
                  <a:pt x="375662" y="0"/>
                </a:lnTo>
                <a:cubicBezTo>
                  <a:pt x="432209" y="0"/>
                  <a:pt x="478118" y="45909"/>
                  <a:pt x="478118" y="102456"/>
                </a:cubicBezTo>
                <a:lnTo>
                  <a:pt x="478118" y="375662"/>
                </a:lnTo>
                <a:cubicBezTo>
                  <a:pt x="478118" y="432209"/>
                  <a:pt x="432209" y="478118"/>
                  <a:pt x="375662" y="478118"/>
                </a:cubicBezTo>
                <a:lnTo>
                  <a:pt x="102456" y="478118"/>
                </a:lnTo>
                <a:cubicBezTo>
                  <a:pt x="45909" y="478118"/>
                  <a:pt x="0" y="432209"/>
                  <a:pt x="0" y="375662"/>
                </a:cubicBezTo>
                <a:lnTo>
                  <a:pt x="0" y="102456"/>
                </a:lnTo>
                <a:cubicBezTo>
                  <a:pt x="0" y="45909"/>
                  <a:pt x="45909" y="0"/>
                  <a:pt x="102456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465311" y="563496"/>
            <a:ext cx="230521" cy="204908"/>
          </a:xfrm>
          <a:custGeom>
            <a:rect b="b" l="l" r="r" t="t"/>
            <a:pathLst>
              <a:path extrusionOk="0" h="204908" w="230521">
                <a:moveTo>
                  <a:pt x="205068" y="96050"/>
                </a:moveTo>
                <a:lnTo>
                  <a:pt x="134631" y="96050"/>
                </a:lnTo>
                <a:cubicBezTo>
                  <a:pt x="127547" y="96050"/>
                  <a:pt x="121824" y="90327"/>
                  <a:pt x="121824" y="83244"/>
                </a:cubicBezTo>
                <a:lnTo>
                  <a:pt x="121824" y="12807"/>
                </a:lnTo>
                <a:cubicBezTo>
                  <a:pt x="121824" y="5723"/>
                  <a:pt x="127587" y="-80"/>
                  <a:pt x="134591" y="840"/>
                </a:cubicBezTo>
                <a:cubicBezTo>
                  <a:pt x="177413" y="6523"/>
                  <a:pt x="211351" y="40461"/>
                  <a:pt x="217034" y="83284"/>
                </a:cubicBezTo>
                <a:cubicBezTo>
                  <a:pt x="217954" y="90287"/>
                  <a:pt x="212151" y="96050"/>
                  <a:pt x="205068" y="96050"/>
                </a:cubicBezTo>
                <a:close/>
                <a:moveTo>
                  <a:pt x="89087" y="14888"/>
                </a:moveTo>
                <a:cubicBezTo>
                  <a:pt x="96331" y="13367"/>
                  <a:pt x="102614" y="19290"/>
                  <a:pt x="102614" y="26694"/>
                </a:cubicBezTo>
                <a:lnTo>
                  <a:pt x="102614" y="105655"/>
                </a:lnTo>
                <a:cubicBezTo>
                  <a:pt x="102614" y="107897"/>
                  <a:pt x="103414" y="110058"/>
                  <a:pt x="104815" y="111779"/>
                </a:cubicBezTo>
                <a:lnTo>
                  <a:pt x="157683" y="175572"/>
                </a:lnTo>
                <a:cubicBezTo>
                  <a:pt x="162365" y="181215"/>
                  <a:pt x="161365" y="189740"/>
                  <a:pt x="154921" y="193221"/>
                </a:cubicBezTo>
                <a:cubicBezTo>
                  <a:pt x="141274" y="200665"/>
                  <a:pt x="125626" y="204908"/>
                  <a:pt x="109017" y="204908"/>
                </a:cubicBezTo>
                <a:cubicBezTo>
                  <a:pt x="55989" y="204908"/>
                  <a:pt x="12967" y="161885"/>
                  <a:pt x="12967" y="108857"/>
                </a:cubicBezTo>
                <a:cubicBezTo>
                  <a:pt x="12967" y="62633"/>
                  <a:pt x="45584" y="24053"/>
                  <a:pt x="89087" y="14888"/>
                </a:cubicBezTo>
                <a:close/>
                <a:moveTo>
                  <a:pt x="191220" y="115261"/>
                </a:moveTo>
                <a:lnTo>
                  <a:pt x="216834" y="115261"/>
                </a:lnTo>
                <a:cubicBezTo>
                  <a:pt x="224238" y="115261"/>
                  <a:pt x="230161" y="121544"/>
                  <a:pt x="228640" y="128788"/>
                </a:cubicBezTo>
                <a:cubicBezTo>
                  <a:pt x="224558" y="148158"/>
                  <a:pt x="214633" y="165367"/>
                  <a:pt x="200785" y="178494"/>
                </a:cubicBezTo>
                <a:cubicBezTo>
                  <a:pt x="195863" y="183176"/>
                  <a:pt x="188139" y="182176"/>
                  <a:pt x="183816" y="176933"/>
                </a:cubicBezTo>
                <a:lnTo>
                  <a:pt x="150039" y="136232"/>
                </a:lnTo>
                <a:cubicBezTo>
                  <a:pt x="143115" y="127867"/>
                  <a:pt x="149078" y="115261"/>
                  <a:pt x="159884" y="115261"/>
                </a:cubicBezTo>
                <a:lnTo>
                  <a:pt x="191180" y="115261"/>
                </a:ln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956235" y="341513"/>
            <a:ext cx="5156840" cy="4098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7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Data Visualization in Mining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956235" y="751328"/>
            <a:ext cx="5037311" cy="239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Transforming Patterns into Insights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348343" y="1133822"/>
            <a:ext cx="5674232" cy="1345560"/>
          </a:xfrm>
          <a:custGeom>
            <a:rect b="b" l="l" r="r" t="t"/>
            <a:pathLst>
              <a:path extrusionOk="0" h="1345560" w="5674232">
                <a:moveTo>
                  <a:pt x="102451" y="0"/>
                </a:moveTo>
                <a:lnTo>
                  <a:pt x="5571781" y="0"/>
                </a:lnTo>
                <a:cubicBezTo>
                  <a:pt x="5628363" y="0"/>
                  <a:pt x="5674232" y="45869"/>
                  <a:pt x="5674232" y="102451"/>
                </a:cubicBezTo>
                <a:lnTo>
                  <a:pt x="5674232" y="1243109"/>
                </a:lnTo>
                <a:cubicBezTo>
                  <a:pt x="5674232" y="1299691"/>
                  <a:pt x="5628363" y="1345560"/>
                  <a:pt x="5571781" y="1345560"/>
                </a:cubicBezTo>
                <a:lnTo>
                  <a:pt x="102451" y="1345560"/>
                </a:lnTo>
                <a:cubicBezTo>
                  <a:pt x="45869" y="1345560"/>
                  <a:pt x="0" y="1299691"/>
                  <a:pt x="0" y="1243109"/>
                </a:cubicBezTo>
                <a:lnTo>
                  <a:pt x="0" y="102451"/>
                </a:lnTo>
                <a:cubicBezTo>
                  <a:pt x="0" y="45907"/>
                  <a:pt x="45907" y="0"/>
                  <a:pt x="102451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20000"/>
                </a:srgbClr>
              </a:gs>
              <a:gs pos="100000">
                <a:srgbClr val="2D3748"/>
              </a:gs>
            </a:gsLst>
            <a:lin ang="2700000" scaled="0"/>
          </a:gradFill>
          <a:ln cap="flat" cmpd="sng" w="203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491778" y="1277258"/>
            <a:ext cx="5472739" cy="239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45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Critical Role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91778" y="1618771"/>
            <a:ext cx="5455664" cy="221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7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visualization is the primary method to show mining results in a presentable way.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91778" y="1943208"/>
            <a:ext cx="5387361" cy="392739"/>
          </a:xfrm>
          <a:custGeom>
            <a:rect b="b" l="l" r="r" t="t"/>
            <a:pathLst>
              <a:path extrusionOk="0" h="392739" w="5387361">
                <a:moveTo>
                  <a:pt x="68301" y="0"/>
                </a:moveTo>
                <a:lnTo>
                  <a:pt x="5319060" y="0"/>
                </a:lnTo>
                <a:cubicBezTo>
                  <a:pt x="5356782" y="0"/>
                  <a:pt x="5387361" y="30580"/>
                  <a:pt x="5387361" y="68301"/>
                </a:cubicBezTo>
                <a:lnTo>
                  <a:pt x="5387361" y="324438"/>
                </a:lnTo>
                <a:cubicBezTo>
                  <a:pt x="5387361" y="362160"/>
                  <a:pt x="5356782" y="392739"/>
                  <a:pt x="5319060" y="392739"/>
                </a:cubicBezTo>
                <a:lnTo>
                  <a:pt x="68301" y="392739"/>
                </a:lnTo>
                <a:cubicBezTo>
                  <a:pt x="30605" y="392739"/>
                  <a:pt x="0" y="362135"/>
                  <a:pt x="0" y="324438"/>
                </a:cubicBezTo>
                <a:lnTo>
                  <a:pt x="0" y="68301"/>
                </a:lnTo>
                <a:cubicBezTo>
                  <a:pt x="0" y="30605"/>
                  <a:pt x="30605" y="0"/>
                  <a:pt x="68301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594232" y="2045661"/>
            <a:ext cx="5250756" cy="187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6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Function:</a:t>
            </a:r>
            <a:r>
              <a:rPr lang="en-US" sz="1076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Extracted data must convey exact meaning to enable informed decisions.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358588" y="2588667"/>
            <a:ext cx="5669109" cy="1775866"/>
          </a:xfrm>
          <a:custGeom>
            <a:rect b="b" l="l" r="r" t="t"/>
            <a:pathLst>
              <a:path extrusionOk="0" h="1775866" w="5669109">
                <a:moveTo>
                  <a:pt x="34151" y="0"/>
                </a:moveTo>
                <a:lnTo>
                  <a:pt x="5566660" y="0"/>
                </a:lnTo>
                <a:cubicBezTo>
                  <a:pt x="5623241" y="0"/>
                  <a:pt x="5669109" y="45868"/>
                  <a:pt x="5669109" y="102450"/>
                </a:cubicBezTo>
                <a:lnTo>
                  <a:pt x="5669109" y="1673416"/>
                </a:lnTo>
                <a:cubicBezTo>
                  <a:pt x="5669109" y="1729997"/>
                  <a:pt x="5623241" y="1775866"/>
                  <a:pt x="5566660" y="1775866"/>
                </a:cubicBezTo>
                <a:lnTo>
                  <a:pt x="34151" y="1775866"/>
                </a:lnTo>
                <a:cubicBezTo>
                  <a:pt x="15290" y="1775866"/>
                  <a:pt x="0" y="1760576"/>
                  <a:pt x="0" y="1741714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358588" y="2588667"/>
            <a:ext cx="34151" cy="1775866"/>
          </a:xfrm>
          <a:custGeom>
            <a:rect b="b" l="l" r="r" t="t"/>
            <a:pathLst>
              <a:path extrusionOk="0" h="1775866" w="34151">
                <a:moveTo>
                  <a:pt x="34151" y="0"/>
                </a:moveTo>
                <a:lnTo>
                  <a:pt x="34151" y="0"/>
                </a:lnTo>
                <a:lnTo>
                  <a:pt x="34151" y="1775866"/>
                </a:lnTo>
                <a:lnTo>
                  <a:pt x="34151" y="1775866"/>
                </a:lnTo>
                <a:cubicBezTo>
                  <a:pt x="15290" y="1775866"/>
                  <a:pt x="0" y="1760576"/>
                  <a:pt x="0" y="1741714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512269" y="2725272"/>
            <a:ext cx="5464202" cy="239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45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Visualization Forms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512269" y="3066785"/>
            <a:ext cx="1750252" cy="546420"/>
          </a:xfrm>
          <a:custGeom>
            <a:rect b="b" l="l" r="r" t="t"/>
            <a:pathLst>
              <a:path extrusionOk="0" h="546420" w="1750252">
                <a:moveTo>
                  <a:pt x="34151" y="0"/>
                </a:moveTo>
                <a:lnTo>
                  <a:pt x="1716101" y="0"/>
                </a:lnTo>
                <a:cubicBezTo>
                  <a:pt x="1734962" y="0"/>
                  <a:pt x="1750252" y="15290"/>
                  <a:pt x="1750252" y="34151"/>
                </a:cubicBezTo>
                <a:lnTo>
                  <a:pt x="1750252" y="512269"/>
                </a:lnTo>
                <a:cubicBezTo>
                  <a:pt x="1750252" y="531130"/>
                  <a:pt x="1734962" y="546420"/>
                  <a:pt x="1716101" y="546420"/>
                </a:cubicBezTo>
                <a:lnTo>
                  <a:pt x="34151" y="546420"/>
                </a:lnTo>
                <a:cubicBezTo>
                  <a:pt x="15290" y="546420"/>
                  <a:pt x="0" y="531130"/>
                  <a:pt x="0" y="512269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1270320" y="3135087"/>
            <a:ext cx="230521" cy="204908"/>
          </a:xfrm>
          <a:custGeom>
            <a:rect b="b" l="l" r="r" t="t"/>
            <a:pathLst>
              <a:path extrusionOk="0" h="204908" w="230521">
                <a:moveTo>
                  <a:pt x="205068" y="96050"/>
                </a:moveTo>
                <a:lnTo>
                  <a:pt x="134631" y="96050"/>
                </a:lnTo>
                <a:cubicBezTo>
                  <a:pt x="127547" y="96050"/>
                  <a:pt x="121824" y="90327"/>
                  <a:pt x="121824" y="83244"/>
                </a:cubicBezTo>
                <a:lnTo>
                  <a:pt x="121824" y="12807"/>
                </a:lnTo>
                <a:cubicBezTo>
                  <a:pt x="121824" y="5723"/>
                  <a:pt x="127587" y="-80"/>
                  <a:pt x="134591" y="840"/>
                </a:cubicBezTo>
                <a:cubicBezTo>
                  <a:pt x="177413" y="6523"/>
                  <a:pt x="211351" y="40461"/>
                  <a:pt x="217034" y="83284"/>
                </a:cubicBezTo>
                <a:cubicBezTo>
                  <a:pt x="217954" y="90287"/>
                  <a:pt x="212151" y="96050"/>
                  <a:pt x="205068" y="96050"/>
                </a:cubicBezTo>
                <a:close/>
                <a:moveTo>
                  <a:pt x="89087" y="14888"/>
                </a:moveTo>
                <a:cubicBezTo>
                  <a:pt x="96331" y="13367"/>
                  <a:pt x="102614" y="19290"/>
                  <a:pt x="102614" y="26694"/>
                </a:cubicBezTo>
                <a:lnTo>
                  <a:pt x="102614" y="105655"/>
                </a:lnTo>
                <a:cubicBezTo>
                  <a:pt x="102614" y="107897"/>
                  <a:pt x="103414" y="110058"/>
                  <a:pt x="104815" y="111779"/>
                </a:cubicBezTo>
                <a:lnTo>
                  <a:pt x="157683" y="175572"/>
                </a:lnTo>
                <a:cubicBezTo>
                  <a:pt x="162365" y="181215"/>
                  <a:pt x="161365" y="189740"/>
                  <a:pt x="154921" y="193221"/>
                </a:cubicBezTo>
                <a:cubicBezTo>
                  <a:pt x="141274" y="200665"/>
                  <a:pt x="125626" y="204908"/>
                  <a:pt x="109017" y="204908"/>
                </a:cubicBezTo>
                <a:cubicBezTo>
                  <a:pt x="55989" y="204908"/>
                  <a:pt x="12967" y="161885"/>
                  <a:pt x="12967" y="108857"/>
                </a:cubicBezTo>
                <a:cubicBezTo>
                  <a:pt x="12967" y="62633"/>
                  <a:pt x="45584" y="24053"/>
                  <a:pt x="89087" y="14888"/>
                </a:cubicBezTo>
                <a:close/>
                <a:moveTo>
                  <a:pt x="191220" y="115261"/>
                </a:moveTo>
                <a:lnTo>
                  <a:pt x="216834" y="115261"/>
                </a:lnTo>
                <a:cubicBezTo>
                  <a:pt x="224238" y="115261"/>
                  <a:pt x="230161" y="121544"/>
                  <a:pt x="228640" y="128788"/>
                </a:cubicBezTo>
                <a:cubicBezTo>
                  <a:pt x="224558" y="148158"/>
                  <a:pt x="214633" y="165367"/>
                  <a:pt x="200785" y="178494"/>
                </a:cubicBezTo>
                <a:cubicBezTo>
                  <a:pt x="195863" y="183176"/>
                  <a:pt x="188139" y="182176"/>
                  <a:pt x="183816" y="176933"/>
                </a:cubicBezTo>
                <a:lnTo>
                  <a:pt x="150039" y="136232"/>
                </a:lnTo>
                <a:cubicBezTo>
                  <a:pt x="143115" y="127867"/>
                  <a:pt x="149078" y="115261"/>
                  <a:pt x="159884" y="115261"/>
                </a:cubicBezTo>
                <a:lnTo>
                  <a:pt x="191180" y="115261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550689" y="3374146"/>
            <a:ext cx="1673412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Pie Charts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2327302" y="3066785"/>
            <a:ext cx="1750252" cy="546420"/>
          </a:xfrm>
          <a:custGeom>
            <a:rect b="b" l="l" r="r" t="t"/>
            <a:pathLst>
              <a:path extrusionOk="0" h="546420" w="1750252">
                <a:moveTo>
                  <a:pt x="34151" y="0"/>
                </a:moveTo>
                <a:lnTo>
                  <a:pt x="1716101" y="0"/>
                </a:lnTo>
                <a:cubicBezTo>
                  <a:pt x="1734962" y="0"/>
                  <a:pt x="1750252" y="15290"/>
                  <a:pt x="1750252" y="34151"/>
                </a:cubicBezTo>
                <a:lnTo>
                  <a:pt x="1750252" y="512269"/>
                </a:lnTo>
                <a:cubicBezTo>
                  <a:pt x="1750252" y="531130"/>
                  <a:pt x="1734962" y="546420"/>
                  <a:pt x="1716101" y="546420"/>
                </a:cubicBezTo>
                <a:lnTo>
                  <a:pt x="34151" y="546420"/>
                </a:lnTo>
                <a:cubicBezTo>
                  <a:pt x="15290" y="546420"/>
                  <a:pt x="0" y="531130"/>
                  <a:pt x="0" y="512269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3098160" y="3135087"/>
            <a:ext cx="204908" cy="204908"/>
          </a:xfrm>
          <a:custGeom>
            <a:rect b="b" l="l" r="r" t="t"/>
            <a:pathLst>
              <a:path extrusionOk="0" h="204908" w="204908">
                <a:moveTo>
                  <a:pt x="12807" y="12807"/>
                </a:moveTo>
                <a:cubicBezTo>
                  <a:pt x="19890" y="12807"/>
                  <a:pt x="25613" y="18530"/>
                  <a:pt x="25613" y="25613"/>
                </a:cubicBezTo>
                <a:lnTo>
                  <a:pt x="25613" y="160084"/>
                </a:lnTo>
                <a:cubicBezTo>
                  <a:pt x="25613" y="163606"/>
                  <a:pt x="28495" y="166487"/>
                  <a:pt x="32017" y="166487"/>
                </a:cubicBezTo>
                <a:lnTo>
                  <a:pt x="192101" y="166487"/>
                </a:lnTo>
                <a:cubicBezTo>
                  <a:pt x="199185" y="166487"/>
                  <a:pt x="204908" y="172210"/>
                  <a:pt x="204908" y="179294"/>
                </a:cubicBezTo>
                <a:cubicBezTo>
                  <a:pt x="204908" y="186378"/>
                  <a:pt x="199185" y="192101"/>
                  <a:pt x="192101" y="192101"/>
                </a:cubicBezTo>
                <a:lnTo>
                  <a:pt x="32017" y="192101"/>
                </a:lnTo>
                <a:cubicBezTo>
                  <a:pt x="14328" y="192101"/>
                  <a:pt x="0" y="177773"/>
                  <a:pt x="0" y="160084"/>
                </a:cubicBezTo>
                <a:lnTo>
                  <a:pt x="0" y="25613"/>
                </a:lnTo>
                <a:cubicBezTo>
                  <a:pt x="0" y="18530"/>
                  <a:pt x="5723" y="12807"/>
                  <a:pt x="12807" y="12807"/>
                </a:cubicBezTo>
                <a:close/>
                <a:moveTo>
                  <a:pt x="51227" y="38420"/>
                </a:moveTo>
                <a:cubicBezTo>
                  <a:pt x="51227" y="31336"/>
                  <a:pt x="56950" y="25613"/>
                  <a:pt x="64034" y="25613"/>
                </a:cubicBezTo>
                <a:lnTo>
                  <a:pt x="140874" y="25613"/>
                </a:lnTo>
                <a:cubicBezTo>
                  <a:pt x="147958" y="25613"/>
                  <a:pt x="153681" y="31336"/>
                  <a:pt x="153681" y="38420"/>
                </a:cubicBezTo>
                <a:cubicBezTo>
                  <a:pt x="153681" y="45504"/>
                  <a:pt x="147958" y="51227"/>
                  <a:pt x="140874" y="51227"/>
                </a:cubicBezTo>
                <a:lnTo>
                  <a:pt x="64034" y="51227"/>
                </a:lnTo>
                <a:cubicBezTo>
                  <a:pt x="56950" y="51227"/>
                  <a:pt x="51227" y="45504"/>
                  <a:pt x="51227" y="38420"/>
                </a:cubicBezTo>
                <a:close/>
                <a:moveTo>
                  <a:pt x="64034" y="70437"/>
                </a:moveTo>
                <a:lnTo>
                  <a:pt x="115261" y="70437"/>
                </a:lnTo>
                <a:cubicBezTo>
                  <a:pt x="122344" y="70437"/>
                  <a:pt x="128067" y="76160"/>
                  <a:pt x="128067" y="83244"/>
                </a:cubicBezTo>
                <a:cubicBezTo>
                  <a:pt x="128067" y="90327"/>
                  <a:pt x="122344" y="96050"/>
                  <a:pt x="115261" y="96050"/>
                </a:cubicBezTo>
                <a:lnTo>
                  <a:pt x="64034" y="96050"/>
                </a:lnTo>
                <a:cubicBezTo>
                  <a:pt x="56950" y="96050"/>
                  <a:pt x="51227" y="90327"/>
                  <a:pt x="51227" y="83244"/>
                </a:cubicBezTo>
                <a:cubicBezTo>
                  <a:pt x="51227" y="76160"/>
                  <a:pt x="56950" y="70437"/>
                  <a:pt x="64034" y="70437"/>
                </a:cubicBezTo>
                <a:close/>
                <a:moveTo>
                  <a:pt x="64034" y="115261"/>
                </a:moveTo>
                <a:lnTo>
                  <a:pt x="166487" y="115261"/>
                </a:lnTo>
                <a:cubicBezTo>
                  <a:pt x="173571" y="115261"/>
                  <a:pt x="179294" y="120984"/>
                  <a:pt x="179294" y="128067"/>
                </a:cubicBezTo>
                <a:cubicBezTo>
                  <a:pt x="179294" y="135151"/>
                  <a:pt x="173571" y="140874"/>
                  <a:pt x="166487" y="140874"/>
                </a:cubicBezTo>
                <a:lnTo>
                  <a:pt x="64034" y="140874"/>
                </a:lnTo>
                <a:cubicBezTo>
                  <a:pt x="56950" y="140874"/>
                  <a:pt x="51227" y="135151"/>
                  <a:pt x="51227" y="128067"/>
                </a:cubicBezTo>
                <a:cubicBezTo>
                  <a:pt x="51227" y="120984"/>
                  <a:pt x="56950" y="115261"/>
                  <a:pt x="64034" y="115261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2365722" y="3374146"/>
            <a:ext cx="1673412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Bar Charts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4142335" y="3066785"/>
            <a:ext cx="1750252" cy="546420"/>
          </a:xfrm>
          <a:custGeom>
            <a:rect b="b" l="l" r="r" t="t"/>
            <a:pathLst>
              <a:path extrusionOk="0" h="546420" w="1750252">
                <a:moveTo>
                  <a:pt x="34151" y="0"/>
                </a:moveTo>
                <a:lnTo>
                  <a:pt x="1716101" y="0"/>
                </a:lnTo>
                <a:cubicBezTo>
                  <a:pt x="1734962" y="0"/>
                  <a:pt x="1750252" y="15290"/>
                  <a:pt x="1750252" y="34151"/>
                </a:cubicBezTo>
                <a:lnTo>
                  <a:pt x="1750252" y="512269"/>
                </a:lnTo>
                <a:cubicBezTo>
                  <a:pt x="1750252" y="531130"/>
                  <a:pt x="1734962" y="546420"/>
                  <a:pt x="1716101" y="546420"/>
                </a:cubicBezTo>
                <a:lnTo>
                  <a:pt x="34151" y="546420"/>
                </a:lnTo>
                <a:cubicBezTo>
                  <a:pt x="15290" y="546420"/>
                  <a:pt x="0" y="531130"/>
                  <a:pt x="0" y="512269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4913193" y="3135087"/>
            <a:ext cx="204908" cy="204908"/>
          </a:xfrm>
          <a:custGeom>
            <a:rect b="b" l="l" r="r" t="t"/>
            <a:pathLst>
              <a:path extrusionOk="0" h="204908" w="204908">
                <a:moveTo>
                  <a:pt x="25613" y="25613"/>
                </a:moveTo>
                <a:cubicBezTo>
                  <a:pt x="25613" y="18530"/>
                  <a:pt x="19890" y="12807"/>
                  <a:pt x="12807" y="12807"/>
                </a:cubicBezTo>
                <a:cubicBezTo>
                  <a:pt x="5723" y="12807"/>
                  <a:pt x="0" y="18530"/>
                  <a:pt x="0" y="25613"/>
                </a:cubicBezTo>
                <a:lnTo>
                  <a:pt x="0" y="160084"/>
                </a:lnTo>
                <a:cubicBezTo>
                  <a:pt x="0" y="177773"/>
                  <a:pt x="14328" y="192101"/>
                  <a:pt x="32017" y="192101"/>
                </a:cubicBezTo>
                <a:lnTo>
                  <a:pt x="192101" y="192101"/>
                </a:lnTo>
                <a:cubicBezTo>
                  <a:pt x="199185" y="192101"/>
                  <a:pt x="204908" y="186378"/>
                  <a:pt x="204908" y="179294"/>
                </a:cubicBezTo>
                <a:cubicBezTo>
                  <a:pt x="204908" y="172210"/>
                  <a:pt x="199185" y="166487"/>
                  <a:pt x="192101" y="166487"/>
                </a:cubicBezTo>
                <a:lnTo>
                  <a:pt x="32017" y="166487"/>
                </a:lnTo>
                <a:cubicBezTo>
                  <a:pt x="28495" y="166487"/>
                  <a:pt x="25613" y="163606"/>
                  <a:pt x="25613" y="160084"/>
                </a:cubicBezTo>
                <a:lnTo>
                  <a:pt x="25613" y="25613"/>
                </a:lnTo>
                <a:close/>
                <a:moveTo>
                  <a:pt x="188339" y="60272"/>
                </a:moveTo>
                <a:cubicBezTo>
                  <a:pt x="193341" y="55269"/>
                  <a:pt x="193341" y="47145"/>
                  <a:pt x="188339" y="42142"/>
                </a:cubicBezTo>
                <a:cubicBezTo>
                  <a:pt x="183336" y="37139"/>
                  <a:pt x="175212" y="37139"/>
                  <a:pt x="170209" y="42142"/>
                </a:cubicBezTo>
                <a:lnTo>
                  <a:pt x="128067" y="84324"/>
                </a:lnTo>
                <a:lnTo>
                  <a:pt x="105095" y="61392"/>
                </a:lnTo>
                <a:cubicBezTo>
                  <a:pt x="100093" y="56390"/>
                  <a:pt x="91968" y="56390"/>
                  <a:pt x="86966" y="61392"/>
                </a:cubicBezTo>
                <a:lnTo>
                  <a:pt x="48545" y="99812"/>
                </a:lnTo>
                <a:cubicBezTo>
                  <a:pt x="43543" y="104815"/>
                  <a:pt x="43543" y="112939"/>
                  <a:pt x="48545" y="117942"/>
                </a:cubicBezTo>
                <a:cubicBezTo>
                  <a:pt x="53548" y="122945"/>
                  <a:pt x="61672" y="122945"/>
                  <a:pt x="66675" y="117942"/>
                </a:cubicBezTo>
                <a:lnTo>
                  <a:pt x="96050" y="88566"/>
                </a:lnTo>
                <a:lnTo>
                  <a:pt x="119022" y="111539"/>
                </a:lnTo>
                <a:cubicBezTo>
                  <a:pt x="124025" y="116541"/>
                  <a:pt x="132149" y="116541"/>
                  <a:pt x="137152" y="111539"/>
                </a:cubicBezTo>
                <a:lnTo>
                  <a:pt x="188379" y="60312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9"/>
          <p:cNvSpPr/>
          <p:nvPr/>
        </p:nvSpPr>
        <p:spPr>
          <a:xfrm>
            <a:off x="4180755" y="3374146"/>
            <a:ext cx="1673412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Curves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512269" y="3681508"/>
            <a:ext cx="1750252" cy="546420"/>
          </a:xfrm>
          <a:custGeom>
            <a:rect b="b" l="l" r="r" t="t"/>
            <a:pathLst>
              <a:path extrusionOk="0" h="546420" w="1750252">
                <a:moveTo>
                  <a:pt x="34151" y="0"/>
                </a:moveTo>
                <a:lnTo>
                  <a:pt x="1716101" y="0"/>
                </a:lnTo>
                <a:cubicBezTo>
                  <a:pt x="1734962" y="0"/>
                  <a:pt x="1750252" y="15290"/>
                  <a:pt x="1750252" y="34151"/>
                </a:cubicBezTo>
                <a:lnTo>
                  <a:pt x="1750252" y="512269"/>
                </a:lnTo>
                <a:cubicBezTo>
                  <a:pt x="1750252" y="531130"/>
                  <a:pt x="1734962" y="546420"/>
                  <a:pt x="1716101" y="546420"/>
                </a:cubicBezTo>
                <a:lnTo>
                  <a:pt x="34151" y="546420"/>
                </a:lnTo>
                <a:cubicBezTo>
                  <a:pt x="15290" y="546420"/>
                  <a:pt x="0" y="531130"/>
                  <a:pt x="0" y="512269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1283127" y="3749810"/>
            <a:ext cx="204908" cy="204908"/>
          </a:xfrm>
          <a:custGeom>
            <a:rect b="b" l="l" r="r" t="t"/>
            <a:pathLst>
              <a:path extrusionOk="0" h="204908" w="204908">
                <a:moveTo>
                  <a:pt x="113660" y="-520"/>
                </a:moveTo>
                <a:cubicBezTo>
                  <a:pt x="106736" y="-4522"/>
                  <a:pt x="98172" y="-4522"/>
                  <a:pt x="91248" y="-520"/>
                </a:cubicBezTo>
                <a:lnTo>
                  <a:pt x="57550" y="18930"/>
                </a:lnTo>
                <a:cubicBezTo>
                  <a:pt x="50627" y="22932"/>
                  <a:pt x="46344" y="30336"/>
                  <a:pt x="46344" y="38340"/>
                </a:cubicBezTo>
                <a:lnTo>
                  <a:pt x="46344" y="79122"/>
                </a:lnTo>
                <a:lnTo>
                  <a:pt x="11006" y="99532"/>
                </a:lnTo>
                <a:cubicBezTo>
                  <a:pt x="4082" y="103534"/>
                  <a:pt x="-200" y="110938"/>
                  <a:pt x="-200" y="118942"/>
                </a:cubicBezTo>
                <a:lnTo>
                  <a:pt x="-200" y="157883"/>
                </a:lnTo>
                <a:cubicBezTo>
                  <a:pt x="-200" y="165887"/>
                  <a:pt x="4082" y="173291"/>
                  <a:pt x="11006" y="177293"/>
                </a:cubicBezTo>
                <a:lnTo>
                  <a:pt x="44743" y="196743"/>
                </a:lnTo>
                <a:cubicBezTo>
                  <a:pt x="51667" y="200745"/>
                  <a:pt x="60232" y="200745"/>
                  <a:pt x="67155" y="196743"/>
                </a:cubicBezTo>
                <a:lnTo>
                  <a:pt x="102494" y="176333"/>
                </a:lnTo>
                <a:lnTo>
                  <a:pt x="137832" y="196743"/>
                </a:lnTo>
                <a:cubicBezTo>
                  <a:pt x="144756" y="200745"/>
                  <a:pt x="153320" y="200745"/>
                  <a:pt x="160244" y="196743"/>
                </a:cubicBezTo>
                <a:lnTo>
                  <a:pt x="193902" y="177293"/>
                </a:lnTo>
                <a:cubicBezTo>
                  <a:pt x="200825" y="173291"/>
                  <a:pt x="205108" y="165887"/>
                  <a:pt x="205108" y="157883"/>
                </a:cubicBezTo>
                <a:lnTo>
                  <a:pt x="205108" y="118942"/>
                </a:lnTo>
                <a:cubicBezTo>
                  <a:pt x="205108" y="110938"/>
                  <a:pt x="200825" y="103534"/>
                  <a:pt x="193902" y="99532"/>
                </a:cubicBezTo>
                <a:lnTo>
                  <a:pt x="158563" y="79122"/>
                </a:lnTo>
                <a:lnTo>
                  <a:pt x="158563" y="38340"/>
                </a:lnTo>
                <a:cubicBezTo>
                  <a:pt x="158563" y="30336"/>
                  <a:pt x="154281" y="22932"/>
                  <a:pt x="147357" y="18930"/>
                </a:cubicBezTo>
                <a:lnTo>
                  <a:pt x="113660" y="-520"/>
                </a:lnTo>
                <a:close/>
                <a:moveTo>
                  <a:pt x="92849" y="117101"/>
                </a:moveTo>
                <a:lnTo>
                  <a:pt x="92849" y="159724"/>
                </a:lnTo>
                <a:lnTo>
                  <a:pt x="57510" y="180135"/>
                </a:lnTo>
                <a:cubicBezTo>
                  <a:pt x="57030" y="180415"/>
                  <a:pt x="56470" y="180575"/>
                  <a:pt x="55909" y="180575"/>
                </a:cubicBezTo>
                <a:lnTo>
                  <a:pt x="55909" y="138433"/>
                </a:lnTo>
                <a:lnTo>
                  <a:pt x="92849" y="117101"/>
                </a:lnTo>
                <a:close/>
                <a:moveTo>
                  <a:pt x="185457" y="117342"/>
                </a:moveTo>
                <a:cubicBezTo>
                  <a:pt x="185737" y="117822"/>
                  <a:pt x="185898" y="118382"/>
                  <a:pt x="185898" y="118942"/>
                </a:cubicBezTo>
                <a:lnTo>
                  <a:pt x="185898" y="157883"/>
                </a:lnTo>
                <a:cubicBezTo>
                  <a:pt x="185898" y="159043"/>
                  <a:pt x="185297" y="160084"/>
                  <a:pt x="184297" y="160644"/>
                </a:cubicBezTo>
                <a:lnTo>
                  <a:pt x="150559" y="180095"/>
                </a:lnTo>
                <a:cubicBezTo>
                  <a:pt x="150079" y="180375"/>
                  <a:pt x="149518" y="180535"/>
                  <a:pt x="148958" y="180535"/>
                </a:cubicBezTo>
                <a:lnTo>
                  <a:pt x="148958" y="138393"/>
                </a:lnTo>
                <a:lnTo>
                  <a:pt x="185457" y="117342"/>
                </a:lnTo>
                <a:close/>
                <a:moveTo>
                  <a:pt x="139393" y="38340"/>
                </a:moveTo>
                <a:lnTo>
                  <a:pt x="139393" y="79122"/>
                </a:lnTo>
                <a:lnTo>
                  <a:pt x="102454" y="100453"/>
                </a:lnTo>
                <a:lnTo>
                  <a:pt x="102454" y="57830"/>
                </a:lnTo>
                <a:lnTo>
                  <a:pt x="138953" y="36779"/>
                </a:lnTo>
                <a:cubicBezTo>
                  <a:pt x="139233" y="37260"/>
                  <a:pt x="139393" y="37820"/>
                  <a:pt x="139393" y="3838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550689" y="3988869"/>
            <a:ext cx="1673412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Cubes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2327302" y="3681508"/>
            <a:ext cx="1750252" cy="546420"/>
          </a:xfrm>
          <a:custGeom>
            <a:rect b="b" l="l" r="r" t="t"/>
            <a:pathLst>
              <a:path extrusionOk="0" h="546420" w="1750252">
                <a:moveTo>
                  <a:pt x="34151" y="0"/>
                </a:moveTo>
                <a:lnTo>
                  <a:pt x="1716101" y="0"/>
                </a:lnTo>
                <a:cubicBezTo>
                  <a:pt x="1734962" y="0"/>
                  <a:pt x="1750252" y="15290"/>
                  <a:pt x="1750252" y="34151"/>
                </a:cubicBezTo>
                <a:lnTo>
                  <a:pt x="1750252" y="512269"/>
                </a:lnTo>
                <a:cubicBezTo>
                  <a:pt x="1750252" y="531130"/>
                  <a:pt x="1734962" y="546420"/>
                  <a:pt x="1716101" y="546420"/>
                </a:cubicBezTo>
                <a:lnTo>
                  <a:pt x="34151" y="546420"/>
                </a:lnTo>
                <a:cubicBezTo>
                  <a:pt x="15290" y="546420"/>
                  <a:pt x="0" y="531130"/>
                  <a:pt x="0" y="512269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3110966" y="3749810"/>
            <a:ext cx="179294" cy="204908"/>
          </a:xfrm>
          <a:custGeom>
            <a:rect b="b" l="l" r="r" t="t"/>
            <a:pathLst>
              <a:path extrusionOk="0" h="204908" w="179294">
                <a:moveTo>
                  <a:pt x="102454" y="64034"/>
                </a:moveTo>
                <a:lnTo>
                  <a:pt x="102454" y="102454"/>
                </a:lnTo>
                <a:lnTo>
                  <a:pt x="153681" y="102454"/>
                </a:lnTo>
                <a:lnTo>
                  <a:pt x="153681" y="64034"/>
                </a:lnTo>
                <a:lnTo>
                  <a:pt x="102454" y="64034"/>
                </a:lnTo>
                <a:close/>
                <a:moveTo>
                  <a:pt x="76840" y="64034"/>
                </a:moveTo>
                <a:lnTo>
                  <a:pt x="25613" y="64034"/>
                </a:lnTo>
                <a:lnTo>
                  <a:pt x="25613" y="102454"/>
                </a:lnTo>
                <a:lnTo>
                  <a:pt x="76840" y="102454"/>
                </a:lnTo>
                <a:lnTo>
                  <a:pt x="76840" y="64034"/>
                </a:lnTo>
                <a:close/>
                <a:moveTo>
                  <a:pt x="0" y="128067"/>
                </a:moveTo>
                <a:lnTo>
                  <a:pt x="0" y="38420"/>
                </a:lnTo>
                <a:cubicBezTo>
                  <a:pt x="0" y="24293"/>
                  <a:pt x="11486" y="12807"/>
                  <a:pt x="25613" y="12807"/>
                </a:cubicBezTo>
                <a:lnTo>
                  <a:pt x="153681" y="12807"/>
                </a:lnTo>
                <a:cubicBezTo>
                  <a:pt x="167808" y="12807"/>
                  <a:pt x="179294" y="24293"/>
                  <a:pt x="179294" y="38420"/>
                </a:cubicBezTo>
                <a:lnTo>
                  <a:pt x="179294" y="166487"/>
                </a:lnTo>
                <a:cubicBezTo>
                  <a:pt x="179294" y="180615"/>
                  <a:pt x="167808" y="192101"/>
                  <a:pt x="153681" y="192101"/>
                </a:cubicBezTo>
                <a:lnTo>
                  <a:pt x="25613" y="192101"/>
                </a:lnTo>
                <a:cubicBezTo>
                  <a:pt x="11486" y="192101"/>
                  <a:pt x="0" y="180615"/>
                  <a:pt x="0" y="166487"/>
                </a:cubicBezTo>
                <a:lnTo>
                  <a:pt x="0" y="128067"/>
                </a:lnTo>
                <a:close/>
                <a:moveTo>
                  <a:pt x="153681" y="128067"/>
                </a:moveTo>
                <a:lnTo>
                  <a:pt x="102454" y="128067"/>
                </a:lnTo>
                <a:lnTo>
                  <a:pt x="102454" y="166487"/>
                </a:lnTo>
                <a:lnTo>
                  <a:pt x="153681" y="166487"/>
                </a:lnTo>
                <a:lnTo>
                  <a:pt x="153681" y="128067"/>
                </a:lnTo>
                <a:close/>
                <a:moveTo>
                  <a:pt x="76840" y="166487"/>
                </a:moveTo>
                <a:lnTo>
                  <a:pt x="76840" y="128067"/>
                </a:lnTo>
                <a:lnTo>
                  <a:pt x="25613" y="128067"/>
                </a:lnTo>
                <a:lnTo>
                  <a:pt x="25613" y="166487"/>
                </a:lnTo>
                <a:lnTo>
                  <a:pt x="76840" y="166487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2365722" y="3988869"/>
            <a:ext cx="1673412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Tables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4142335" y="3681508"/>
            <a:ext cx="1750252" cy="546420"/>
          </a:xfrm>
          <a:custGeom>
            <a:rect b="b" l="l" r="r" t="t"/>
            <a:pathLst>
              <a:path extrusionOk="0" h="546420" w="1750252">
                <a:moveTo>
                  <a:pt x="34151" y="0"/>
                </a:moveTo>
                <a:lnTo>
                  <a:pt x="1716101" y="0"/>
                </a:lnTo>
                <a:cubicBezTo>
                  <a:pt x="1734962" y="0"/>
                  <a:pt x="1750252" y="15290"/>
                  <a:pt x="1750252" y="34151"/>
                </a:cubicBezTo>
                <a:lnTo>
                  <a:pt x="1750252" y="512269"/>
                </a:lnTo>
                <a:cubicBezTo>
                  <a:pt x="1750252" y="531130"/>
                  <a:pt x="1734962" y="546420"/>
                  <a:pt x="1716101" y="546420"/>
                </a:cubicBezTo>
                <a:lnTo>
                  <a:pt x="34151" y="546420"/>
                </a:lnTo>
                <a:cubicBezTo>
                  <a:pt x="15290" y="546420"/>
                  <a:pt x="0" y="531130"/>
                  <a:pt x="0" y="512269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4925999" y="3749810"/>
            <a:ext cx="179294" cy="204908"/>
          </a:xfrm>
          <a:custGeom>
            <a:rect b="b" l="l" r="r" t="t"/>
            <a:pathLst>
              <a:path extrusionOk="0" h="204908" w="179294">
                <a:moveTo>
                  <a:pt x="153681" y="38420"/>
                </a:moveTo>
                <a:lnTo>
                  <a:pt x="153681" y="64034"/>
                </a:lnTo>
                <a:lnTo>
                  <a:pt x="128067" y="64034"/>
                </a:lnTo>
                <a:lnTo>
                  <a:pt x="128067" y="38420"/>
                </a:lnTo>
                <a:lnTo>
                  <a:pt x="153681" y="38420"/>
                </a:lnTo>
                <a:close/>
                <a:moveTo>
                  <a:pt x="153681" y="89647"/>
                </a:moveTo>
                <a:lnTo>
                  <a:pt x="153681" y="115261"/>
                </a:lnTo>
                <a:lnTo>
                  <a:pt x="128067" y="115261"/>
                </a:lnTo>
                <a:lnTo>
                  <a:pt x="128067" y="89647"/>
                </a:lnTo>
                <a:lnTo>
                  <a:pt x="153681" y="89647"/>
                </a:lnTo>
                <a:close/>
                <a:moveTo>
                  <a:pt x="153681" y="140874"/>
                </a:moveTo>
                <a:lnTo>
                  <a:pt x="153681" y="166487"/>
                </a:lnTo>
                <a:lnTo>
                  <a:pt x="128067" y="166487"/>
                </a:lnTo>
                <a:lnTo>
                  <a:pt x="128067" y="140874"/>
                </a:lnTo>
                <a:lnTo>
                  <a:pt x="153681" y="140874"/>
                </a:lnTo>
                <a:close/>
                <a:moveTo>
                  <a:pt x="102454" y="115261"/>
                </a:moveTo>
                <a:lnTo>
                  <a:pt x="76840" y="115261"/>
                </a:lnTo>
                <a:lnTo>
                  <a:pt x="76840" y="89647"/>
                </a:lnTo>
                <a:lnTo>
                  <a:pt x="102454" y="89647"/>
                </a:lnTo>
                <a:lnTo>
                  <a:pt x="102454" y="115261"/>
                </a:lnTo>
                <a:close/>
                <a:moveTo>
                  <a:pt x="76840" y="140874"/>
                </a:moveTo>
                <a:lnTo>
                  <a:pt x="102454" y="140874"/>
                </a:lnTo>
                <a:lnTo>
                  <a:pt x="102454" y="166487"/>
                </a:lnTo>
                <a:lnTo>
                  <a:pt x="76840" y="166487"/>
                </a:lnTo>
                <a:lnTo>
                  <a:pt x="76840" y="140874"/>
                </a:lnTo>
                <a:close/>
                <a:moveTo>
                  <a:pt x="51227" y="115261"/>
                </a:moveTo>
                <a:lnTo>
                  <a:pt x="25613" y="115261"/>
                </a:lnTo>
                <a:lnTo>
                  <a:pt x="25613" y="89647"/>
                </a:lnTo>
                <a:lnTo>
                  <a:pt x="51227" y="89647"/>
                </a:lnTo>
                <a:lnTo>
                  <a:pt x="51227" y="115261"/>
                </a:lnTo>
                <a:close/>
                <a:moveTo>
                  <a:pt x="25613" y="140874"/>
                </a:moveTo>
                <a:lnTo>
                  <a:pt x="51227" y="140874"/>
                </a:lnTo>
                <a:lnTo>
                  <a:pt x="51227" y="166487"/>
                </a:lnTo>
                <a:lnTo>
                  <a:pt x="25613" y="166487"/>
                </a:lnTo>
                <a:lnTo>
                  <a:pt x="25613" y="140874"/>
                </a:lnTo>
                <a:close/>
                <a:moveTo>
                  <a:pt x="25613" y="64034"/>
                </a:moveTo>
                <a:lnTo>
                  <a:pt x="25613" y="38420"/>
                </a:lnTo>
                <a:lnTo>
                  <a:pt x="51227" y="38420"/>
                </a:lnTo>
                <a:lnTo>
                  <a:pt x="51227" y="64034"/>
                </a:lnTo>
                <a:lnTo>
                  <a:pt x="25613" y="64034"/>
                </a:lnTo>
                <a:close/>
                <a:moveTo>
                  <a:pt x="76840" y="64034"/>
                </a:moveTo>
                <a:lnTo>
                  <a:pt x="76840" y="38420"/>
                </a:lnTo>
                <a:lnTo>
                  <a:pt x="102454" y="38420"/>
                </a:lnTo>
                <a:lnTo>
                  <a:pt x="102454" y="64034"/>
                </a:lnTo>
                <a:lnTo>
                  <a:pt x="76840" y="64034"/>
                </a:lnTo>
                <a:close/>
                <a:moveTo>
                  <a:pt x="25613" y="12807"/>
                </a:moveTo>
                <a:cubicBezTo>
                  <a:pt x="11486" y="12807"/>
                  <a:pt x="0" y="24293"/>
                  <a:pt x="0" y="38420"/>
                </a:cubicBezTo>
                <a:lnTo>
                  <a:pt x="0" y="166487"/>
                </a:lnTo>
                <a:cubicBezTo>
                  <a:pt x="0" y="180615"/>
                  <a:pt x="11486" y="192101"/>
                  <a:pt x="25613" y="192101"/>
                </a:cubicBezTo>
                <a:lnTo>
                  <a:pt x="153681" y="192101"/>
                </a:lnTo>
                <a:cubicBezTo>
                  <a:pt x="167808" y="192101"/>
                  <a:pt x="179294" y="180615"/>
                  <a:pt x="179294" y="166487"/>
                </a:cubicBezTo>
                <a:lnTo>
                  <a:pt x="179294" y="38420"/>
                </a:lnTo>
                <a:cubicBezTo>
                  <a:pt x="179294" y="24293"/>
                  <a:pt x="167808" y="12807"/>
                  <a:pt x="153681" y="12807"/>
                </a:cubicBezTo>
                <a:lnTo>
                  <a:pt x="25613" y="12807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4180755" y="3988869"/>
            <a:ext cx="1673412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Crosstabs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358588" y="4466987"/>
            <a:ext cx="5669109" cy="1639261"/>
          </a:xfrm>
          <a:custGeom>
            <a:rect b="b" l="l" r="r" t="t"/>
            <a:pathLst>
              <a:path extrusionOk="0" h="1639261" w="5669109">
                <a:moveTo>
                  <a:pt x="34151" y="0"/>
                </a:moveTo>
                <a:lnTo>
                  <a:pt x="5566655" y="0"/>
                </a:lnTo>
                <a:cubicBezTo>
                  <a:pt x="5623239" y="0"/>
                  <a:pt x="5669109" y="45870"/>
                  <a:pt x="5669109" y="102454"/>
                </a:cubicBezTo>
                <a:lnTo>
                  <a:pt x="5669109" y="1536807"/>
                </a:lnTo>
                <a:cubicBezTo>
                  <a:pt x="5669109" y="1593390"/>
                  <a:pt x="5623239" y="1639261"/>
                  <a:pt x="5566655" y="1639261"/>
                </a:cubicBezTo>
                <a:lnTo>
                  <a:pt x="34151" y="1639261"/>
                </a:lnTo>
                <a:cubicBezTo>
                  <a:pt x="15290" y="1639261"/>
                  <a:pt x="0" y="1623970"/>
                  <a:pt x="0" y="1605109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358588" y="4466987"/>
            <a:ext cx="34151" cy="1639261"/>
          </a:xfrm>
          <a:custGeom>
            <a:rect b="b" l="l" r="r" t="t"/>
            <a:pathLst>
              <a:path extrusionOk="0" h="1639261" w="34151">
                <a:moveTo>
                  <a:pt x="34151" y="0"/>
                </a:moveTo>
                <a:lnTo>
                  <a:pt x="34151" y="0"/>
                </a:lnTo>
                <a:lnTo>
                  <a:pt x="34151" y="1639261"/>
                </a:lnTo>
                <a:lnTo>
                  <a:pt x="34151" y="1639261"/>
                </a:lnTo>
                <a:cubicBezTo>
                  <a:pt x="15290" y="1639261"/>
                  <a:pt x="0" y="1623970"/>
                  <a:pt x="0" y="1605109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512269" y="4603592"/>
            <a:ext cx="5464202" cy="239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45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Benefits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537882" y="4979255"/>
            <a:ext cx="119529" cy="136605"/>
          </a:xfrm>
          <a:custGeom>
            <a:rect b="b" l="l" r="r" t="t"/>
            <a:pathLst>
              <a:path extrusionOk="0" h="136605" w="119529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751328" y="4945104"/>
            <a:ext cx="2356437" cy="204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Eases interpretation</a:t>
            </a:r>
            <a:r>
              <a:rPr lang="en-US" sz="107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of complex results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537882" y="5252466"/>
            <a:ext cx="119529" cy="136605"/>
          </a:xfrm>
          <a:custGeom>
            <a:rect b="b" l="l" r="r" t="t"/>
            <a:pathLst>
              <a:path extrusionOk="0" h="136605" w="119529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751328" y="5218314"/>
            <a:ext cx="2151529" cy="204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Helps users understand</a:t>
            </a:r>
            <a:r>
              <a:rPr lang="en-US" sz="107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their needs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37882" y="5525676"/>
            <a:ext cx="119529" cy="136605"/>
          </a:xfrm>
          <a:custGeom>
            <a:rect b="b" l="l" r="r" t="t"/>
            <a:pathLst>
              <a:path extrusionOk="0" h="136605" w="119529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/>
          <p:nvPr/>
        </p:nvSpPr>
        <p:spPr>
          <a:xfrm>
            <a:off x="751328" y="5491524"/>
            <a:ext cx="1878319" cy="204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Enables interactive</a:t>
            </a:r>
            <a:r>
              <a:rPr lang="en-US" sz="107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exploration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537882" y="5798886"/>
            <a:ext cx="119529" cy="136605"/>
          </a:xfrm>
          <a:custGeom>
            <a:rect b="b" l="l" r="r" t="t"/>
            <a:pathLst>
              <a:path extrusionOk="0" h="136605" w="119529">
                <a:moveTo>
                  <a:pt x="116008" y="18703"/>
                </a:moveTo>
                <a:cubicBezTo>
                  <a:pt x="119823" y="21478"/>
                  <a:pt x="120677" y="26814"/>
                  <a:pt x="117902" y="30629"/>
                </a:cubicBezTo>
                <a:lnTo>
                  <a:pt x="49599" y="124545"/>
                </a:lnTo>
                <a:cubicBezTo>
                  <a:pt x="48132" y="126573"/>
                  <a:pt x="45864" y="127827"/>
                  <a:pt x="43356" y="128041"/>
                </a:cubicBezTo>
                <a:cubicBezTo>
                  <a:pt x="40848" y="128254"/>
                  <a:pt x="38420" y="127320"/>
                  <a:pt x="36659" y="125559"/>
                </a:cubicBezTo>
                <a:lnTo>
                  <a:pt x="2508" y="91408"/>
                </a:lnTo>
                <a:cubicBezTo>
                  <a:pt x="-827" y="88073"/>
                  <a:pt x="-827" y="82657"/>
                  <a:pt x="2508" y="79322"/>
                </a:cubicBezTo>
                <a:cubicBezTo>
                  <a:pt x="5843" y="75987"/>
                  <a:pt x="11259" y="75987"/>
                  <a:pt x="14594" y="79322"/>
                </a:cubicBezTo>
                <a:lnTo>
                  <a:pt x="41675" y="106403"/>
                </a:lnTo>
                <a:lnTo>
                  <a:pt x="104108" y="20571"/>
                </a:lnTo>
                <a:cubicBezTo>
                  <a:pt x="106883" y="16755"/>
                  <a:pt x="112219" y="15902"/>
                  <a:pt x="116034" y="18676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751328" y="5764734"/>
            <a:ext cx="1716101" cy="204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Facilitates pattern</a:t>
            </a:r>
            <a:r>
              <a:rPr lang="en-US" sz="1076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discovery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6179457" y="1126992"/>
            <a:ext cx="5669109" cy="2595496"/>
          </a:xfrm>
          <a:custGeom>
            <a:rect b="b" l="l" r="r" t="t"/>
            <a:pathLst>
              <a:path extrusionOk="0" h="2595496" w="5669109">
                <a:moveTo>
                  <a:pt x="34151" y="0"/>
                </a:moveTo>
                <a:lnTo>
                  <a:pt x="5566665" y="0"/>
                </a:lnTo>
                <a:cubicBezTo>
                  <a:pt x="5623243" y="0"/>
                  <a:pt x="5669109" y="45866"/>
                  <a:pt x="5669109" y="102444"/>
                </a:cubicBezTo>
                <a:lnTo>
                  <a:pt x="5669109" y="2493052"/>
                </a:lnTo>
                <a:cubicBezTo>
                  <a:pt x="5669109" y="2549630"/>
                  <a:pt x="5623243" y="2595496"/>
                  <a:pt x="5566665" y="2595496"/>
                </a:cubicBezTo>
                <a:lnTo>
                  <a:pt x="34151" y="2595496"/>
                </a:lnTo>
                <a:cubicBezTo>
                  <a:pt x="15290" y="2595496"/>
                  <a:pt x="0" y="2580206"/>
                  <a:pt x="0" y="2561345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6179457" y="1126992"/>
            <a:ext cx="34151" cy="2595496"/>
          </a:xfrm>
          <a:custGeom>
            <a:rect b="b" l="l" r="r" t="t"/>
            <a:pathLst>
              <a:path extrusionOk="0" h="2595496" w="34151">
                <a:moveTo>
                  <a:pt x="34151" y="0"/>
                </a:moveTo>
                <a:lnTo>
                  <a:pt x="34151" y="0"/>
                </a:lnTo>
                <a:lnTo>
                  <a:pt x="34151" y="2595496"/>
                </a:lnTo>
                <a:lnTo>
                  <a:pt x="34151" y="2595496"/>
                </a:lnTo>
                <a:cubicBezTo>
                  <a:pt x="15290" y="2595496"/>
                  <a:pt x="0" y="2580206"/>
                  <a:pt x="0" y="2561345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6333138" y="1263597"/>
            <a:ext cx="5464202" cy="239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45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Major Challenges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6333138" y="1605109"/>
            <a:ext cx="5378824" cy="614723"/>
          </a:xfrm>
          <a:custGeom>
            <a:rect b="b" l="l" r="r" t="t"/>
            <a:pathLst>
              <a:path extrusionOk="0" h="614723" w="5378824">
                <a:moveTo>
                  <a:pt x="68302" y="0"/>
                </a:moveTo>
                <a:lnTo>
                  <a:pt x="5310522" y="0"/>
                </a:lnTo>
                <a:cubicBezTo>
                  <a:pt x="5348244" y="0"/>
                  <a:pt x="5378824" y="30580"/>
                  <a:pt x="5378824" y="68302"/>
                </a:cubicBezTo>
                <a:lnTo>
                  <a:pt x="5378824" y="546421"/>
                </a:lnTo>
                <a:cubicBezTo>
                  <a:pt x="5378824" y="584143"/>
                  <a:pt x="5348244" y="614723"/>
                  <a:pt x="5310522" y="614723"/>
                </a:cubicBezTo>
                <a:lnTo>
                  <a:pt x="68302" y="614723"/>
                </a:lnTo>
                <a:cubicBezTo>
                  <a:pt x="30580" y="614723"/>
                  <a:pt x="0" y="584143"/>
                  <a:pt x="0" y="546421"/>
                </a:cubicBezTo>
                <a:lnTo>
                  <a:pt x="0" y="68302"/>
                </a:lnTo>
                <a:cubicBezTo>
                  <a:pt x="0" y="30605"/>
                  <a:pt x="30605" y="0"/>
                  <a:pt x="68302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6435592" y="1707563"/>
            <a:ext cx="5242218" cy="204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6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Screen Real-Estate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435592" y="1946622"/>
            <a:ext cx="5233681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Limited display space for large, complex datasets.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6333138" y="2288134"/>
            <a:ext cx="5378824" cy="614723"/>
          </a:xfrm>
          <a:custGeom>
            <a:rect b="b" l="l" r="r" t="t"/>
            <a:pathLst>
              <a:path extrusionOk="0" h="614723" w="5378824">
                <a:moveTo>
                  <a:pt x="68302" y="0"/>
                </a:moveTo>
                <a:lnTo>
                  <a:pt x="5310522" y="0"/>
                </a:lnTo>
                <a:cubicBezTo>
                  <a:pt x="5348244" y="0"/>
                  <a:pt x="5378824" y="30580"/>
                  <a:pt x="5378824" y="68302"/>
                </a:cubicBezTo>
                <a:lnTo>
                  <a:pt x="5378824" y="546421"/>
                </a:lnTo>
                <a:cubicBezTo>
                  <a:pt x="5378824" y="584143"/>
                  <a:pt x="5348244" y="614723"/>
                  <a:pt x="5310522" y="614723"/>
                </a:cubicBezTo>
                <a:lnTo>
                  <a:pt x="68302" y="614723"/>
                </a:lnTo>
                <a:cubicBezTo>
                  <a:pt x="30580" y="614723"/>
                  <a:pt x="0" y="584143"/>
                  <a:pt x="0" y="546421"/>
                </a:cubicBezTo>
                <a:lnTo>
                  <a:pt x="0" y="68302"/>
                </a:lnTo>
                <a:cubicBezTo>
                  <a:pt x="0" y="30605"/>
                  <a:pt x="30605" y="0"/>
                  <a:pt x="68302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6435592" y="2390588"/>
            <a:ext cx="5242218" cy="204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6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Information Rendering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6435592" y="2629647"/>
            <a:ext cx="5233681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Presenting complex data clearly and meaningfully.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333138" y="2971160"/>
            <a:ext cx="5378824" cy="614723"/>
          </a:xfrm>
          <a:custGeom>
            <a:rect b="b" l="l" r="r" t="t"/>
            <a:pathLst>
              <a:path extrusionOk="0" h="614723" w="5378824">
                <a:moveTo>
                  <a:pt x="68302" y="0"/>
                </a:moveTo>
                <a:lnTo>
                  <a:pt x="5310522" y="0"/>
                </a:lnTo>
                <a:cubicBezTo>
                  <a:pt x="5348244" y="0"/>
                  <a:pt x="5378824" y="30580"/>
                  <a:pt x="5378824" y="68302"/>
                </a:cubicBezTo>
                <a:lnTo>
                  <a:pt x="5378824" y="546421"/>
                </a:lnTo>
                <a:cubicBezTo>
                  <a:pt x="5378824" y="584143"/>
                  <a:pt x="5348244" y="614723"/>
                  <a:pt x="5310522" y="614723"/>
                </a:cubicBezTo>
                <a:lnTo>
                  <a:pt x="68302" y="614723"/>
                </a:lnTo>
                <a:cubicBezTo>
                  <a:pt x="30580" y="614723"/>
                  <a:pt x="0" y="584143"/>
                  <a:pt x="0" y="546421"/>
                </a:cubicBezTo>
                <a:lnTo>
                  <a:pt x="0" y="68302"/>
                </a:lnTo>
                <a:cubicBezTo>
                  <a:pt x="0" y="30605"/>
                  <a:pt x="30605" y="0"/>
                  <a:pt x="68302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435592" y="3073613"/>
            <a:ext cx="5242218" cy="2049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6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Interactivity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6435592" y="3312672"/>
            <a:ext cx="5233681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Enabling user interaction to refine and explore data.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6162382" y="3824941"/>
            <a:ext cx="5686185" cy="2083227"/>
          </a:xfrm>
          <a:custGeom>
            <a:rect b="b" l="l" r="r" t="t"/>
            <a:pathLst>
              <a:path extrusionOk="0" h="2083227" w="5686185">
                <a:moveTo>
                  <a:pt x="102453" y="0"/>
                </a:moveTo>
                <a:lnTo>
                  <a:pt x="5583732" y="0"/>
                </a:lnTo>
                <a:cubicBezTo>
                  <a:pt x="5640315" y="0"/>
                  <a:pt x="5686185" y="45870"/>
                  <a:pt x="5686185" y="102453"/>
                </a:cubicBezTo>
                <a:lnTo>
                  <a:pt x="5686185" y="1980774"/>
                </a:lnTo>
                <a:cubicBezTo>
                  <a:pt x="5686185" y="2037357"/>
                  <a:pt x="5640315" y="2083227"/>
                  <a:pt x="5583732" y="2083227"/>
                </a:cubicBezTo>
                <a:lnTo>
                  <a:pt x="102453" y="2083227"/>
                </a:lnTo>
                <a:cubicBezTo>
                  <a:pt x="45870" y="2083227"/>
                  <a:pt x="0" y="2037357"/>
                  <a:pt x="0" y="1980774"/>
                </a:cubicBezTo>
                <a:lnTo>
                  <a:pt x="0" y="102453"/>
                </a:lnTo>
                <a:cubicBezTo>
                  <a:pt x="0" y="45870"/>
                  <a:pt x="45870" y="0"/>
                  <a:pt x="102453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9803"/>
                </a:srgbClr>
              </a:gs>
              <a:gs pos="100000">
                <a:srgbClr val="2D3748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6256298" y="3961546"/>
            <a:ext cx="5498353" cy="2390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45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Visualization Example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9"/>
          <p:cNvSpPr/>
          <p:nvPr/>
        </p:nvSpPr>
        <p:spPr>
          <a:xfrm>
            <a:off x="6298987" y="4303059"/>
            <a:ext cx="5412975" cy="1468504"/>
          </a:xfrm>
          <a:custGeom>
            <a:rect b="b" l="l" r="r" t="t"/>
            <a:pathLst>
              <a:path extrusionOk="0" h="1468504" w="5412975">
                <a:moveTo>
                  <a:pt x="68300" y="0"/>
                </a:moveTo>
                <a:lnTo>
                  <a:pt x="5344675" y="0"/>
                </a:lnTo>
                <a:cubicBezTo>
                  <a:pt x="5382396" y="0"/>
                  <a:pt x="5412975" y="30579"/>
                  <a:pt x="5412975" y="68300"/>
                </a:cubicBezTo>
                <a:lnTo>
                  <a:pt x="5412975" y="1400204"/>
                </a:lnTo>
                <a:cubicBezTo>
                  <a:pt x="5412975" y="1437925"/>
                  <a:pt x="5382396" y="1468504"/>
                  <a:pt x="5344675" y="1468504"/>
                </a:cubicBezTo>
                <a:lnTo>
                  <a:pt x="68300" y="1468504"/>
                </a:lnTo>
                <a:cubicBezTo>
                  <a:pt x="30579" y="1468504"/>
                  <a:pt x="0" y="1437925"/>
                  <a:pt x="0" y="1400204"/>
                </a:cubicBezTo>
                <a:lnTo>
                  <a:pt x="0" y="68300"/>
                </a:lnTo>
                <a:cubicBezTo>
                  <a:pt x="0" y="30604"/>
                  <a:pt x="30604" y="0"/>
                  <a:pt x="68300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6401441" y="4405513"/>
            <a:ext cx="5208067" cy="307361"/>
          </a:xfrm>
          <a:custGeom>
            <a:rect b="b" l="l" r="r" t="t"/>
            <a:pathLst>
              <a:path extrusionOk="0" h="307361" w="5208067">
                <a:moveTo>
                  <a:pt x="34151" y="0"/>
                </a:moveTo>
                <a:lnTo>
                  <a:pt x="5173916" y="0"/>
                </a:lnTo>
                <a:cubicBezTo>
                  <a:pt x="5192777" y="0"/>
                  <a:pt x="5208067" y="15290"/>
                  <a:pt x="5208067" y="34151"/>
                </a:cubicBezTo>
                <a:lnTo>
                  <a:pt x="5208067" y="273210"/>
                </a:lnTo>
                <a:cubicBezTo>
                  <a:pt x="5208067" y="292071"/>
                  <a:pt x="5192777" y="307361"/>
                  <a:pt x="5173916" y="307361"/>
                </a:cubicBezTo>
                <a:lnTo>
                  <a:pt x="34151" y="307361"/>
                </a:lnTo>
                <a:cubicBezTo>
                  <a:pt x="15290" y="307361"/>
                  <a:pt x="0" y="292071"/>
                  <a:pt x="0" y="273210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6469743" y="4473815"/>
            <a:ext cx="1075765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Customer Spending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164803" y="4507966"/>
            <a:ext cx="1092840" cy="102454"/>
          </a:xfrm>
          <a:custGeom>
            <a:rect b="b" l="l" r="r" t="t"/>
            <a:pathLst>
              <a:path extrusionOk="0" h="102454" w="1092840">
                <a:moveTo>
                  <a:pt x="51227" y="0"/>
                </a:moveTo>
                <a:lnTo>
                  <a:pt x="1041613" y="0"/>
                </a:lnTo>
                <a:cubicBezTo>
                  <a:pt x="1069886" y="0"/>
                  <a:pt x="1092840" y="22954"/>
                  <a:pt x="1092840" y="51227"/>
                </a:cubicBezTo>
                <a:lnTo>
                  <a:pt x="1092840" y="51227"/>
                </a:lnTo>
                <a:cubicBezTo>
                  <a:pt x="1092840" y="79500"/>
                  <a:pt x="1069886" y="102454"/>
                  <a:pt x="1041613" y="102454"/>
                </a:cubicBezTo>
                <a:lnTo>
                  <a:pt x="51227" y="102454"/>
                </a:lnTo>
                <a:cubicBezTo>
                  <a:pt x="22954" y="102454"/>
                  <a:pt x="0" y="79500"/>
                  <a:pt x="0" y="51227"/>
                </a:cubicBezTo>
                <a:lnTo>
                  <a:pt x="0" y="51227"/>
                </a:lnTo>
                <a:cubicBezTo>
                  <a:pt x="0" y="22954"/>
                  <a:pt x="22954" y="0"/>
                  <a:pt x="51227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10164803" y="4507966"/>
            <a:ext cx="785479" cy="102454"/>
          </a:xfrm>
          <a:custGeom>
            <a:rect b="b" l="l" r="r" t="t"/>
            <a:pathLst>
              <a:path extrusionOk="0" h="102454" w="785479">
                <a:moveTo>
                  <a:pt x="0" y="0"/>
                </a:moveTo>
                <a:lnTo>
                  <a:pt x="785479" y="0"/>
                </a:lnTo>
                <a:lnTo>
                  <a:pt x="785479" y="102454"/>
                </a:lnTo>
                <a:lnTo>
                  <a:pt x="0" y="102454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>
            <a:noFill/>
          </a:ln>
        </p:spPr>
      </p:sp>
      <p:sp>
        <p:nvSpPr>
          <p:cNvPr id="385" name="Google Shape;385;p9"/>
          <p:cNvSpPr/>
          <p:nvPr/>
        </p:nvSpPr>
        <p:spPr>
          <a:xfrm>
            <a:off x="11325945" y="4473815"/>
            <a:ext cx="273210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1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72%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6401441" y="4781176"/>
            <a:ext cx="5208067" cy="307361"/>
          </a:xfrm>
          <a:custGeom>
            <a:rect b="b" l="l" r="r" t="t"/>
            <a:pathLst>
              <a:path extrusionOk="0" h="307361" w="5208067">
                <a:moveTo>
                  <a:pt x="34151" y="0"/>
                </a:moveTo>
                <a:lnTo>
                  <a:pt x="5173916" y="0"/>
                </a:lnTo>
                <a:cubicBezTo>
                  <a:pt x="5192777" y="0"/>
                  <a:pt x="5208067" y="15290"/>
                  <a:pt x="5208067" y="34151"/>
                </a:cubicBezTo>
                <a:lnTo>
                  <a:pt x="5208067" y="273210"/>
                </a:lnTo>
                <a:cubicBezTo>
                  <a:pt x="5208067" y="292071"/>
                  <a:pt x="5192777" y="307361"/>
                  <a:pt x="5173916" y="307361"/>
                </a:cubicBezTo>
                <a:lnTo>
                  <a:pt x="34151" y="307361"/>
                </a:lnTo>
                <a:cubicBezTo>
                  <a:pt x="15290" y="307361"/>
                  <a:pt x="0" y="292071"/>
                  <a:pt x="0" y="273210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"/>
          <p:cNvSpPr/>
          <p:nvPr/>
        </p:nvSpPr>
        <p:spPr>
          <a:xfrm>
            <a:off x="6469743" y="4849479"/>
            <a:ext cx="657412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Satisfaction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10155305" y="4883630"/>
            <a:ext cx="1092840" cy="102454"/>
          </a:xfrm>
          <a:custGeom>
            <a:rect b="b" l="l" r="r" t="t"/>
            <a:pathLst>
              <a:path extrusionOk="0" h="102454" w="1092840">
                <a:moveTo>
                  <a:pt x="51227" y="0"/>
                </a:moveTo>
                <a:lnTo>
                  <a:pt x="1041613" y="0"/>
                </a:lnTo>
                <a:cubicBezTo>
                  <a:pt x="1069886" y="0"/>
                  <a:pt x="1092840" y="22954"/>
                  <a:pt x="1092840" y="51227"/>
                </a:cubicBezTo>
                <a:lnTo>
                  <a:pt x="1092840" y="51227"/>
                </a:lnTo>
                <a:cubicBezTo>
                  <a:pt x="1092840" y="79500"/>
                  <a:pt x="1069886" y="102454"/>
                  <a:pt x="1041613" y="102454"/>
                </a:cubicBezTo>
                <a:lnTo>
                  <a:pt x="51227" y="102454"/>
                </a:lnTo>
                <a:cubicBezTo>
                  <a:pt x="22954" y="102454"/>
                  <a:pt x="0" y="79500"/>
                  <a:pt x="0" y="51227"/>
                </a:cubicBezTo>
                <a:lnTo>
                  <a:pt x="0" y="51227"/>
                </a:lnTo>
                <a:cubicBezTo>
                  <a:pt x="0" y="22954"/>
                  <a:pt x="22954" y="0"/>
                  <a:pt x="51227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10155305" y="4883630"/>
            <a:ext cx="495193" cy="102454"/>
          </a:xfrm>
          <a:custGeom>
            <a:rect b="b" l="l" r="r" t="t"/>
            <a:pathLst>
              <a:path extrusionOk="0" h="102454" w="495193">
                <a:moveTo>
                  <a:pt x="0" y="0"/>
                </a:moveTo>
                <a:lnTo>
                  <a:pt x="495193" y="0"/>
                </a:lnTo>
                <a:lnTo>
                  <a:pt x="495193" y="102454"/>
                </a:lnTo>
                <a:lnTo>
                  <a:pt x="0" y="102454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</p:sp>
      <p:sp>
        <p:nvSpPr>
          <p:cNvPr id="390" name="Google Shape;390;p9"/>
          <p:cNvSpPr/>
          <p:nvPr/>
        </p:nvSpPr>
        <p:spPr>
          <a:xfrm>
            <a:off x="11316448" y="4849479"/>
            <a:ext cx="281748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1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45%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6401441" y="5156840"/>
            <a:ext cx="5208067" cy="307361"/>
          </a:xfrm>
          <a:custGeom>
            <a:rect b="b" l="l" r="r" t="t"/>
            <a:pathLst>
              <a:path extrusionOk="0" h="307361" w="5208067">
                <a:moveTo>
                  <a:pt x="34151" y="0"/>
                </a:moveTo>
                <a:lnTo>
                  <a:pt x="5173916" y="0"/>
                </a:lnTo>
                <a:cubicBezTo>
                  <a:pt x="5192777" y="0"/>
                  <a:pt x="5208067" y="15290"/>
                  <a:pt x="5208067" y="34151"/>
                </a:cubicBezTo>
                <a:lnTo>
                  <a:pt x="5208067" y="273210"/>
                </a:lnTo>
                <a:cubicBezTo>
                  <a:pt x="5208067" y="292071"/>
                  <a:pt x="5192777" y="307361"/>
                  <a:pt x="5173916" y="307361"/>
                </a:cubicBezTo>
                <a:lnTo>
                  <a:pt x="34151" y="307361"/>
                </a:lnTo>
                <a:cubicBezTo>
                  <a:pt x="15290" y="307361"/>
                  <a:pt x="0" y="292071"/>
                  <a:pt x="0" y="273210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6469743" y="5225143"/>
            <a:ext cx="435429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41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Loyalty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10146873" y="5259294"/>
            <a:ext cx="1092840" cy="102454"/>
          </a:xfrm>
          <a:custGeom>
            <a:rect b="b" l="l" r="r" t="t"/>
            <a:pathLst>
              <a:path extrusionOk="0" h="102454" w="1092840">
                <a:moveTo>
                  <a:pt x="51227" y="0"/>
                </a:moveTo>
                <a:lnTo>
                  <a:pt x="1041613" y="0"/>
                </a:lnTo>
                <a:cubicBezTo>
                  <a:pt x="1069886" y="0"/>
                  <a:pt x="1092840" y="22954"/>
                  <a:pt x="1092840" y="51227"/>
                </a:cubicBezTo>
                <a:lnTo>
                  <a:pt x="1092840" y="51227"/>
                </a:lnTo>
                <a:cubicBezTo>
                  <a:pt x="1092840" y="79500"/>
                  <a:pt x="1069886" y="102454"/>
                  <a:pt x="1041613" y="102454"/>
                </a:cubicBezTo>
                <a:lnTo>
                  <a:pt x="51227" y="102454"/>
                </a:lnTo>
                <a:cubicBezTo>
                  <a:pt x="22954" y="102454"/>
                  <a:pt x="0" y="79500"/>
                  <a:pt x="0" y="51227"/>
                </a:cubicBezTo>
                <a:lnTo>
                  <a:pt x="0" y="51227"/>
                </a:lnTo>
                <a:cubicBezTo>
                  <a:pt x="0" y="22954"/>
                  <a:pt x="22954" y="0"/>
                  <a:pt x="51227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10146873" y="5259294"/>
            <a:ext cx="964773" cy="102454"/>
          </a:xfrm>
          <a:custGeom>
            <a:rect b="b" l="l" r="r" t="t"/>
            <a:pathLst>
              <a:path extrusionOk="0" h="102454" w="964773">
                <a:moveTo>
                  <a:pt x="0" y="0"/>
                </a:moveTo>
                <a:lnTo>
                  <a:pt x="964773" y="0"/>
                </a:lnTo>
                <a:lnTo>
                  <a:pt x="964773" y="102454"/>
                </a:lnTo>
                <a:lnTo>
                  <a:pt x="0" y="102454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>
            <a:noFill/>
          </a:ln>
        </p:spPr>
      </p:sp>
      <p:sp>
        <p:nvSpPr>
          <p:cNvPr id="395" name="Google Shape;395;p9"/>
          <p:cNvSpPr/>
          <p:nvPr/>
        </p:nvSpPr>
        <p:spPr>
          <a:xfrm>
            <a:off x="11308016" y="5225143"/>
            <a:ext cx="290286" cy="17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1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88%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6375827" y="5532504"/>
            <a:ext cx="5259294" cy="136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7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Interactive dashboard showing customer metrics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7" name="Google Shape;3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8906" y="105968"/>
            <a:ext cx="1502714" cy="56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"/>
          <p:cNvSpPr/>
          <p:nvPr/>
        </p:nvSpPr>
        <p:spPr>
          <a:xfrm>
            <a:off x="326644" y="408305"/>
            <a:ext cx="457302" cy="457302"/>
          </a:xfrm>
          <a:custGeom>
            <a:rect b="b" l="l" r="r" t="t"/>
            <a:pathLst>
              <a:path extrusionOk="0" h="457302" w="457302">
                <a:moveTo>
                  <a:pt x="97995" y="0"/>
                </a:moveTo>
                <a:lnTo>
                  <a:pt x="359307" y="0"/>
                </a:lnTo>
                <a:cubicBezTo>
                  <a:pt x="413428" y="0"/>
                  <a:pt x="457302" y="43874"/>
                  <a:pt x="457302" y="97995"/>
                </a:cubicBezTo>
                <a:lnTo>
                  <a:pt x="457302" y="359307"/>
                </a:lnTo>
                <a:cubicBezTo>
                  <a:pt x="457302" y="413428"/>
                  <a:pt x="413428" y="457302"/>
                  <a:pt x="359307" y="457302"/>
                </a:cubicBezTo>
                <a:lnTo>
                  <a:pt x="97995" y="457302"/>
                </a:lnTo>
                <a:cubicBezTo>
                  <a:pt x="43874" y="457302"/>
                  <a:pt x="0" y="413428"/>
                  <a:pt x="0" y="359307"/>
                </a:cubicBezTo>
                <a:lnTo>
                  <a:pt x="0" y="97995"/>
                </a:lnTo>
                <a:cubicBezTo>
                  <a:pt x="0" y="43874"/>
                  <a:pt x="43874" y="0"/>
                  <a:pt x="9799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445053" y="538963"/>
            <a:ext cx="220485" cy="195987"/>
          </a:xfrm>
          <a:custGeom>
            <a:rect b="b" l="l" r="r" t="t"/>
            <a:pathLst>
              <a:path extrusionOk="0" h="195987" w="220485">
                <a:moveTo>
                  <a:pt x="216887" y="20900"/>
                </a:moveTo>
                <a:cubicBezTo>
                  <a:pt x="221672" y="16115"/>
                  <a:pt x="221672" y="8345"/>
                  <a:pt x="216887" y="3560"/>
                </a:cubicBezTo>
                <a:cubicBezTo>
                  <a:pt x="212102" y="-1225"/>
                  <a:pt x="204331" y="-1225"/>
                  <a:pt x="199547" y="3560"/>
                </a:cubicBezTo>
                <a:lnTo>
                  <a:pt x="126052" y="77055"/>
                </a:lnTo>
                <a:lnTo>
                  <a:pt x="112769" y="63772"/>
                </a:lnTo>
                <a:cubicBezTo>
                  <a:pt x="111161" y="62165"/>
                  <a:pt x="108941" y="61246"/>
                  <a:pt x="106644" y="61246"/>
                </a:cubicBezTo>
                <a:cubicBezTo>
                  <a:pt x="101859" y="61246"/>
                  <a:pt x="97993" y="65112"/>
                  <a:pt x="97993" y="69897"/>
                </a:cubicBezTo>
                <a:lnTo>
                  <a:pt x="97993" y="81036"/>
                </a:lnTo>
                <a:lnTo>
                  <a:pt x="139449" y="122492"/>
                </a:lnTo>
                <a:lnTo>
                  <a:pt x="150588" y="122492"/>
                </a:lnTo>
                <a:cubicBezTo>
                  <a:pt x="155373" y="122492"/>
                  <a:pt x="159239" y="118625"/>
                  <a:pt x="159239" y="113841"/>
                </a:cubicBezTo>
                <a:cubicBezTo>
                  <a:pt x="159239" y="111544"/>
                  <a:pt x="158320" y="109324"/>
                  <a:pt x="156713" y="107716"/>
                </a:cubicBezTo>
                <a:lnTo>
                  <a:pt x="143430" y="94433"/>
                </a:lnTo>
                <a:lnTo>
                  <a:pt x="216925" y="20938"/>
                </a:lnTo>
                <a:close/>
                <a:moveTo>
                  <a:pt x="130568" y="135277"/>
                </a:moveTo>
                <a:lnTo>
                  <a:pt x="85208" y="89917"/>
                </a:lnTo>
                <a:cubicBezTo>
                  <a:pt x="68863" y="88500"/>
                  <a:pt x="52595" y="94395"/>
                  <a:pt x="40882" y="106108"/>
                </a:cubicBezTo>
                <a:lnTo>
                  <a:pt x="37819" y="109171"/>
                </a:lnTo>
                <a:cubicBezTo>
                  <a:pt x="29283" y="117707"/>
                  <a:pt x="24498" y="129267"/>
                  <a:pt x="24498" y="141325"/>
                </a:cubicBezTo>
                <a:cubicBezTo>
                  <a:pt x="24498" y="143928"/>
                  <a:pt x="27216" y="145612"/>
                  <a:pt x="29551" y="144464"/>
                </a:cubicBezTo>
                <a:lnTo>
                  <a:pt x="49111" y="134703"/>
                </a:lnTo>
                <a:cubicBezTo>
                  <a:pt x="51025" y="133746"/>
                  <a:pt x="52748" y="136272"/>
                  <a:pt x="51179" y="137727"/>
                </a:cubicBezTo>
                <a:lnTo>
                  <a:pt x="2794" y="181211"/>
                </a:lnTo>
                <a:cubicBezTo>
                  <a:pt x="1034" y="182819"/>
                  <a:pt x="0" y="185115"/>
                  <a:pt x="0" y="187527"/>
                </a:cubicBezTo>
                <a:cubicBezTo>
                  <a:pt x="0" y="192197"/>
                  <a:pt x="3790" y="195987"/>
                  <a:pt x="8460" y="195987"/>
                </a:cubicBezTo>
                <a:lnTo>
                  <a:pt x="74796" y="195987"/>
                </a:lnTo>
                <a:cubicBezTo>
                  <a:pt x="89649" y="195987"/>
                  <a:pt x="103850" y="190092"/>
                  <a:pt x="114377" y="179603"/>
                </a:cubicBezTo>
                <a:cubicBezTo>
                  <a:pt x="126090" y="167890"/>
                  <a:pt x="131946" y="151622"/>
                  <a:pt x="130568" y="135277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914604" y="326644"/>
            <a:ext cx="3576756" cy="391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86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Data Preprocessing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914604" y="718618"/>
            <a:ext cx="3462430" cy="228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86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Overview &amp; The Need for Quality Data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333177" y="1084459"/>
            <a:ext cx="5688511" cy="1286979"/>
          </a:xfrm>
          <a:custGeom>
            <a:rect b="b" l="l" r="r" t="t"/>
            <a:pathLst>
              <a:path extrusionOk="0" h="1286979" w="5688511">
                <a:moveTo>
                  <a:pt x="97991" y="0"/>
                </a:moveTo>
                <a:lnTo>
                  <a:pt x="5590521" y="0"/>
                </a:lnTo>
                <a:cubicBezTo>
                  <a:pt x="5644639" y="0"/>
                  <a:pt x="5688511" y="43872"/>
                  <a:pt x="5688511" y="97991"/>
                </a:cubicBezTo>
                <a:lnTo>
                  <a:pt x="5688511" y="1188988"/>
                </a:lnTo>
                <a:cubicBezTo>
                  <a:pt x="5688511" y="1243107"/>
                  <a:pt x="5644639" y="1286979"/>
                  <a:pt x="5590521" y="1286979"/>
                </a:cubicBezTo>
                <a:lnTo>
                  <a:pt x="97991" y="1286979"/>
                </a:lnTo>
                <a:cubicBezTo>
                  <a:pt x="43872" y="1286979"/>
                  <a:pt x="0" y="1243107"/>
                  <a:pt x="0" y="1188988"/>
                </a:cubicBezTo>
                <a:lnTo>
                  <a:pt x="0" y="97991"/>
                </a:lnTo>
                <a:cubicBezTo>
                  <a:pt x="0" y="43908"/>
                  <a:pt x="43908" y="0"/>
                  <a:pt x="97991" y="0"/>
                </a:cubicBezTo>
                <a:close/>
              </a:path>
            </a:pathLst>
          </a:custGeom>
          <a:gradFill>
            <a:gsLst>
              <a:gs pos="0">
                <a:srgbClr val="F6AD55">
                  <a:alpha val="20000"/>
                </a:srgbClr>
              </a:gs>
              <a:gs pos="100000">
                <a:srgbClr val="2D3748"/>
              </a:gs>
            </a:gsLst>
            <a:lin ang="2700000" scaled="0"/>
          </a:gradFill>
          <a:ln cap="flat" cmpd="sng" w="203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"/>
          <p:cNvSpPr/>
          <p:nvPr/>
        </p:nvSpPr>
        <p:spPr>
          <a:xfrm>
            <a:off x="470368" y="1221651"/>
            <a:ext cx="5495791" cy="228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6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Why Preprocessing?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470368" y="1548295"/>
            <a:ext cx="5479459" cy="212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Real-world data is </a:t>
            </a:r>
            <a:r>
              <a:rPr b="1" lang="en-US" sz="1029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incomplete</a:t>
            </a: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1" lang="en-US" sz="1029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inconsistent</a:t>
            </a: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and </a:t>
            </a:r>
            <a:r>
              <a:rPr b="1" lang="en-US" sz="1029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noisy</a:t>
            </a: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470368" y="1858607"/>
            <a:ext cx="5414130" cy="375641"/>
          </a:xfrm>
          <a:custGeom>
            <a:rect b="b" l="l" r="r" t="t"/>
            <a:pathLst>
              <a:path extrusionOk="0" h="375641" w="5414130">
                <a:moveTo>
                  <a:pt x="65328" y="0"/>
                </a:moveTo>
                <a:lnTo>
                  <a:pt x="5348802" y="0"/>
                </a:lnTo>
                <a:cubicBezTo>
                  <a:pt x="5384882" y="0"/>
                  <a:pt x="5414130" y="29248"/>
                  <a:pt x="5414130" y="65328"/>
                </a:cubicBezTo>
                <a:lnTo>
                  <a:pt x="5414130" y="310313"/>
                </a:lnTo>
                <a:cubicBezTo>
                  <a:pt x="5414130" y="346393"/>
                  <a:pt x="5384882" y="375641"/>
                  <a:pt x="5348802" y="375641"/>
                </a:cubicBezTo>
                <a:lnTo>
                  <a:pt x="65328" y="375641"/>
                </a:lnTo>
                <a:cubicBezTo>
                  <a:pt x="29272" y="375641"/>
                  <a:pt x="0" y="346369"/>
                  <a:pt x="0" y="310313"/>
                </a:cubicBezTo>
                <a:lnTo>
                  <a:pt x="0" y="65328"/>
                </a:lnTo>
                <a:cubicBezTo>
                  <a:pt x="0" y="29272"/>
                  <a:pt x="29272" y="0"/>
                  <a:pt x="65328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568361" y="1956600"/>
            <a:ext cx="5283472" cy="179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9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Without preprocessing, these errors survive and </a:t>
            </a:r>
            <a:r>
              <a:rPr b="1" lang="en-US" sz="1029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detract from the quality of data mining</a:t>
            </a:r>
            <a:r>
              <a:rPr lang="en-US" sz="1029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342977" y="2475966"/>
            <a:ext cx="5691778" cy="2188517"/>
          </a:xfrm>
          <a:custGeom>
            <a:rect b="b" l="l" r="r" t="t"/>
            <a:pathLst>
              <a:path extrusionOk="0" h="2188517" w="5691778">
                <a:moveTo>
                  <a:pt x="32664" y="0"/>
                </a:moveTo>
                <a:lnTo>
                  <a:pt x="5593776" y="0"/>
                </a:lnTo>
                <a:cubicBezTo>
                  <a:pt x="5647901" y="0"/>
                  <a:pt x="5691778" y="43877"/>
                  <a:pt x="5691778" y="98002"/>
                </a:cubicBezTo>
                <a:lnTo>
                  <a:pt x="5691778" y="2090515"/>
                </a:lnTo>
                <a:cubicBezTo>
                  <a:pt x="5691778" y="2144640"/>
                  <a:pt x="5647901" y="2188517"/>
                  <a:pt x="5593776" y="2188517"/>
                </a:cubicBezTo>
                <a:lnTo>
                  <a:pt x="32664" y="2188517"/>
                </a:lnTo>
                <a:cubicBezTo>
                  <a:pt x="14624" y="2188517"/>
                  <a:pt x="0" y="2173893"/>
                  <a:pt x="0" y="2155853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342977" y="2475966"/>
            <a:ext cx="32664" cy="2188517"/>
          </a:xfrm>
          <a:custGeom>
            <a:rect b="b" l="l" r="r" t="t"/>
            <a:pathLst>
              <a:path extrusionOk="0" h="2188517" w="32664">
                <a:moveTo>
                  <a:pt x="32664" y="0"/>
                </a:moveTo>
                <a:lnTo>
                  <a:pt x="32664" y="0"/>
                </a:lnTo>
                <a:lnTo>
                  <a:pt x="32664" y="2188517"/>
                </a:lnTo>
                <a:lnTo>
                  <a:pt x="32664" y="2188517"/>
                </a:lnTo>
                <a:cubicBezTo>
                  <a:pt x="14624" y="2188517"/>
                  <a:pt x="0" y="2173893"/>
                  <a:pt x="0" y="2155853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489967" y="2606623"/>
            <a:ext cx="5495791" cy="228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6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Real-World Issues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489967" y="2933268"/>
            <a:ext cx="5414130" cy="489967"/>
          </a:xfrm>
          <a:custGeom>
            <a:rect b="b" l="l" r="r" t="t"/>
            <a:pathLst>
              <a:path extrusionOk="0" h="489967" w="5414130">
                <a:moveTo>
                  <a:pt x="32666" y="0"/>
                </a:moveTo>
                <a:lnTo>
                  <a:pt x="5381464" y="0"/>
                </a:lnTo>
                <a:cubicBezTo>
                  <a:pt x="5399505" y="0"/>
                  <a:pt x="5414130" y="14625"/>
                  <a:pt x="5414130" y="32666"/>
                </a:cubicBezTo>
                <a:lnTo>
                  <a:pt x="5414130" y="457300"/>
                </a:lnTo>
                <a:cubicBezTo>
                  <a:pt x="5414130" y="475341"/>
                  <a:pt x="5399505" y="489967"/>
                  <a:pt x="5381464" y="489967"/>
                </a:cubicBezTo>
                <a:lnTo>
                  <a:pt x="32666" y="489967"/>
                </a:lnTo>
                <a:cubicBezTo>
                  <a:pt x="14625" y="489967"/>
                  <a:pt x="0" y="475341"/>
                  <a:pt x="0" y="457300"/>
                </a:cubicBezTo>
                <a:lnTo>
                  <a:pt x="0" y="32666"/>
                </a:lnTo>
                <a:cubicBezTo>
                  <a:pt x="0" y="14625"/>
                  <a:pt x="14625" y="0"/>
                  <a:pt x="3266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571628" y="3031261"/>
            <a:ext cx="130658" cy="130658"/>
          </a:xfrm>
          <a:custGeom>
            <a:rect b="b" l="l" r="r" t="t"/>
            <a:pathLst>
              <a:path extrusionOk="0" h="130658" w="130658">
                <a:moveTo>
                  <a:pt x="65329" y="0"/>
                </a:moveTo>
                <a:cubicBezTo>
                  <a:pt x="69080" y="0"/>
                  <a:pt x="72525" y="2067"/>
                  <a:pt x="74312" y="5359"/>
                </a:cubicBezTo>
                <a:lnTo>
                  <a:pt x="129433" y="107435"/>
                </a:lnTo>
                <a:cubicBezTo>
                  <a:pt x="131143" y="110600"/>
                  <a:pt x="131066" y="114428"/>
                  <a:pt x="129229" y="117515"/>
                </a:cubicBezTo>
                <a:cubicBezTo>
                  <a:pt x="127391" y="120603"/>
                  <a:pt x="124048" y="122492"/>
                  <a:pt x="120450" y="122492"/>
                </a:cubicBezTo>
                <a:lnTo>
                  <a:pt x="10208" y="122492"/>
                </a:lnTo>
                <a:cubicBezTo>
                  <a:pt x="6609" y="122492"/>
                  <a:pt x="3292" y="120603"/>
                  <a:pt x="1429" y="117515"/>
                </a:cubicBezTo>
                <a:cubicBezTo>
                  <a:pt x="-434" y="114428"/>
                  <a:pt x="-485" y="110600"/>
                  <a:pt x="1225" y="107435"/>
                </a:cubicBezTo>
                <a:lnTo>
                  <a:pt x="56346" y="5359"/>
                </a:lnTo>
                <a:cubicBezTo>
                  <a:pt x="58132" y="2067"/>
                  <a:pt x="61578" y="0"/>
                  <a:pt x="65329" y="0"/>
                </a:cubicBezTo>
                <a:close/>
                <a:moveTo>
                  <a:pt x="65329" y="42872"/>
                </a:moveTo>
                <a:cubicBezTo>
                  <a:pt x="61935" y="42872"/>
                  <a:pt x="59204" y="45603"/>
                  <a:pt x="59204" y="48997"/>
                </a:cubicBezTo>
                <a:lnTo>
                  <a:pt x="59204" y="77578"/>
                </a:lnTo>
                <a:cubicBezTo>
                  <a:pt x="59204" y="80972"/>
                  <a:pt x="61935" y="83703"/>
                  <a:pt x="65329" y="83703"/>
                </a:cubicBezTo>
                <a:cubicBezTo>
                  <a:pt x="68723" y="83703"/>
                  <a:pt x="71453" y="80972"/>
                  <a:pt x="71453" y="77578"/>
                </a:cubicBezTo>
                <a:lnTo>
                  <a:pt x="71453" y="48997"/>
                </a:lnTo>
                <a:cubicBezTo>
                  <a:pt x="71453" y="45603"/>
                  <a:pt x="68723" y="42872"/>
                  <a:pt x="65329" y="42872"/>
                </a:cubicBezTo>
                <a:close/>
                <a:moveTo>
                  <a:pt x="72142" y="97993"/>
                </a:moveTo>
                <a:cubicBezTo>
                  <a:pt x="72297" y="95464"/>
                  <a:pt x="71036" y="93058"/>
                  <a:pt x="68868" y="91746"/>
                </a:cubicBezTo>
                <a:cubicBezTo>
                  <a:pt x="66700" y="90435"/>
                  <a:pt x="63983" y="90435"/>
                  <a:pt x="61815" y="91746"/>
                </a:cubicBezTo>
                <a:cubicBezTo>
                  <a:pt x="59647" y="93058"/>
                  <a:pt x="58386" y="95464"/>
                  <a:pt x="58541" y="97993"/>
                </a:cubicBezTo>
                <a:cubicBezTo>
                  <a:pt x="58386" y="100522"/>
                  <a:pt x="59647" y="102929"/>
                  <a:pt x="61815" y="104240"/>
                </a:cubicBezTo>
                <a:cubicBezTo>
                  <a:pt x="63983" y="105552"/>
                  <a:pt x="66700" y="105552"/>
                  <a:pt x="68868" y="104240"/>
                </a:cubicBezTo>
                <a:cubicBezTo>
                  <a:pt x="71036" y="102929"/>
                  <a:pt x="72297" y="100522"/>
                  <a:pt x="72142" y="97993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783946" y="2998597"/>
            <a:ext cx="1698551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Missing Values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783946" y="3194583"/>
            <a:ext cx="1690384" cy="163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Incomplete records, empty fields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489967" y="3488563"/>
            <a:ext cx="5414130" cy="489967"/>
          </a:xfrm>
          <a:custGeom>
            <a:rect b="b" l="l" r="r" t="t"/>
            <a:pathLst>
              <a:path extrusionOk="0" h="489967" w="5414130">
                <a:moveTo>
                  <a:pt x="32666" y="0"/>
                </a:moveTo>
                <a:lnTo>
                  <a:pt x="5381464" y="0"/>
                </a:lnTo>
                <a:cubicBezTo>
                  <a:pt x="5399505" y="0"/>
                  <a:pt x="5414130" y="14625"/>
                  <a:pt x="5414130" y="32666"/>
                </a:cubicBezTo>
                <a:lnTo>
                  <a:pt x="5414130" y="457300"/>
                </a:lnTo>
                <a:cubicBezTo>
                  <a:pt x="5414130" y="475341"/>
                  <a:pt x="5399505" y="489967"/>
                  <a:pt x="5381464" y="489967"/>
                </a:cubicBezTo>
                <a:lnTo>
                  <a:pt x="32666" y="489967"/>
                </a:lnTo>
                <a:cubicBezTo>
                  <a:pt x="14625" y="489967"/>
                  <a:pt x="0" y="475341"/>
                  <a:pt x="0" y="457300"/>
                </a:cubicBezTo>
                <a:lnTo>
                  <a:pt x="0" y="32666"/>
                </a:lnTo>
                <a:cubicBezTo>
                  <a:pt x="0" y="14625"/>
                  <a:pt x="14625" y="0"/>
                  <a:pt x="3266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571628" y="3586556"/>
            <a:ext cx="130658" cy="130658"/>
          </a:xfrm>
          <a:custGeom>
            <a:rect b="b" l="l" r="r" t="t"/>
            <a:pathLst>
              <a:path extrusionOk="0" h="130658" w="130658">
                <a:moveTo>
                  <a:pt x="65329" y="0"/>
                </a:moveTo>
                <a:cubicBezTo>
                  <a:pt x="69080" y="0"/>
                  <a:pt x="72525" y="2067"/>
                  <a:pt x="74312" y="5359"/>
                </a:cubicBezTo>
                <a:lnTo>
                  <a:pt x="129433" y="107435"/>
                </a:lnTo>
                <a:cubicBezTo>
                  <a:pt x="131143" y="110600"/>
                  <a:pt x="131066" y="114428"/>
                  <a:pt x="129229" y="117515"/>
                </a:cubicBezTo>
                <a:cubicBezTo>
                  <a:pt x="127391" y="120603"/>
                  <a:pt x="124048" y="122492"/>
                  <a:pt x="120450" y="122492"/>
                </a:cubicBezTo>
                <a:lnTo>
                  <a:pt x="10208" y="122492"/>
                </a:lnTo>
                <a:cubicBezTo>
                  <a:pt x="6609" y="122492"/>
                  <a:pt x="3292" y="120603"/>
                  <a:pt x="1429" y="117515"/>
                </a:cubicBezTo>
                <a:cubicBezTo>
                  <a:pt x="-434" y="114428"/>
                  <a:pt x="-485" y="110600"/>
                  <a:pt x="1225" y="107435"/>
                </a:cubicBezTo>
                <a:lnTo>
                  <a:pt x="56346" y="5359"/>
                </a:lnTo>
                <a:cubicBezTo>
                  <a:pt x="58132" y="2067"/>
                  <a:pt x="61578" y="0"/>
                  <a:pt x="65329" y="0"/>
                </a:cubicBezTo>
                <a:close/>
                <a:moveTo>
                  <a:pt x="65329" y="42872"/>
                </a:moveTo>
                <a:cubicBezTo>
                  <a:pt x="61935" y="42872"/>
                  <a:pt x="59204" y="45603"/>
                  <a:pt x="59204" y="48997"/>
                </a:cubicBezTo>
                <a:lnTo>
                  <a:pt x="59204" y="77578"/>
                </a:lnTo>
                <a:cubicBezTo>
                  <a:pt x="59204" y="80972"/>
                  <a:pt x="61935" y="83703"/>
                  <a:pt x="65329" y="83703"/>
                </a:cubicBezTo>
                <a:cubicBezTo>
                  <a:pt x="68723" y="83703"/>
                  <a:pt x="71453" y="80972"/>
                  <a:pt x="71453" y="77578"/>
                </a:cubicBezTo>
                <a:lnTo>
                  <a:pt x="71453" y="48997"/>
                </a:lnTo>
                <a:cubicBezTo>
                  <a:pt x="71453" y="45603"/>
                  <a:pt x="68723" y="42872"/>
                  <a:pt x="65329" y="42872"/>
                </a:cubicBezTo>
                <a:close/>
                <a:moveTo>
                  <a:pt x="72142" y="97993"/>
                </a:moveTo>
                <a:cubicBezTo>
                  <a:pt x="72297" y="95464"/>
                  <a:pt x="71036" y="93058"/>
                  <a:pt x="68868" y="91746"/>
                </a:cubicBezTo>
                <a:cubicBezTo>
                  <a:pt x="66700" y="90435"/>
                  <a:pt x="63983" y="90435"/>
                  <a:pt x="61815" y="91746"/>
                </a:cubicBezTo>
                <a:cubicBezTo>
                  <a:pt x="59647" y="93058"/>
                  <a:pt x="58386" y="95464"/>
                  <a:pt x="58541" y="97993"/>
                </a:cubicBezTo>
                <a:cubicBezTo>
                  <a:pt x="58386" y="100522"/>
                  <a:pt x="59647" y="102929"/>
                  <a:pt x="61815" y="104240"/>
                </a:cubicBezTo>
                <a:cubicBezTo>
                  <a:pt x="63983" y="105552"/>
                  <a:pt x="66700" y="105552"/>
                  <a:pt x="68868" y="104240"/>
                </a:cubicBezTo>
                <a:cubicBezTo>
                  <a:pt x="71036" y="102929"/>
                  <a:pt x="72297" y="100522"/>
                  <a:pt x="72142" y="97993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783946" y="3553892"/>
            <a:ext cx="2074192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Inconsistencies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783946" y="3749879"/>
            <a:ext cx="2066025" cy="163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Conflicting information, different formats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489967" y="4043859"/>
            <a:ext cx="5414130" cy="489967"/>
          </a:xfrm>
          <a:custGeom>
            <a:rect b="b" l="l" r="r" t="t"/>
            <a:pathLst>
              <a:path extrusionOk="0" h="489967" w="5414130">
                <a:moveTo>
                  <a:pt x="32666" y="0"/>
                </a:moveTo>
                <a:lnTo>
                  <a:pt x="5381464" y="0"/>
                </a:lnTo>
                <a:cubicBezTo>
                  <a:pt x="5399505" y="0"/>
                  <a:pt x="5414130" y="14625"/>
                  <a:pt x="5414130" y="32666"/>
                </a:cubicBezTo>
                <a:lnTo>
                  <a:pt x="5414130" y="457300"/>
                </a:lnTo>
                <a:cubicBezTo>
                  <a:pt x="5414130" y="475341"/>
                  <a:pt x="5399505" y="489967"/>
                  <a:pt x="5381464" y="489967"/>
                </a:cubicBezTo>
                <a:lnTo>
                  <a:pt x="32666" y="489967"/>
                </a:lnTo>
                <a:cubicBezTo>
                  <a:pt x="14625" y="489967"/>
                  <a:pt x="0" y="475341"/>
                  <a:pt x="0" y="457300"/>
                </a:cubicBezTo>
                <a:lnTo>
                  <a:pt x="0" y="32666"/>
                </a:lnTo>
                <a:cubicBezTo>
                  <a:pt x="0" y="14625"/>
                  <a:pt x="14625" y="0"/>
                  <a:pt x="3266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571628" y="4141852"/>
            <a:ext cx="130658" cy="130658"/>
          </a:xfrm>
          <a:custGeom>
            <a:rect b="b" l="l" r="r" t="t"/>
            <a:pathLst>
              <a:path extrusionOk="0" h="130658" w="130658">
                <a:moveTo>
                  <a:pt x="65329" y="0"/>
                </a:moveTo>
                <a:cubicBezTo>
                  <a:pt x="69080" y="0"/>
                  <a:pt x="72525" y="2067"/>
                  <a:pt x="74312" y="5359"/>
                </a:cubicBezTo>
                <a:lnTo>
                  <a:pt x="129433" y="107435"/>
                </a:lnTo>
                <a:cubicBezTo>
                  <a:pt x="131143" y="110600"/>
                  <a:pt x="131066" y="114428"/>
                  <a:pt x="129229" y="117515"/>
                </a:cubicBezTo>
                <a:cubicBezTo>
                  <a:pt x="127391" y="120603"/>
                  <a:pt x="124048" y="122492"/>
                  <a:pt x="120450" y="122492"/>
                </a:cubicBezTo>
                <a:lnTo>
                  <a:pt x="10208" y="122492"/>
                </a:lnTo>
                <a:cubicBezTo>
                  <a:pt x="6609" y="122492"/>
                  <a:pt x="3292" y="120603"/>
                  <a:pt x="1429" y="117515"/>
                </a:cubicBezTo>
                <a:cubicBezTo>
                  <a:pt x="-434" y="114428"/>
                  <a:pt x="-485" y="110600"/>
                  <a:pt x="1225" y="107435"/>
                </a:cubicBezTo>
                <a:lnTo>
                  <a:pt x="56346" y="5359"/>
                </a:lnTo>
                <a:cubicBezTo>
                  <a:pt x="58132" y="2067"/>
                  <a:pt x="61578" y="0"/>
                  <a:pt x="65329" y="0"/>
                </a:cubicBezTo>
                <a:close/>
                <a:moveTo>
                  <a:pt x="65329" y="42872"/>
                </a:moveTo>
                <a:cubicBezTo>
                  <a:pt x="61935" y="42872"/>
                  <a:pt x="59204" y="45603"/>
                  <a:pt x="59204" y="48997"/>
                </a:cubicBezTo>
                <a:lnTo>
                  <a:pt x="59204" y="77578"/>
                </a:lnTo>
                <a:cubicBezTo>
                  <a:pt x="59204" y="80972"/>
                  <a:pt x="61935" y="83703"/>
                  <a:pt x="65329" y="83703"/>
                </a:cubicBezTo>
                <a:cubicBezTo>
                  <a:pt x="68723" y="83703"/>
                  <a:pt x="71453" y="80972"/>
                  <a:pt x="71453" y="77578"/>
                </a:cubicBezTo>
                <a:lnTo>
                  <a:pt x="71453" y="48997"/>
                </a:lnTo>
                <a:cubicBezTo>
                  <a:pt x="71453" y="45603"/>
                  <a:pt x="68723" y="42872"/>
                  <a:pt x="65329" y="42872"/>
                </a:cubicBezTo>
                <a:close/>
                <a:moveTo>
                  <a:pt x="72142" y="97993"/>
                </a:moveTo>
                <a:cubicBezTo>
                  <a:pt x="72297" y="95464"/>
                  <a:pt x="71036" y="93058"/>
                  <a:pt x="68868" y="91746"/>
                </a:cubicBezTo>
                <a:cubicBezTo>
                  <a:pt x="66700" y="90435"/>
                  <a:pt x="63983" y="90435"/>
                  <a:pt x="61815" y="91746"/>
                </a:cubicBezTo>
                <a:cubicBezTo>
                  <a:pt x="59647" y="93058"/>
                  <a:pt x="58386" y="95464"/>
                  <a:pt x="58541" y="97993"/>
                </a:cubicBezTo>
                <a:cubicBezTo>
                  <a:pt x="58386" y="100522"/>
                  <a:pt x="59647" y="102929"/>
                  <a:pt x="61815" y="104240"/>
                </a:cubicBezTo>
                <a:cubicBezTo>
                  <a:pt x="63983" y="105552"/>
                  <a:pt x="66700" y="105552"/>
                  <a:pt x="68868" y="104240"/>
                </a:cubicBezTo>
                <a:cubicBezTo>
                  <a:pt x="71036" y="102929"/>
                  <a:pt x="72297" y="100522"/>
                  <a:pt x="72142" y="97993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783946" y="4109187"/>
            <a:ext cx="2319175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Noise &amp; Errors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783946" y="4305174"/>
            <a:ext cx="2311009" cy="163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 errors, outliers, faulty measurements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342977" y="4762476"/>
            <a:ext cx="5691778" cy="979933"/>
          </a:xfrm>
          <a:custGeom>
            <a:rect b="b" l="l" r="r" t="t"/>
            <a:pathLst>
              <a:path extrusionOk="0" h="979933" w="5691778">
                <a:moveTo>
                  <a:pt x="32664" y="0"/>
                </a:moveTo>
                <a:lnTo>
                  <a:pt x="5626445" y="0"/>
                </a:lnTo>
                <a:cubicBezTo>
                  <a:pt x="5662527" y="0"/>
                  <a:pt x="5691778" y="29250"/>
                  <a:pt x="5691778" y="65332"/>
                </a:cubicBezTo>
                <a:lnTo>
                  <a:pt x="5691778" y="914601"/>
                </a:lnTo>
                <a:cubicBezTo>
                  <a:pt x="5691778" y="950683"/>
                  <a:pt x="5662527" y="979933"/>
                  <a:pt x="5626445" y="979933"/>
                </a:cubicBezTo>
                <a:lnTo>
                  <a:pt x="32664" y="979933"/>
                </a:lnTo>
                <a:cubicBezTo>
                  <a:pt x="14624" y="979933"/>
                  <a:pt x="0" y="965309"/>
                  <a:pt x="0" y="94726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"/>
          <p:cNvSpPr/>
          <p:nvPr/>
        </p:nvSpPr>
        <p:spPr>
          <a:xfrm>
            <a:off x="342977" y="4762476"/>
            <a:ext cx="32664" cy="979933"/>
          </a:xfrm>
          <a:custGeom>
            <a:rect b="b" l="l" r="r" t="t"/>
            <a:pathLst>
              <a:path extrusionOk="0" h="979933" w="32664">
                <a:moveTo>
                  <a:pt x="32664" y="0"/>
                </a:moveTo>
                <a:lnTo>
                  <a:pt x="32664" y="0"/>
                </a:lnTo>
                <a:lnTo>
                  <a:pt x="32664" y="979933"/>
                </a:lnTo>
                <a:lnTo>
                  <a:pt x="32664" y="979933"/>
                </a:lnTo>
                <a:cubicBezTo>
                  <a:pt x="14624" y="979933"/>
                  <a:pt x="0" y="965309"/>
                  <a:pt x="0" y="947269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489967" y="4893134"/>
            <a:ext cx="5487625" cy="228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7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Preprocessing is Essential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489967" y="5187114"/>
            <a:ext cx="5479459" cy="42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29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proven method to resolve data quality issues and transform raw data into a format suitable for mining.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6178988" y="1077926"/>
            <a:ext cx="5691778" cy="3005128"/>
          </a:xfrm>
          <a:custGeom>
            <a:rect b="b" l="l" r="r" t="t"/>
            <a:pathLst>
              <a:path extrusionOk="0" h="3005128" w="5691778">
                <a:moveTo>
                  <a:pt x="32664" y="0"/>
                </a:moveTo>
                <a:lnTo>
                  <a:pt x="5593780" y="0"/>
                </a:lnTo>
                <a:cubicBezTo>
                  <a:pt x="5647903" y="0"/>
                  <a:pt x="5691778" y="43875"/>
                  <a:pt x="5691778" y="97997"/>
                </a:cubicBezTo>
                <a:lnTo>
                  <a:pt x="5691778" y="2907131"/>
                </a:lnTo>
                <a:cubicBezTo>
                  <a:pt x="5691778" y="2961253"/>
                  <a:pt x="5647903" y="3005128"/>
                  <a:pt x="5593780" y="3005128"/>
                </a:cubicBezTo>
                <a:lnTo>
                  <a:pt x="32664" y="3005128"/>
                </a:lnTo>
                <a:cubicBezTo>
                  <a:pt x="14636" y="3005128"/>
                  <a:pt x="0" y="2990491"/>
                  <a:pt x="0" y="2972463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6178988" y="1077926"/>
            <a:ext cx="32664" cy="3005128"/>
          </a:xfrm>
          <a:custGeom>
            <a:rect b="b" l="l" r="r" t="t"/>
            <a:pathLst>
              <a:path extrusionOk="0" h="3005128" w="32664">
                <a:moveTo>
                  <a:pt x="32664" y="0"/>
                </a:moveTo>
                <a:lnTo>
                  <a:pt x="32664" y="0"/>
                </a:lnTo>
                <a:lnTo>
                  <a:pt x="32664" y="3005128"/>
                </a:lnTo>
                <a:lnTo>
                  <a:pt x="32664" y="3005128"/>
                </a:lnTo>
                <a:cubicBezTo>
                  <a:pt x="14624" y="3005128"/>
                  <a:pt x="0" y="2990504"/>
                  <a:pt x="0" y="2972463"/>
                </a:cubicBezTo>
                <a:lnTo>
                  <a:pt x="0" y="32664"/>
                </a:lnTo>
                <a:cubicBezTo>
                  <a:pt x="0" y="14636"/>
                  <a:pt x="14636" y="0"/>
                  <a:pt x="32664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0"/>
          <p:cNvSpPr/>
          <p:nvPr/>
        </p:nvSpPr>
        <p:spPr>
          <a:xfrm>
            <a:off x="6276982" y="1208584"/>
            <a:ext cx="5512123" cy="2613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3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Data Quality Measures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6325978" y="1574326"/>
            <a:ext cx="2670317" cy="749649"/>
          </a:xfrm>
          <a:custGeom>
            <a:rect b="b" l="l" r="r" t="t"/>
            <a:pathLst>
              <a:path extrusionOk="0" h="749649" w="2670317">
                <a:moveTo>
                  <a:pt x="13066" y="0"/>
                </a:moveTo>
                <a:lnTo>
                  <a:pt x="2657252" y="0"/>
                </a:lnTo>
                <a:cubicBezTo>
                  <a:pt x="2664468" y="0"/>
                  <a:pt x="2670317" y="5850"/>
                  <a:pt x="2670317" y="13066"/>
                </a:cubicBezTo>
                <a:lnTo>
                  <a:pt x="2670317" y="684317"/>
                </a:lnTo>
                <a:cubicBezTo>
                  <a:pt x="2670317" y="720399"/>
                  <a:pt x="2641067" y="749649"/>
                  <a:pt x="2604986" y="749649"/>
                </a:cubicBezTo>
                <a:lnTo>
                  <a:pt x="65332" y="749649"/>
                </a:lnTo>
                <a:cubicBezTo>
                  <a:pt x="29250" y="749649"/>
                  <a:pt x="0" y="720399"/>
                  <a:pt x="0" y="684317"/>
                </a:cubicBezTo>
                <a:lnTo>
                  <a:pt x="0" y="13066"/>
                </a:lnTo>
                <a:cubicBezTo>
                  <a:pt x="0" y="5855"/>
                  <a:pt x="5855" y="0"/>
                  <a:pt x="1306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0"/>
          <p:cNvSpPr/>
          <p:nvPr/>
        </p:nvSpPr>
        <p:spPr>
          <a:xfrm>
            <a:off x="6325978" y="1574326"/>
            <a:ext cx="2670317" cy="13066"/>
          </a:xfrm>
          <a:custGeom>
            <a:rect b="b" l="l" r="r" t="t"/>
            <a:pathLst>
              <a:path extrusionOk="0" h="13066" w="2670317">
                <a:moveTo>
                  <a:pt x="13066" y="0"/>
                </a:moveTo>
                <a:lnTo>
                  <a:pt x="2657252" y="0"/>
                </a:lnTo>
                <a:cubicBezTo>
                  <a:pt x="2664468" y="0"/>
                  <a:pt x="2670317" y="5850"/>
                  <a:pt x="2670317" y="13066"/>
                </a:cubicBezTo>
                <a:lnTo>
                  <a:pt x="2670317" y="13066"/>
                </a:lnTo>
                <a:lnTo>
                  <a:pt x="0" y="13066"/>
                </a:lnTo>
                <a:lnTo>
                  <a:pt x="0" y="13066"/>
                </a:lnTo>
                <a:cubicBezTo>
                  <a:pt x="0" y="5855"/>
                  <a:pt x="5855" y="0"/>
                  <a:pt x="13066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0"/>
          <p:cNvSpPr/>
          <p:nvPr/>
        </p:nvSpPr>
        <p:spPr>
          <a:xfrm>
            <a:off x="6423972" y="1678849"/>
            <a:ext cx="2539660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9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Accuracy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6423972" y="1907500"/>
            <a:ext cx="2531494" cy="318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Correct values, free from human or computer errors.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9064279" y="1574326"/>
            <a:ext cx="2670317" cy="749649"/>
          </a:xfrm>
          <a:custGeom>
            <a:rect b="b" l="l" r="r" t="t"/>
            <a:pathLst>
              <a:path extrusionOk="0" h="749649" w="2670317">
                <a:moveTo>
                  <a:pt x="13066" y="0"/>
                </a:moveTo>
                <a:lnTo>
                  <a:pt x="2657252" y="0"/>
                </a:lnTo>
                <a:cubicBezTo>
                  <a:pt x="2664468" y="0"/>
                  <a:pt x="2670317" y="5850"/>
                  <a:pt x="2670317" y="13066"/>
                </a:cubicBezTo>
                <a:lnTo>
                  <a:pt x="2670317" y="684317"/>
                </a:lnTo>
                <a:cubicBezTo>
                  <a:pt x="2670317" y="720399"/>
                  <a:pt x="2641067" y="749649"/>
                  <a:pt x="2604986" y="749649"/>
                </a:cubicBezTo>
                <a:lnTo>
                  <a:pt x="65332" y="749649"/>
                </a:lnTo>
                <a:cubicBezTo>
                  <a:pt x="29250" y="749649"/>
                  <a:pt x="0" y="720399"/>
                  <a:pt x="0" y="684317"/>
                </a:cubicBezTo>
                <a:lnTo>
                  <a:pt x="0" y="13066"/>
                </a:lnTo>
                <a:cubicBezTo>
                  <a:pt x="0" y="5855"/>
                  <a:pt x="5855" y="0"/>
                  <a:pt x="1306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0"/>
          <p:cNvSpPr/>
          <p:nvPr/>
        </p:nvSpPr>
        <p:spPr>
          <a:xfrm>
            <a:off x="9064279" y="1574326"/>
            <a:ext cx="2670317" cy="13066"/>
          </a:xfrm>
          <a:custGeom>
            <a:rect b="b" l="l" r="r" t="t"/>
            <a:pathLst>
              <a:path extrusionOk="0" h="13066" w="2670317">
                <a:moveTo>
                  <a:pt x="13066" y="0"/>
                </a:moveTo>
                <a:lnTo>
                  <a:pt x="2657252" y="0"/>
                </a:lnTo>
                <a:cubicBezTo>
                  <a:pt x="2664468" y="0"/>
                  <a:pt x="2670317" y="5850"/>
                  <a:pt x="2670317" y="13066"/>
                </a:cubicBezTo>
                <a:lnTo>
                  <a:pt x="2670317" y="13066"/>
                </a:lnTo>
                <a:lnTo>
                  <a:pt x="0" y="13066"/>
                </a:lnTo>
                <a:lnTo>
                  <a:pt x="0" y="13066"/>
                </a:lnTo>
                <a:cubicBezTo>
                  <a:pt x="0" y="5855"/>
                  <a:pt x="5855" y="0"/>
                  <a:pt x="13066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9162272" y="1678849"/>
            <a:ext cx="2539660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9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Completeness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9162272" y="1907500"/>
            <a:ext cx="2531494" cy="318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relevant data present, not missing key attributes.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6325978" y="2391750"/>
            <a:ext cx="2670317" cy="749649"/>
          </a:xfrm>
          <a:custGeom>
            <a:rect b="b" l="l" r="r" t="t"/>
            <a:pathLst>
              <a:path extrusionOk="0" h="749649" w="2670317">
                <a:moveTo>
                  <a:pt x="13066" y="0"/>
                </a:moveTo>
                <a:lnTo>
                  <a:pt x="2657252" y="0"/>
                </a:lnTo>
                <a:cubicBezTo>
                  <a:pt x="2664468" y="0"/>
                  <a:pt x="2670317" y="5850"/>
                  <a:pt x="2670317" y="13066"/>
                </a:cubicBezTo>
                <a:lnTo>
                  <a:pt x="2670317" y="684317"/>
                </a:lnTo>
                <a:cubicBezTo>
                  <a:pt x="2670317" y="720399"/>
                  <a:pt x="2641067" y="749649"/>
                  <a:pt x="2604986" y="749649"/>
                </a:cubicBezTo>
                <a:lnTo>
                  <a:pt x="65332" y="749649"/>
                </a:lnTo>
                <a:cubicBezTo>
                  <a:pt x="29250" y="749649"/>
                  <a:pt x="0" y="720399"/>
                  <a:pt x="0" y="684317"/>
                </a:cubicBezTo>
                <a:lnTo>
                  <a:pt x="0" y="13066"/>
                </a:lnTo>
                <a:cubicBezTo>
                  <a:pt x="0" y="5855"/>
                  <a:pt x="5855" y="0"/>
                  <a:pt x="1306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6325978" y="2391750"/>
            <a:ext cx="2670317" cy="13066"/>
          </a:xfrm>
          <a:custGeom>
            <a:rect b="b" l="l" r="r" t="t"/>
            <a:pathLst>
              <a:path extrusionOk="0" h="13066" w="2670317">
                <a:moveTo>
                  <a:pt x="13066" y="0"/>
                </a:moveTo>
                <a:lnTo>
                  <a:pt x="2657252" y="0"/>
                </a:lnTo>
                <a:cubicBezTo>
                  <a:pt x="2664468" y="0"/>
                  <a:pt x="2670317" y="5850"/>
                  <a:pt x="2670317" y="13066"/>
                </a:cubicBezTo>
                <a:lnTo>
                  <a:pt x="2670317" y="13066"/>
                </a:lnTo>
                <a:lnTo>
                  <a:pt x="0" y="13066"/>
                </a:lnTo>
                <a:lnTo>
                  <a:pt x="0" y="13066"/>
                </a:lnTo>
                <a:cubicBezTo>
                  <a:pt x="0" y="5855"/>
                  <a:pt x="5855" y="0"/>
                  <a:pt x="13066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6423972" y="2496277"/>
            <a:ext cx="2539660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9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Consistency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6423972" y="2724928"/>
            <a:ext cx="2531494" cy="318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Uniform naming conventions and data codes across sources.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9064279" y="2391750"/>
            <a:ext cx="2670317" cy="749649"/>
          </a:xfrm>
          <a:custGeom>
            <a:rect b="b" l="l" r="r" t="t"/>
            <a:pathLst>
              <a:path extrusionOk="0" h="749649" w="2670317">
                <a:moveTo>
                  <a:pt x="13066" y="0"/>
                </a:moveTo>
                <a:lnTo>
                  <a:pt x="2657252" y="0"/>
                </a:lnTo>
                <a:cubicBezTo>
                  <a:pt x="2664468" y="0"/>
                  <a:pt x="2670317" y="5850"/>
                  <a:pt x="2670317" y="13066"/>
                </a:cubicBezTo>
                <a:lnTo>
                  <a:pt x="2670317" y="684317"/>
                </a:lnTo>
                <a:cubicBezTo>
                  <a:pt x="2670317" y="720399"/>
                  <a:pt x="2641067" y="749649"/>
                  <a:pt x="2604986" y="749649"/>
                </a:cubicBezTo>
                <a:lnTo>
                  <a:pt x="65332" y="749649"/>
                </a:lnTo>
                <a:cubicBezTo>
                  <a:pt x="29250" y="749649"/>
                  <a:pt x="0" y="720399"/>
                  <a:pt x="0" y="684317"/>
                </a:cubicBezTo>
                <a:lnTo>
                  <a:pt x="0" y="13066"/>
                </a:lnTo>
                <a:cubicBezTo>
                  <a:pt x="0" y="5855"/>
                  <a:pt x="5855" y="0"/>
                  <a:pt x="1306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0"/>
          <p:cNvSpPr/>
          <p:nvPr/>
        </p:nvSpPr>
        <p:spPr>
          <a:xfrm>
            <a:off x="9064279" y="2391750"/>
            <a:ext cx="2670317" cy="13066"/>
          </a:xfrm>
          <a:custGeom>
            <a:rect b="b" l="l" r="r" t="t"/>
            <a:pathLst>
              <a:path extrusionOk="0" h="13066" w="2670317">
                <a:moveTo>
                  <a:pt x="13066" y="0"/>
                </a:moveTo>
                <a:lnTo>
                  <a:pt x="2657252" y="0"/>
                </a:lnTo>
                <a:cubicBezTo>
                  <a:pt x="2664468" y="0"/>
                  <a:pt x="2670317" y="5850"/>
                  <a:pt x="2670317" y="13066"/>
                </a:cubicBezTo>
                <a:lnTo>
                  <a:pt x="2670317" y="13066"/>
                </a:lnTo>
                <a:lnTo>
                  <a:pt x="0" y="13066"/>
                </a:lnTo>
                <a:lnTo>
                  <a:pt x="0" y="13066"/>
                </a:lnTo>
                <a:cubicBezTo>
                  <a:pt x="0" y="5855"/>
                  <a:pt x="5855" y="0"/>
                  <a:pt x="13066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9162272" y="2496277"/>
            <a:ext cx="2539660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9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Timeliness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9162272" y="2724928"/>
            <a:ext cx="2531494" cy="318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is up-to-date and current for analysis purposes.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6325978" y="3209179"/>
            <a:ext cx="2670317" cy="749649"/>
          </a:xfrm>
          <a:custGeom>
            <a:rect b="b" l="l" r="r" t="t"/>
            <a:pathLst>
              <a:path extrusionOk="0" h="749649" w="2670317">
                <a:moveTo>
                  <a:pt x="13066" y="0"/>
                </a:moveTo>
                <a:lnTo>
                  <a:pt x="2657252" y="0"/>
                </a:lnTo>
                <a:cubicBezTo>
                  <a:pt x="2664468" y="0"/>
                  <a:pt x="2670317" y="5850"/>
                  <a:pt x="2670317" y="13066"/>
                </a:cubicBezTo>
                <a:lnTo>
                  <a:pt x="2670317" y="684317"/>
                </a:lnTo>
                <a:cubicBezTo>
                  <a:pt x="2670317" y="720399"/>
                  <a:pt x="2641067" y="749649"/>
                  <a:pt x="2604986" y="749649"/>
                </a:cubicBezTo>
                <a:lnTo>
                  <a:pt x="65332" y="749649"/>
                </a:lnTo>
                <a:cubicBezTo>
                  <a:pt x="29250" y="749649"/>
                  <a:pt x="0" y="720399"/>
                  <a:pt x="0" y="684317"/>
                </a:cubicBezTo>
                <a:lnTo>
                  <a:pt x="0" y="13066"/>
                </a:lnTo>
                <a:cubicBezTo>
                  <a:pt x="0" y="5855"/>
                  <a:pt x="5855" y="0"/>
                  <a:pt x="1306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6325978" y="3209179"/>
            <a:ext cx="2670317" cy="13066"/>
          </a:xfrm>
          <a:custGeom>
            <a:rect b="b" l="l" r="r" t="t"/>
            <a:pathLst>
              <a:path extrusionOk="0" h="13066" w="2670317">
                <a:moveTo>
                  <a:pt x="13066" y="0"/>
                </a:moveTo>
                <a:lnTo>
                  <a:pt x="2657252" y="0"/>
                </a:lnTo>
                <a:cubicBezTo>
                  <a:pt x="2664468" y="0"/>
                  <a:pt x="2670317" y="5850"/>
                  <a:pt x="2670317" y="13066"/>
                </a:cubicBezTo>
                <a:lnTo>
                  <a:pt x="2670317" y="13066"/>
                </a:lnTo>
                <a:lnTo>
                  <a:pt x="0" y="13066"/>
                </a:lnTo>
                <a:lnTo>
                  <a:pt x="0" y="13066"/>
                </a:lnTo>
                <a:cubicBezTo>
                  <a:pt x="0" y="5855"/>
                  <a:pt x="5855" y="0"/>
                  <a:pt x="13066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6423972" y="3313706"/>
            <a:ext cx="2539660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9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Believability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6423972" y="3542357"/>
            <a:ext cx="2531494" cy="1551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Reflects how much users trust the data quality.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9064279" y="3209179"/>
            <a:ext cx="2670317" cy="749649"/>
          </a:xfrm>
          <a:custGeom>
            <a:rect b="b" l="l" r="r" t="t"/>
            <a:pathLst>
              <a:path extrusionOk="0" h="749649" w="2670317">
                <a:moveTo>
                  <a:pt x="13066" y="0"/>
                </a:moveTo>
                <a:lnTo>
                  <a:pt x="2657252" y="0"/>
                </a:lnTo>
                <a:cubicBezTo>
                  <a:pt x="2664468" y="0"/>
                  <a:pt x="2670317" y="5850"/>
                  <a:pt x="2670317" y="13066"/>
                </a:cubicBezTo>
                <a:lnTo>
                  <a:pt x="2670317" y="684317"/>
                </a:lnTo>
                <a:cubicBezTo>
                  <a:pt x="2670317" y="720399"/>
                  <a:pt x="2641067" y="749649"/>
                  <a:pt x="2604986" y="749649"/>
                </a:cubicBezTo>
                <a:lnTo>
                  <a:pt x="65332" y="749649"/>
                </a:lnTo>
                <a:cubicBezTo>
                  <a:pt x="29250" y="749649"/>
                  <a:pt x="0" y="720399"/>
                  <a:pt x="0" y="684317"/>
                </a:cubicBezTo>
                <a:lnTo>
                  <a:pt x="0" y="13066"/>
                </a:lnTo>
                <a:cubicBezTo>
                  <a:pt x="0" y="5855"/>
                  <a:pt x="5855" y="0"/>
                  <a:pt x="13066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0"/>
          <p:cNvSpPr/>
          <p:nvPr/>
        </p:nvSpPr>
        <p:spPr>
          <a:xfrm>
            <a:off x="9064279" y="3209179"/>
            <a:ext cx="2670317" cy="13066"/>
          </a:xfrm>
          <a:custGeom>
            <a:rect b="b" l="l" r="r" t="t"/>
            <a:pathLst>
              <a:path extrusionOk="0" h="13066" w="2670317">
                <a:moveTo>
                  <a:pt x="13066" y="0"/>
                </a:moveTo>
                <a:lnTo>
                  <a:pt x="2657252" y="0"/>
                </a:lnTo>
                <a:cubicBezTo>
                  <a:pt x="2664468" y="0"/>
                  <a:pt x="2670317" y="5850"/>
                  <a:pt x="2670317" y="13066"/>
                </a:cubicBezTo>
                <a:lnTo>
                  <a:pt x="2670317" y="13066"/>
                </a:lnTo>
                <a:lnTo>
                  <a:pt x="0" y="13066"/>
                </a:lnTo>
                <a:lnTo>
                  <a:pt x="0" y="13066"/>
                </a:lnTo>
                <a:cubicBezTo>
                  <a:pt x="0" y="5855"/>
                  <a:pt x="5855" y="0"/>
                  <a:pt x="13066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0"/>
          <p:cNvSpPr/>
          <p:nvPr/>
        </p:nvSpPr>
        <p:spPr>
          <a:xfrm>
            <a:off x="9162272" y="3313706"/>
            <a:ext cx="2539660" cy="19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9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Interpretability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9162272" y="3542357"/>
            <a:ext cx="2531494" cy="3184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Ease of understanding and comprehension by users.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6162656" y="4183396"/>
            <a:ext cx="5708110" cy="2351839"/>
          </a:xfrm>
          <a:custGeom>
            <a:rect b="b" l="l" r="r" t="t"/>
            <a:pathLst>
              <a:path extrusionOk="0" h="2351839" w="5708110">
                <a:moveTo>
                  <a:pt x="98001" y="0"/>
                </a:moveTo>
                <a:lnTo>
                  <a:pt x="5610109" y="0"/>
                </a:lnTo>
                <a:cubicBezTo>
                  <a:pt x="5664233" y="0"/>
                  <a:pt x="5708110" y="43877"/>
                  <a:pt x="5708110" y="98001"/>
                </a:cubicBezTo>
                <a:lnTo>
                  <a:pt x="5708110" y="2253838"/>
                </a:lnTo>
                <a:cubicBezTo>
                  <a:pt x="5708110" y="2307963"/>
                  <a:pt x="5664233" y="2351839"/>
                  <a:pt x="5610109" y="2351839"/>
                </a:cubicBezTo>
                <a:lnTo>
                  <a:pt x="98001" y="2351839"/>
                </a:lnTo>
                <a:cubicBezTo>
                  <a:pt x="43877" y="2351839"/>
                  <a:pt x="0" y="2307963"/>
                  <a:pt x="0" y="2253838"/>
                </a:cubicBezTo>
                <a:lnTo>
                  <a:pt x="0" y="98001"/>
                </a:lnTo>
                <a:cubicBezTo>
                  <a:pt x="0" y="43913"/>
                  <a:pt x="43913" y="0"/>
                  <a:pt x="98001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9803"/>
                </a:srgbClr>
              </a:gs>
              <a:gs pos="100000">
                <a:srgbClr val="2D3748"/>
              </a:gs>
            </a:gsLst>
            <a:lin ang="27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6252483" y="4314054"/>
            <a:ext cx="5528455" cy="228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86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Impact of Poor Data Quality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6293314" y="4640698"/>
            <a:ext cx="5446794" cy="391973"/>
          </a:xfrm>
          <a:custGeom>
            <a:rect b="b" l="l" r="r" t="t"/>
            <a:pathLst>
              <a:path extrusionOk="0" h="391973" w="5446794">
                <a:moveTo>
                  <a:pt x="32663" y="0"/>
                </a:moveTo>
                <a:lnTo>
                  <a:pt x="5414131" y="0"/>
                </a:lnTo>
                <a:cubicBezTo>
                  <a:pt x="5432171" y="0"/>
                  <a:pt x="5446794" y="14624"/>
                  <a:pt x="5446794" y="32663"/>
                </a:cubicBezTo>
                <a:lnTo>
                  <a:pt x="5446794" y="359310"/>
                </a:lnTo>
                <a:cubicBezTo>
                  <a:pt x="5446794" y="377349"/>
                  <a:pt x="5432171" y="391973"/>
                  <a:pt x="5414131" y="391973"/>
                </a:cubicBezTo>
                <a:lnTo>
                  <a:pt x="32663" y="391973"/>
                </a:lnTo>
                <a:cubicBezTo>
                  <a:pt x="14624" y="391973"/>
                  <a:pt x="0" y="377349"/>
                  <a:pt x="0" y="359310"/>
                </a:cubicBezTo>
                <a:lnTo>
                  <a:pt x="0" y="32663"/>
                </a:lnTo>
                <a:cubicBezTo>
                  <a:pt x="0" y="14636"/>
                  <a:pt x="14636" y="0"/>
                  <a:pt x="32663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0"/>
          <p:cNvSpPr/>
          <p:nvPr/>
        </p:nvSpPr>
        <p:spPr>
          <a:xfrm>
            <a:off x="6358643" y="4706027"/>
            <a:ext cx="261315" cy="261315"/>
          </a:xfrm>
          <a:custGeom>
            <a:rect b="b" l="l" r="r" t="t"/>
            <a:pathLst>
              <a:path extrusionOk="0" h="261315" w="261315">
                <a:moveTo>
                  <a:pt x="130658" y="0"/>
                </a:moveTo>
                <a:lnTo>
                  <a:pt x="130658" y="0"/>
                </a:lnTo>
                <a:cubicBezTo>
                  <a:pt x="202770" y="0"/>
                  <a:pt x="261315" y="58546"/>
                  <a:pt x="261315" y="130658"/>
                </a:cubicBezTo>
                <a:lnTo>
                  <a:pt x="261315" y="130658"/>
                </a:lnTo>
                <a:cubicBezTo>
                  <a:pt x="261315" y="202770"/>
                  <a:pt x="202770" y="261315"/>
                  <a:pt x="130658" y="261315"/>
                </a:cubicBezTo>
                <a:lnTo>
                  <a:pt x="130658" y="261315"/>
                </a:lnTo>
                <a:cubicBezTo>
                  <a:pt x="58546" y="261315"/>
                  <a:pt x="0" y="202770"/>
                  <a:pt x="0" y="130658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0"/>
          <p:cNvSpPr/>
          <p:nvPr/>
        </p:nvSpPr>
        <p:spPr>
          <a:xfrm>
            <a:off x="6440304" y="4771356"/>
            <a:ext cx="97993" cy="130658"/>
          </a:xfrm>
          <a:custGeom>
            <a:rect b="b" l="l" r="r" t="t"/>
            <a:pathLst>
              <a:path extrusionOk="0" h="130658" w="97993">
                <a:moveTo>
                  <a:pt x="14061" y="18731"/>
                </a:moveTo>
                <a:cubicBezTo>
                  <a:pt x="10871" y="15541"/>
                  <a:pt x="5691" y="15541"/>
                  <a:pt x="2501" y="18731"/>
                </a:cubicBezTo>
                <a:cubicBezTo>
                  <a:pt x="-689" y="21921"/>
                  <a:pt x="-689" y="27101"/>
                  <a:pt x="2501" y="30291"/>
                </a:cubicBezTo>
                <a:lnTo>
                  <a:pt x="37564" y="65329"/>
                </a:lnTo>
                <a:lnTo>
                  <a:pt x="2526" y="100392"/>
                </a:lnTo>
                <a:cubicBezTo>
                  <a:pt x="-663" y="103582"/>
                  <a:pt x="-663" y="108762"/>
                  <a:pt x="2526" y="111952"/>
                </a:cubicBezTo>
                <a:cubicBezTo>
                  <a:pt x="5716" y="115142"/>
                  <a:pt x="10897" y="115142"/>
                  <a:pt x="14087" y="111952"/>
                </a:cubicBezTo>
                <a:lnTo>
                  <a:pt x="49124" y="76889"/>
                </a:lnTo>
                <a:lnTo>
                  <a:pt x="84187" y="111927"/>
                </a:lnTo>
                <a:cubicBezTo>
                  <a:pt x="87377" y="115117"/>
                  <a:pt x="92558" y="115117"/>
                  <a:pt x="95748" y="111927"/>
                </a:cubicBezTo>
                <a:cubicBezTo>
                  <a:pt x="98938" y="108737"/>
                  <a:pt x="98938" y="103556"/>
                  <a:pt x="95748" y="100367"/>
                </a:cubicBezTo>
                <a:lnTo>
                  <a:pt x="60684" y="65329"/>
                </a:lnTo>
                <a:lnTo>
                  <a:pt x="95722" y="30266"/>
                </a:lnTo>
                <a:cubicBezTo>
                  <a:pt x="98912" y="27076"/>
                  <a:pt x="98912" y="21895"/>
                  <a:pt x="95722" y="18705"/>
                </a:cubicBezTo>
                <a:cubicBezTo>
                  <a:pt x="92532" y="15516"/>
                  <a:pt x="87352" y="15516"/>
                  <a:pt x="84162" y="18705"/>
                </a:cubicBezTo>
                <a:lnTo>
                  <a:pt x="49124" y="53769"/>
                </a:lnTo>
                <a:lnTo>
                  <a:pt x="14061" y="18731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0"/>
          <p:cNvSpPr/>
          <p:nvPr/>
        </p:nvSpPr>
        <p:spPr>
          <a:xfrm>
            <a:off x="6685287" y="4755024"/>
            <a:ext cx="2082358" cy="163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Compromised accuracy of mining results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6293314" y="5098000"/>
            <a:ext cx="5446794" cy="391973"/>
          </a:xfrm>
          <a:custGeom>
            <a:rect b="b" l="l" r="r" t="t"/>
            <a:pathLst>
              <a:path extrusionOk="0" h="391973" w="5446794">
                <a:moveTo>
                  <a:pt x="32663" y="0"/>
                </a:moveTo>
                <a:lnTo>
                  <a:pt x="5414131" y="0"/>
                </a:lnTo>
                <a:cubicBezTo>
                  <a:pt x="5432171" y="0"/>
                  <a:pt x="5446794" y="14624"/>
                  <a:pt x="5446794" y="32663"/>
                </a:cubicBezTo>
                <a:lnTo>
                  <a:pt x="5446794" y="359310"/>
                </a:lnTo>
                <a:cubicBezTo>
                  <a:pt x="5446794" y="377349"/>
                  <a:pt x="5432171" y="391973"/>
                  <a:pt x="5414131" y="391973"/>
                </a:cubicBezTo>
                <a:lnTo>
                  <a:pt x="32663" y="391973"/>
                </a:lnTo>
                <a:cubicBezTo>
                  <a:pt x="14624" y="391973"/>
                  <a:pt x="0" y="377349"/>
                  <a:pt x="0" y="359310"/>
                </a:cubicBezTo>
                <a:lnTo>
                  <a:pt x="0" y="32663"/>
                </a:lnTo>
                <a:cubicBezTo>
                  <a:pt x="0" y="14636"/>
                  <a:pt x="14636" y="0"/>
                  <a:pt x="32663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0"/>
          <p:cNvSpPr/>
          <p:nvPr/>
        </p:nvSpPr>
        <p:spPr>
          <a:xfrm>
            <a:off x="6358643" y="5163329"/>
            <a:ext cx="261315" cy="261315"/>
          </a:xfrm>
          <a:custGeom>
            <a:rect b="b" l="l" r="r" t="t"/>
            <a:pathLst>
              <a:path extrusionOk="0" h="261315" w="261315">
                <a:moveTo>
                  <a:pt x="130658" y="0"/>
                </a:moveTo>
                <a:lnTo>
                  <a:pt x="130658" y="0"/>
                </a:lnTo>
                <a:cubicBezTo>
                  <a:pt x="202770" y="0"/>
                  <a:pt x="261315" y="58546"/>
                  <a:pt x="261315" y="130658"/>
                </a:cubicBezTo>
                <a:lnTo>
                  <a:pt x="261315" y="130658"/>
                </a:lnTo>
                <a:cubicBezTo>
                  <a:pt x="261315" y="202770"/>
                  <a:pt x="202770" y="261315"/>
                  <a:pt x="130658" y="261315"/>
                </a:cubicBezTo>
                <a:lnTo>
                  <a:pt x="130658" y="261315"/>
                </a:lnTo>
                <a:cubicBezTo>
                  <a:pt x="58546" y="261315"/>
                  <a:pt x="0" y="202770"/>
                  <a:pt x="0" y="130658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0"/>
          <p:cNvSpPr/>
          <p:nvPr/>
        </p:nvSpPr>
        <p:spPr>
          <a:xfrm>
            <a:off x="6440304" y="5228658"/>
            <a:ext cx="97993" cy="130658"/>
          </a:xfrm>
          <a:custGeom>
            <a:rect b="b" l="l" r="r" t="t"/>
            <a:pathLst>
              <a:path extrusionOk="0" h="130658" w="97993">
                <a:moveTo>
                  <a:pt x="14061" y="18731"/>
                </a:moveTo>
                <a:cubicBezTo>
                  <a:pt x="10871" y="15541"/>
                  <a:pt x="5691" y="15541"/>
                  <a:pt x="2501" y="18731"/>
                </a:cubicBezTo>
                <a:cubicBezTo>
                  <a:pt x="-689" y="21921"/>
                  <a:pt x="-689" y="27101"/>
                  <a:pt x="2501" y="30291"/>
                </a:cubicBezTo>
                <a:lnTo>
                  <a:pt x="37564" y="65329"/>
                </a:lnTo>
                <a:lnTo>
                  <a:pt x="2526" y="100392"/>
                </a:lnTo>
                <a:cubicBezTo>
                  <a:pt x="-663" y="103582"/>
                  <a:pt x="-663" y="108762"/>
                  <a:pt x="2526" y="111952"/>
                </a:cubicBezTo>
                <a:cubicBezTo>
                  <a:pt x="5716" y="115142"/>
                  <a:pt x="10897" y="115142"/>
                  <a:pt x="14087" y="111952"/>
                </a:cubicBezTo>
                <a:lnTo>
                  <a:pt x="49124" y="76889"/>
                </a:lnTo>
                <a:lnTo>
                  <a:pt x="84187" y="111927"/>
                </a:lnTo>
                <a:cubicBezTo>
                  <a:pt x="87377" y="115117"/>
                  <a:pt x="92558" y="115117"/>
                  <a:pt x="95748" y="111927"/>
                </a:cubicBezTo>
                <a:cubicBezTo>
                  <a:pt x="98938" y="108737"/>
                  <a:pt x="98938" y="103556"/>
                  <a:pt x="95748" y="100367"/>
                </a:cubicBezTo>
                <a:lnTo>
                  <a:pt x="60684" y="65329"/>
                </a:lnTo>
                <a:lnTo>
                  <a:pt x="95722" y="30266"/>
                </a:lnTo>
                <a:cubicBezTo>
                  <a:pt x="98912" y="27076"/>
                  <a:pt x="98912" y="21895"/>
                  <a:pt x="95722" y="18705"/>
                </a:cubicBezTo>
                <a:cubicBezTo>
                  <a:pt x="92532" y="15516"/>
                  <a:pt x="87352" y="15516"/>
                  <a:pt x="84162" y="18705"/>
                </a:cubicBezTo>
                <a:lnTo>
                  <a:pt x="49124" y="53769"/>
                </a:lnTo>
                <a:lnTo>
                  <a:pt x="14061" y="18731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0"/>
          <p:cNvSpPr/>
          <p:nvPr/>
        </p:nvSpPr>
        <p:spPr>
          <a:xfrm>
            <a:off x="6685287" y="5212326"/>
            <a:ext cx="2319175" cy="163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Misleading patterns and incorrect conclusions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0"/>
          <p:cNvSpPr/>
          <p:nvPr/>
        </p:nvSpPr>
        <p:spPr>
          <a:xfrm>
            <a:off x="6293314" y="5555302"/>
            <a:ext cx="5446794" cy="391973"/>
          </a:xfrm>
          <a:custGeom>
            <a:rect b="b" l="l" r="r" t="t"/>
            <a:pathLst>
              <a:path extrusionOk="0" h="391973" w="5446794">
                <a:moveTo>
                  <a:pt x="32663" y="0"/>
                </a:moveTo>
                <a:lnTo>
                  <a:pt x="5414131" y="0"/>
                </a:lnTo>
                <a:cubicBezTo>
                  <a:pt x="5432171" y="0"/>
                  <a:pt x="5446794" y="14624"/>
                  <a:pt x="5446794" y="32663"/>
                </a:cubicBezTo>
                <a:lnTo>
                  <a:pt x="5446794" y="359310"/>
                </a:lnTo>
                <a:cubicBezTo>
                  <a:pt x="5446794" y="377349"/>
                  <a:pt x="5432171" y="391973"/>
                  <a:pt x="5414131" y="391973"/>
                </a:cubicBezTo>
                <a:lnTo>
                  <a:pt x="32663" y="391973"/>
                </a:lnTo>
                <a:cubicBezTo>
                  <a:pt x="14624" y="391973"/>
                  <a:pt x="0" y="377349"/>
                  <a:pt x="0" y="359310"/>
                </a:cubicBezTo>
                <a:lnTo>
                  <a:pt x="0" y="32663"/>
                </a:lnTo>
                <a:cubicBezTo>
                  <a:pt x="0" y="14636"/>
                  <a:pt x="14636" y="0"/>
                  <a:pt x="32663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0"/>
          <p:cNvSpPr/>
          <p:nvPr/>
        </p:nvSpPr>
        <p:spPr>
          <a:xfrm>
            <a:off x="6358643" y="5620631"/>
            <a:ext cx="261315" cy="261315"/>
          </a:xfrm>
          <a:custGeom>
            <a:rect b="b" l="l" r="r" t="t"/>
            <a:pathLst>
              <a:path extrusionOk="0" h="261315" w="261315">
                <a:moveTo>
                  <a:pt x="130658" y="0"/>
                </a:moveTo>
                <a:lnTo>
                  <a:pt x="130658" y="0"/>
                </a:lnTo>
                <a:cubicBezTo>
                  <a:pt x="202770" y="0"/>
                  <a:pt x="261315" y="58546"/>
                  <a:pt x="261315" y="130658"/>
                </a:cubicBezTo>
                <a:lnTo>
                  <a:pt x="261315" y="130658"/>
                </a:lnTo>
                <a:cubicBezTo>
                  <a:pt x="261315" y="202770"/>
                  <a:pt x="202770" y="261315"/>
                  <a:pt x="130658" y="261315"/>
                </a:cubicBezTo>
                <a:lnTo>
                  <a:pt x="130658" y="261315"/>
                </a:lnTo>
                <a:cubicBezTo>
                  <a:pt x="58546" y="261315"/>
                  <a:pt x="0" y="202770"/>
                  <a:pt x="0" y="130658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0"/>
          <p:cNvSpPr/>
          <p:nvPr/>
        </p:nvSpPr>
        <p:spPr>
          <a:xfrm>
            <a:off x="6440304" y="5685960"/>
            <a:ext cx="97993" cy="130658"/>
          </a:xfrm>
          <a:custGeom>
            <a:rect b="b" l="l" r="r" t="t"/>
            <a:pathLst>
              <a:path extrusionOk="0" h="130658" w="97993">
                <a:moveTo>
                  <a:pt x="14061" y="18731"/>
                </a:moveTo>
                <a:cubicBezTo>
                  <a:pt x="10871" y="15541"/>
                  <a:pt x="5691" y="15541"/>
                  <a:pt x="2501" y="18731"/>
                </a:cubicBezTo>
                <a:cubicBezTo>
                  <a:pt x="-689" y="21921"/>
                  <a:pt x="-689" y="27101"/>
                  <a:pt x="2501" y="30291"/>
                </a:cubicBezTo>
                <a:lnTo>
                  <a:pt x="37564" y="65329"/>
                </a:lnTo>
                <a:lnTo>
                  <a:pt x="2526" y="100392"/>
                </a:lnTo>
                <a:cubicBezTo>
                  <a:pt x="-663" y="103582"/>
                  <a:pt x="-663" y="108762"/>
                  <a:pt x="2526" y="111952"/>
                </a:cubicBezTo>
                <a:cubicBezTo>
                  <a:pt x="5716" y="115142"/>
                  <a:pt x="10897" y="115142"/>
                  <a:pt x="14087" y="111952"/>
                </a:cubicBezTo>
                <a:lnTo>
                  <a:pt x="49124" y="76889"/>
                </a:lnTo>
                <a:lnTo>
                  <a:pt x="84187" y="111927"/>
                </a:lnTo>
                <a:cubicBezTo>
                  <a:pt x="87377" y="115117"/>
                  <a:pt x="92558" y="115117"/>
                  <a:pt x="95748" y="111927"/>
                </a:cubicBezTo>
                <a:cubicBezTo>
                  <a:pt x="98938" y="108737"/>
                  <a:pt x="98938" y="103556"/>
                  <a:pt x="95748" y="100367"/>
                </a:cubicBezTo>
                <a:lnTo>
                  <a:pt x="60684" y="65329"/>
                </a:lnTo>
                <a:lnTo>
                  <a:pt x="95722" y="30266"/>
                </a:lnTo>
                <a:cubicBezTo>
                  <a:pt x="98912" y="27076"/>
                  <a:pt x="98912" y="21895"/>
                  <a:pt x="95722" y="18705"/>
                </a:cubicBezTo>
                <a:cubicBezTo>
                  <a:pt x="92532" y="15516"/>
                  <a:pt x="87352" y="15516"/>
                  <a:pt x="84162" y="18705"/>
                </a:cubicBezTo>
                <a:lnTo>
                  <a:pt x="49124" y="53769"/>
                </a:lnTo>
                <a:lnTo>
                  <a:pt x="14061" y="18731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0"/>
          <p:cNvSpPr/>
          <p:nvPr/>
        </p:nvSpPr>
        <p:spPr>
          <a:xfrm>
            <a:off x="6685287" y="5669628"/>
            <a:ext cx="1674052" cy="163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Reduced user trust in the system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0"/>
          <p:cNvSpPr/>
          <p:nvPr/>
        </p:nvSpPr>
        <p:spPr>
          <a:xfrm>
            <a:off x="6293314" y="6012604"/>
            <a:ext cx="5446794" cy="391973"/>
          </a:xfrm>
          <a:custGeom>
            <a:rect b="b" l="l" r="r" t="t"/>
            <a:pathLst>
              <a:path extrusionOk="0" h="391973" w="5446794">
                <a:moveTo>
                  <a:pt x="32663" y="0"/>
                </a:moveTo>
                <a:lnTo>
                  <a:pt x="5414131" y="0"/>
                </a:lnTo>
                <a:cubicBezTo>
                  <a:pt x="5432171" y="0"/>
                  <a:pt x="5446794" y="14624"/>
                  <a:pt x="5446794" y="32663"/>
                </a:cubicBezTo>
                <a:lnTo>
                  <a:pt x="5446794" y="359310"/>
                </a:lnTo>
                <a:cubicBezTo>
                  <a:pt x="5446794" y="377349"/>
                  <a:pt x="5432171" y="391973"/>
                  <a:pt x="5414131" y="391973"/>
                </a:cubicBezTo>
                <a:lnTo>
                  <a:pt x="32663" y="391973"/>
                </a:lnTo>
                <a:cubicBezTo>
                  <a:pt x="14624" y="391973"/>
                  <a:pt x="0" y="377349"/>
                  <a:pt x="0" y="359310"/>
                </a:cubicBezTo>
                <a:lnTo>
                  <a:pt x="0" y="32663"/>
                </a:lnTo>
                <a:cubicBezTo>
                  <a:pt x="0" y="14636"/>
                  <a:pt x="14636" y="0"/>
                  <a:pt x="32663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0"/>
          <p:cNvSpPr/>
          <p:nvPr/>
        </p:nvSpPr>
        <p:spPr>
          <a:xfrm>
            <a:off x="6358643" y="6077933"/>
            <a:ext cx="261315" cy="261315"/>
          </a:xfrm>
          <a:custGeom>
            <a:rect b="b" l="l" r="r" t="t"/>
            <a:pathLst>
              <a:path extrusionOk="0" h="261315" w="261315">
                <a:moveTo>
                  <a:pt x="130658" y="0"/>
                </a:moveTo>
                <a:lnTo>
                  <a:pt x="130658" y="0"/>
                </a:lnTo>
                <a:cubicBezTo>
                  <a:pt x="202770" y="0"/>
                  <a:pt x="261315" y="58546"/>
                  <a:pt x="261315" y="130658"/>
                </a:cubicBezTo>
                <a:lnTo>
                  <a:pt x="261315" y="130658"/>
                </a:lnTo>
                <a:cubicBezTo>
                  <a:pt x="261315" y="202770"/>
                  <a:pt x="202770" y="261315"/>
                  <a:pt x="130658" y="261315"/>
                </a:cubicBezTo>
                <a:lnTo>
                  <a:pt x="130658" y="261315"/>
                </a:lnTo>
                <a:cubicBezTo>
                  <a:pt x="58546" y="261315"/>
                  <a:pt x="0" y="202770"/>
                  <a:pt x="0" y="130658"/>
                </a:cubicBezTo>
                <a:lnTo>
                  <a:pt x="0" y="130658"/>
                </a:lnTo>
                <a:cubicBezTo>
                  <a:pt x="0" y="58546"/>
                  <a:pt x="58546" y="0"/>
                  <a:pt x="130658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0"/>
          <p:cNvSpPr/>
          <p:nvPr/>
        </p:nvSpPr>
        <p:spPr>
          <a:xfrm>
            <a:off x="6440304" y="6143262"/>
            <a:ext cx="97993" cy="130658"/>
          </a:xfrm>
          <a:custGeom>
            <a:rect b="b" l="l" r="r" t="t"/>
            <a:pathLst>
              <a:path extrusionOk="0" h="130658" w="97993">
                <a:moveTo>
                  <a:pt x="14061" y="18731"/>
                </a:moveTo>
                <a:cubicBezTo>
                  <a:pt x="10871" y="15541"/>
                  <a:pt x="5691" y="15541"/>
                  <a:pt x="2501" y="18731"/>
                </a:cubicBezTo>
                <a:cubicBezTo>
                  <a:pt x="-689" y="21921"/>
                  <a:pt x="-689" y="27101"/>
                  <a:pt x="2501" y="30291"/>
                </a:cubicBezTo>
                <a:lnTo>
                  <a:pt x="37564" y="65329"/>
                </a:lnTo>
                <a:lnTo>
                  <a:pt x="2526" y="100392"/>
                </a:lnTo>
                <a:cubicBezTo>
                  <a:pt x="-663" y="103582"/>
                  <a:pt x="-663" y="108762"/>
                  <a:pt x="2526" y="111952"/>
                </a:cubicBezTo>
                <a:cubicBezTo>
                  <a:pt x="5716" y="115142"/>
                  <a:pt x="10897" y="115142"/>
                  <a:pt x="14087" y="111952"/>
                </a:cubicBezTo>
                <a:lnTo>
                  <a:pt x="49124" y="76889"/>
                </a:lnTo>
                <a:lnTo>
                  <a:pt x="84187" y="111927"/>
                </a:lnTo>
                <a:cubicBezTo>
                  <a:pt x="87377" y="115117"/>
                  <a:pt x="92558" y="115117"/>
                  <a:pt x="95748" y="111927"/>
                </a:cubicBezTo>
                <a:cubicBezTo>
                  <a:pt x="98938" y="108737"/>
                  <a:pt x="98938" y="103556"/>
                  <a:pt x="95748" y="100367"/>
                </a:cubicBezTo>
                <a:lnTo>
                  <a:pt x="60684" y="65329"/>
                </a:lnTo>
                <a:lnTo>
                  <a:pt x="95722" y="30266"/>
                </a:lnTo>
                <a:cubicBezTo>
                  <a:pt x="98912" y="27076"/>
                  <a:pt x="98912" y="21895"/>
                  <a:pt x="95722" y="18705"/>
                </a:cubicBezTo>
                <a:cubicBezTo>
                  <a:pt x="92532" y="15516"/>
                  <a:pt x="87352" y="15516"/>
                  <a:pt x="84162" y="18705"/>
                </a:cubicBezTo>
                <a:lnTo>
                  <a:pt x="49124" y="53769"/>
                </a:lnTo>
                <a:lnTo>
                  <a:pt x="14061" y="18731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0"/>
          <p:cNvSpPr/>
          <p:nvPr/>
        </p:nvSpPr>
        <p:spPr>
          <a:xfrm>
            <a:off x="6685287" y="6126930"/>
            <a:ext cx="1698551" cy="163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Wasted computational resources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6" name="Google Shape;4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8906" y="105968"/>
            <a:ext cx="1502714" cy="56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1"/>
          <p:cNvSpPr/>
          <p:nvPr/>
        </p:nvSpPr>
        <p:spPr>
          <a:xfrm>
            <a:off x="334486" y="334486"/>
            <a:ext cx="401383" cy="401383"/>
          </a:xfrm>
          <a:custGeom>
            <a:rect b="b" l="l" r="r" t="t"/>
            <a:pathLst>
              <a:path extrusionOk="0" h="401383" w="401383">
                <a:moveTo>
                  <a:pt x="66898" y="0"/>
                </a:moveTo>
                <a:lnTo>
                  <a:pt x="334484" y="0"/>
                </a:lnTo>
                <a:cubicBezTo>
                  <a:pt x="371407" y="0"/>
                  <a:pt x="401383" y="29976"/>
                  <a:pt x="401383" y="66898"/>
                </a:cubicBezTo>
                <a:lnTo>
                  <a:pt x="401383" y="334484"/>
                </a:lnTo>
                <a:cubicBezTo>
                  <a:pt x="401383" y="371407"/>
                  <a:pt x="371407" y="401383"/>
                  <a:pt x="334484" y="401383"/>
                </a:cubicBezTo>
                <a:lnTo>
                  <a:pt x="66898" y="401383"/>
                </a:lnTo>
                <a:cubicBezTo>
                  <a:pt x="29976" y="401383"/>
                  <a:pt x="0" y="371407"/>
                  <a:pt x="0" y="334484"/>
                </a:cubicBezTo>
                <a:lnTo>
                  <a:pt x="0" y="66898"/>
                </a:lnTo>
                <a:cubicBezTo>
                  <a:pt x="0" y="29976"/>
                  <a:pt x="29976" y="0"/>
                  <a:pt x="66898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1"/>
          <p:cNvSpPr/>
          <p:nvPr/>
        </p:nvSpPr>
        <p:spPr>
          <a:xfrm>
            <a:off x="422288" y="434831"/>
            <a:ext cx="225778" cy="200691"/>
          </a:xfrm>
          <a:custGeom>
            <a:rect b="b" l="l" r="r" t="t"/>
            <a:pathLst>
              <a:path extrusionOk="0" h="200691" w="225778">
                <a:moveTo>
                  <a:pt x="222093" y="21402"/>
                </a:moveTo>
                <a:cubicBezTo>
                  <a:pt x="226993" y="16502"/>
                  <a:pt x="226993" y="8545"/>
                  <a:pt x="222093" y="3645"/>
                </a:cubicBezTo>
                <a:cubicBezTo>
                  <a:pt x="217194" y="-1254"/>
                  <a:pt x="209236" y="-1254"/>
                  <a:pt x="204337" y="3645"/>
                </a:cubicBezTo>
                <a:lnTo>
                  <a:pt x="129077" y="78905"/>
                </a:lnTo>
                <a:lnTo>
                  <a:pt x="115476" y="65303"/>
                </a:lnTo>
                <a:cubicBezTo>
                  <a:pt x="113830" y="63657"/>
                  <a:pt x="111556" y="62716"/>
                  <a:pt x="109204" y="62716"/>
                </a:cubicBezTo>
                <a:cubicBezTo>
                  <a:pt x="104305" y="62716"/>
                  <a:pt x="100346" y="66675"/>
                  <a:pt x="100346" y="71575"/>
                </a:cubicBezTo>
                <a:lnTo>
                  <a:pt x="100346" y="82981"/>
                </a:lnTo>
                <a:lnTo>
                  <a:pt x="142797" y="125432"/>
                </a:lnTo>
                <a:lnTo>
                  <a:pt x="154203" y="125432"/>
                </a:lnTo>
                <a:cubicBezTo>
                  <a:pt x="159103" y="125432"/>
                  <a:pt x="163062" y="121473"/>
                  <a:pt x="163062" y="116573"/>
                </a:cubicBezTo>
                <a:cubicBezTo>
                  <a:pt x="163062" y="114222"/>
                  <a:pt x="162121" y="111948"/>
                  <a:pt x="160475" y="110302"/>
                </a:cubicBezTo>
                <a:lnTo>
                  <a:pt x="146873" y="96700"/>
                </a:lnTo>
                <a:lnTo>
                  <a:pt x="222132" y="21441"/>
                </a:lnTo>
                <a:close/>
                <a:moveTo>
                  <a:pt x="133703" y="138524"/>
                </a:moveTo>
                <a:lnTo>
                  <a:pt x="87254" y="92075"/>
                </a:lnTo>
                <a:cubicBezTo>
                  <a:pt x="70516" y="90625"/>
                  <a:pt x="53857" y="96661"/>
                  <a:pt x="41863" y="108656"/>
                </a:cubicBezTo>
                <a:lnTo>
                  <a:pt x="38727" y="111791"/>
                </a:lnTo>
                <a:cubicBezTo>
                  <a:pt x="29986" y="120532"/>
                  <a:pt x="25086" y="132370"/>
                  <a:pt x="25086" y="144717"/>
                </a:cubicBezTo>
                <a:cubicBezTo>
                  <a:pt x="25086" y="147383"/>
                  <a:pt x="27869" y="149107"/>
                  <a:pt x="30260" y="147931"/>
                </a:cubicBezTo>
                <a:lnTo>
                  <a:pt x="50290" y="137936"/>
                </a:lnTo>
                <a:cubicBezTo>
                  <a:pt x="52250" y="136956"/>
                  <a:pt x="54014" y="139543"/>
                  <a:pt x="52407" y="141033"/>
                </a:cubicBezTo>
                <a:lnTo>
                  <a:pt x="2861" y="185561"/>
                </a:lnTo>
                <a:cubicBezTo>
                  <a:pt x="1058" y="187207"/>
                  <a:pt x="0" y="189559"/>
                  <a:pt x="0" y="192029"/>
                </a:cubicBezTo>
                <a:cubicBezTo>
                  <a:pt x="0" y="196811"/>
                  <a:pt x="3881" y="200691"/>
                  <a:pt x="8663" y="200691"/>
                </a:cubicBezTo>
                <a:lnTo>
                  <a:pt x="76592" y="200691"/>
                </a:lnTo>
                <a:cubicBezTo>
                  <a:pt x="91801" y="200691"/>
                  <a:pt x="106343" y="194655"/>
                  <a:pt x="117122" y="183915"/>
                </a:cubicBezTo>
                <a:cubicBezTo>
                  <a:pt x="129117" y="171920"/>
                  <a:pt x="135114" y="155261"/>
                  <a:pt x="133703" y="138524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1"/>
          <p:cNvSpPr/>
          <p:nvPr/>
        </p:nvSpPr>
        <p:spPr>
          <a:xfrm>
            <a:off x="836214" y="334486"/>
            <a:ext cx="2667523" cy="4013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60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Data Cleaning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721965" y="867572"/>
            <a:ext cx="11071473" cy="234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7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First Step in Preprocessing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351210" y="1170700"/>
            <a:ext cx="11506305" cy="510091"/>
          </a:xfrm>
          <a:custGeom>
            <a:rect b="b" l="l" r="r" t="t"/>
            <a:pathLst>
              <a:path extrusionOk="0" h="510091" w="11506305">
                <a:moveTo>
                  <a:pt x="33449" y="0"/>
                </a:moveTo>
                <a:lnTo>
                  <a:pt x="11439406" y="0"/>
                </a:lnTo>
                <a:cubicBezTo>
                  <a:pt x="11476353" y="0"/>
                  <a:pt x="11506305" y="29951"/>
                  <a:pt x="11506305" y="66898"/>
                </a:cubicBezTo>
                <a:lnTo>
                  <a:pt x="11506305" y="443192"/>
                </a:lnTo>
                <a:cubicBezTo>
                  <a:pt x="11506305" y="480139"/>
                  <a:pt x="11476353" y="510091"/>
                  <a:pt x="11439406" y="510091"/>
                </a:cubicBezTo>
                <a:lnTo>
                  <a:pt x="33449" y="510091"/>
                </a:lnTo>
                <a:cubicBezTo>
                  <a:pt x="14975" y="510091"/>
                  <a:pt x="0" y="495115"/>
                  <a:pt x="0" y="476642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1"/>
          <p:cNvSpPr/>
          <p:nvPr/>
        </p:nvSpPr>
        <p:spPr>
          <a:xfrm>
            <a:off x="351210" y="1170700"/>
            <a:ext cx="33449" cy="510091"/>
          </a:xfrm>
          <a:custGeom>
            <a:rect b="b" l="l" r="r" t="t"/>
            <a:pathLst>
              <a:path extrusionOk="0" h="510091" w="33449">
                <a:moveTo>
                  <a:pt x="33449" y="0"/>
                </a:moveTo>
                <a:lnTo>
                  <a:pt x="33449" y="0"/>
                </a:lnTo>
                <a:lnTo>
                  <a:pt x="33449" y="510091"/>
                </a:lnTo>
                <a:lnTo>
                  <a:pt x="33449" y="510091"/>
                </a:lnTo>
                <a:cubicBezTo>
                  <a:pt x="14975" y="510091"/>
                  <a:pt x="0" y="495115"/>
                  <a:pt x="0" y="476642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1"/>
          <p:cNvSpPr/>
          <p:nvPr/>
        </p:nvSpPr>
        <p:spPr>
          <a:xfrm>
            <a:off x="501728" y="1304494"/>
            <a:ext cx="11297251" cy="2425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5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cleaning handles </a:t>
            </a:r>
            <a:r>
              <a:rPr b="1" lang="en-US" sz="1185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irrelevant and missing parts</a:t>
            </a:r>
            <a:r>
              <a:rPr lang="en-US" sz="1185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of data, including missing values and noisy data, ensuring data quality.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/>
          <p:nvPr/>
        </p:nvSpPr>
        <p:spPr>
          <a:xfrm>
            <a:off x="341175" y="1823365"/>
            <a:ext cx="5682910" cy="4169363"/>
          </a:xfrm>
          <a:custGeom>
            <a:rect b="b" l="l" r="r" t="t"/>
            <a:pathLst>
              <a:path extrusionOk="0" h="4169363" w="5682910">
                <a:moveTo>
                  <a:pt x="100357" y="0"/>
                </a:moveTo>
                <a:lnTo>
                  <a:pt x="5582554" y="0"/>
                </a:lnTo>
                <a:cubicBezTo>
                  <a:pt x="5637979" y="0"/>
                  <a:pt x="5682910" y="44931"/>
                  <a:pt x="5682910" y="100357"/>
                </a:cubicBezTo>
                <a:lnTo>
                  <a:pt x="5682910" y="4069006"/>
                </a:lnTo>
                <a:cubicBezTo>
                  <a:pt x="5682910" y="4124432"/>
                  <a:pt x="5637979" y="4169363"/>
                  <a:pt x="5582554" y="4169363"/>
                </a:cubicBezTo>
                <a:lnTo>
                  <a:pt x="100357" y="4169363"/>
                </a:lnTo>
                <a:cubicBezTo>
                  <a:pt x="44931" y="4169363"/>
                  <a:pt x="0" y="4124432"/>
                  <a:pt x="0" y="4069006"/>
                </a:cubicBezTo>
                <a:lnTo>
                  <a:pt x="0" y="100357"/>
                </a:lnTo>
                <a:cubicBezTo>
                  <a:pt x="0" y="44968"/>
                  <a:pt x="44968" y="0"/>
                  <a:pt x="100357" y="0"/>
                </a:cubicBezTo>
                <a:close/>
              </a:path>
            </a:pathLst>
          </a:custGeom>
          <a:solidFill>
            <a:srgbClr val="2D3748"/>
          </a:solidFill>
          <a:ln cap="flat" cmpd="sng" w="203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1"/>
          <p:cNvSpPr/>
          <p:nvPr/>
        </p:nvSpPr>
        <p:spPr>
          <a:xfrm>
            <a:off x="481659" y="1963849"/>
            <a:ext cx="401383" cy="401383"/>
          </a:xfrm>
          <a:custGeom>
            <a:rect b="b" l="l" r="r" t="t"/>
            <a:pathLst>
              <a:path extrusionOk="0" h="401383" w="401383">
                <a:moveTo>
                  <a:pt x="66898" y="0"/>
                </a:moveTo>
                <a:lnTo>
                  <a:pt x="334484" y="0"/>
                </a:lnTo>
                <a:cubicBezTo>
                  <a:pt x="371407" y="0"/>
                  <a:pt x="401383" y="29976"/>
                  <a:pt x="401383" y="66898"/>
                </a:cubicBezTo>
                <a:lnTo>
                  <a:pt x="401383" y="334484"/>
                </a:lnTo>
                <a:cubicBezTo>
                  <a:pt x="401383" y="371407"/>
                  <a:pt x="371407" y="401383"/>
                  <a:pt x="334484" y="401383"/>
                </a:cubicBezTo>
                <a:lnTo>
                  <a:pt x="66898" y="401383"/>
                </a:lnTo>
                <a:cubicBezTo>
                  <a:pt x="29976" y="401383"/>
                  <a:pt x="0" y="371407"/>
                  <a:pt x="0" y="334484"/>
                </a:cubicBezTo>
                <a:lnTo>
                  <a:pt x="0" y="66898"/>
                </a:lnTo>
                <a:cubicBezTo>
                  <a:pt x="0" y="29976"/>
                  <a:pt x="29976" y="0"/>
                  <a:pt x="66898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598729" y="2080919"/>
            <a:ext cx="167243" cy="167243"/>
          </a:xfrm>
          <a:custGeom>
            <a:rect b="b" l="l" r="r" t="t"/>
            <a:pathLst>
              <a:path extrusionOk="0" h="167243" w="167243">
                <a:moveTo>
                  <a:pt x="83621" y="167243"/>
                </a:moveTo>
                <a:cubicBezTo>
                  <a:pt x="129773" y="167243"/>
                  <a:pt x="167243" y="129773"/>
                  <a:pt x="167243" y="83621"/>
                </a:cubicBezTo>
                <a:cubicBezTo>
                  <a:pt x="167243" y="37469"/>
                  <a:pt x="129773" y="0"/>
                  <a:pt x="83621" y="0"/>
                </a:cubicBezTo>
                <a:cubicBezTo>
                  <a:pt x="37469" y="0"/>
                  <a:pt x="0" y="37469"/>
                  <a:pt x="0" y="83621"/>
                </a:cubicBezTo>
                <a:cubicBezTo>
                  <a:pt x="0" y="129773"/>
                  <a:pt x="37469" y="167243"/>
                  <a:pt x="83621" y="167243"/>
                </a:cubicBezTo>
                <a:close/>
                <a:moveTo>
                  <a:pt x="83621" y="57490"/>
                </a:moveTo>
                <a:cubicBezTo>
                  <a:pt x="77840" y="57490"/>
                  <a:pt x="73169" y="62161"/>
                  <a:pt x="73169" y="67942"/>
                </a:cubicBezTo>
                <a:cubicBezTo>
                  <a:pt x="73169" y="72287"/>
                  <a:pt x="69674" y="75782"/>
                  <a:pt x="65329" y="75782"/>
                </a:cubicBezTo>
                <a:cubicBezTo>
                  <a:pt x="60985" y="75782"/>
                  <a:pt x="57490" y="72287"/>
                  <a:pt x="57490" y="67942"/>
                </a:cubicBezTo>
                <a:cubicBezTo>
                  <a:pt x="57490" y="53505"/>
                  <a:pt x="69184" y="41811"/>
                  <a:pt x="83621" y="41811"/>
                </a:cubicBezTo>
                <a:cubicBezTo>
                  <a:pt x="98059" y="41811"/>
                  <a:pt x="109753" y="53505"/>
                  <a:pt x="109753" y="67942"/>
                </a:cubicBezTo>
                <a:cubicBezTo>
                  <a:pt x="109753" y="83360"/>
                  <a:pt x="97994" y="89893"/>
                  <a:pt x="91461" y="92278"/>
                </a:cubicBezTo>
                <a:lnTo>
                  <a:pt x="91461" y="93519"/>
                </a:lnTo>
                <a:cubicBezTo>
                  <a:pt x="91461" y="97863"/>
                  <a:pt x="87966" y="101358"/>
                  <a:pt x="83621" y="101358"/>
                </a:cubicBezTo>
                <a:cubicBezTo>
                  <a:pt x="79277" y="101358"/>
                  <a:pt x="75782" y="97863"/>
                  <a:pt x="75782" y="93519"/>
                </a:cubicBezTo>
                <a:lnTo>
                  <a:pt x="75782" y="90873"/>
                </a:lnTo>
                <a:cubicBezTo>
                  <a:pt x="75782" y="84177"/>
                  <a:pt x="80616" y="79375"/>
                  <a:pt x="85614" y="77742"/>
                </a:cubicBezTo>
                <a:cubicBezTo>
                  <a:pt x="87704" y="77056"/>
                  <a:pt x="89926" y="75945"/>
                  <a:pt x="91559" y="74377"/>
                </a:cubicBezTo>
                <a:cubicBezTo>
                  <a:pt x="92963" y="73005"/>
                  <a:pt x="94074" y="71111"/>
                  <a:pt x="94074" y="67975"/>
                </a:cubicBezTo>
                <a:cubicBezTo>
                  <a:pt x="94074" y="62193"/>
                  <a:pt x="89403" y="57522"/>
                  <a:pt x="83621" y="57522"/>
                </a:cubicBezTo>
                <a:close/>
                <a:moveTo>
                  <a:pt x="73169" y="120206"/>
                </a:moveTo>
                <a:cubicBezTo>
                  <a:pt x="73169" y="114437"/>
                  <a:pt x="77852" y="109753"/>
                  <a:pt x="83621" y="109753"/>
                </a:cubicBezTo>
                <a:cubicBezTo>
                  <a:pt x="89390" y="109753"/>
                  <a:pt x="94074" y="114437"/>
                  <a:pt x="94074" y="120206"/>
                </a:cubicBezTo>
                <a:cubicBezTo>
                  <a:pt x="94074" y="125975"/>
                  <a:pt x="89390" y="130658"/>
                  <a:pt x="83621" y="130658"/>
                </a:cubicBezTo>
                <a:cubicBezTo>
                  <a:pt x="77852" y="130658"/>
                  <a:pt x="73169" y="125975"/>
                  <a:pt x="73169" y="120206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1"/>
          <p:cNvSpPr/>
          <p:nvPr/>
        </p:nvSpPr>
        <p:spPr>
          <a:xfrm>
            <a:off x="983388" y="2030746"/>
            <a:ext cx="2090535" cy="26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80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Handling Missing Data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498384" y="2499026"/>
            <a:ext cx="5385218" cy="2374848"/>
          </a:xfrm>
          <a:custGeom>
            <a:rect b="b" l="l" r="r" t="t"/>
            <a:pathLst>
              <a:path extrusionOk="0" h="2374848" w="5385218">
                <a:moveTo>
                  <a:pt x="33449" y="0"/>
                </a:moveTo>
                <a:lnTo>
                  <a:pt x="5318319" y="0"/>
                </a:lnTo>
                <a:cubicBezTo>
                  <a:pt x="5355266" y="0"/>
                  <a:pt x="5385218" y="29952"/>
                  <a:pt x="5385218" y="66899"/>
                </a:cubicBezTo>
                <a:lnTo>
                  <a:pt x="5385218" y="2307948"/>
                </a:lnTo>
                <a:cubicBezTo>
                  <a:pt x="5385218" y="2344896"/>
                  <a:pt x="5355266" y="2374848"/>
                  <a:pt x="5318319" y="2374848"/>
                </a:cubicBezTo>
                <a:lnTo>
                  <a:pt x="33449" y="2374848"/>
                </a:lnTo>
                <a:cubicBezTo>
                  <a:pt x="14975" y="2374848"/>
                  <a:pt x="0" y="2359872"/>
                  <a:pt x="0" y="2341399"/>
                </a:cubicBezTo>
                <a:lnTo>
                  <a:pt x="0" y="33449"/>
                </a:lnTo>
                <a:cubicBezTo>
                  <a:pt x="0" y="14988"/>
                  <a:pt x="14988" y="0"/>
                  <a:pt x="33449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1"/>
          <p:cNvSpPr/>
          <p:nvPr/>
        </p:nvSpPr>
        <p:spPr>
          <a:xfrm>
            <a:off x="498384" y="2499026"/>
            <a:ext cx="33449" cy="2374848"/>
          </a:xfrm>
          <a:custGeom>
            <a:rect b="b" l="l" r="r" t="t"/>
            <a:pathLst>
              <a:path extrusionOk="0" h="2374848" w="33449">
                <a:moveTo>
                  <a:pt x="33449" y="0"/>
                </a:moveTo>
                <a:lnTo>
                  <a:pt x="33449" y="0"/>
                </a:lnTo>
                <a:lnTo>
                  <a:pt x="33449" y="2374848"/>
                </a:lnTo>
                <a:lnTo>
                  <a:pt x="33449" y="2374848"/>
                </a:lnTo>
                <a:cubicBezTo>
                  <a:pt x="14975" y="2374848"/>
                  <a:pt x="0" y="2359872"/>
                  <a:pt x="0" y="2341399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1"/>
          <p:cNvSpPr/>
          <p:nvPr/>
        </p:nvSpPr>
        <p:spPr>
          <a:xfrm>
            <a:off x="615453" y="2599372"/>
            <a:ext cx="5234700" cy="200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Approaches: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615453" y="2866960"/>
            <a:ext cx="5167802" cy="602074"/>
          </a:xfrm>
          <a:custGeom>
            <a:rect b="b" l="l" r="r" t="t"/>
            <a:pathLst>
              <a:path extrusionOk="0" h="602074" w="5167802">
                <a:moveTo>
                  <a:pt x="33451" y="0"/>
                </a:moveTo>
                <a:lnTo>
                  <a:pt x="5134351" y="0"/>
                </a:lnTo>
                <a:cubicBezTo>
                  <a:pt x="5152826" y="0"/>
                  <a:pt x="5167802" y="14977"/>
                  <a:pt x="5167802" y="33451"/>
                </a:cubicBezTo>
                <a:lnTo>
                  <a:pt x="5167802" y="568623"/>
                </a:lnTo>
                <a:cubicBezTo>
                  <a:pt x="5167802" y="587097"/>
                  <a:pt x="5152826" y="602074"/>
                  <a:pt x="5134351" y="602074"/>
                </a:cubicBezTo>
                <a:lnTo>
                  <a:pt x="33451" y="602074"/>
                </a:lnTo>
                <a:cubicBezTo>
                  <a:pt x="14977" y="602074"/>
                  <a:pt x="0" y="587097"/>
                  <a:pt x="0" y="568623"/>
                </a:cubicBezTo>
                <a:lnTo>
                  <a:pt x="0" y="33451"/>
                </a:lnTo>
                <a:cubicBezTo>
                  <a:pt x="0" y="14989"/>
                  <a:pt x="14989" y="0"/>
                  <a:pt x="33451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1"/>
          <p:cNvSpPr/>
          <p:nvPr/>
        </p:nvSpPr>
        <p:spPr>
          <a:xfrm>
            <a:off x="715799" y="2967306"/>
            <a:ext cx="142156" cy="200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856597" y="2967306"/>
            <a:ext cx="3336494" cy="200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Ignore the Tuples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856597" y="3201446"/>
            <a:ext cx="3328132" cy="1672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2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Suitable for large datasets with multiple missing values in a tuple.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615453" y="3535932"/>
            <a:ext cx="5167802" cy="1237597"/>
          </a:xfrm>
          <a:custGeom>
            <a:rect b="b" l="l" r="r" t="t"/>
            <a:pathLst>
              <a:path extrusionOk="0" h="1237597" w="5167802">
                <a:moveTo>
                  <a:pt x="33452" y="0"/>
                </a:moveTo>
                <a:lnTo>
                  <a:pt x="5134350" y="0"/>
                </a:lnTo>
                <a:cubicBezTo>
                  <a:pt x="5152825" y="0"/>
                  <a:pt x="5167802" y="14977"/>
                  <a:pt x="5167802" y="33452"/>
                </a:cubicBezTo>
                <a:lnTo>
                  <a:pt x="5167802" y="1204144"/>
                </a:lnTo>
                <a:cubicBezTo>
                  <a:pt x="5167802" y="1222620"/>
                  <a:pt x="5152825" y="1237597"/>
                  <a:pt x="5134350" y="1237597"/>
                </a:cubicBezTo>
                <a:lnTo>
                  <a:pt x="33452" y="1237597"/>
                </a:lnTo>
                <a:cubicBezTo>
                  <a:pt x="14977" y="1237597"/>
                  <a:pt x="0" y="1222620"/>
                  <a:pt x="0" y="1204144"/>
                </a:cubicBezTo>
                <a:lnTo>
                  <a:pt x="0" y="33452"/>
                </a:lnTo>
                <a:cubicBezTo>
                  <a:pt x="0" y="14977"/>
                  <a:pt x="14977" y="0"/>
                  <a:pt x="33452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1"/>
          <p:cNvSpPr/>
          <p:nvPr/>
        </p:nvSpPr>
        <p:spPr>
          <a:xfrm>
            <a:off x="715799" y="3636277"/>
            <a:ext cx="167243" cy="200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882310" y="3636277"/>
            <a:ext cx="2073811" cy="200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Fill the Missing Values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1"/>
          <p:cNvSpPr/>
          <p:nvPr/>
        </p:nvSpPr>
        <p:spPr>
          <a:xfrm>
            <a:off x="882310" y="3870417"/>
            <a:ext cx="2065449" cy="1672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2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Various methods to fill gaps: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1016105" y="4104557"/>
            <a:ext cx="1931654" cy="1672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lang="en-US" sz="922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Manual filling:</a:t>
            </a:r>
            <a:r>
              <a:rPr lang="en-US" sz="92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Human intervention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1"/>
          <p:cNvSpPr/>
          <p:nvPr/>
        </p:nvSpPr>
        <p:spPr>
          <a:xfrm>
            <a:off x="1016105" y="4305249"/>
            <a:ext cx="1931654" cy="1672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lang="en-US" sz="922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Attribute mean:</a:t>
            </a:r>
            <a:r>
              <a:rPr lang="en-US" sz="92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 average value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1"/>
          <p:cNvSpPr/>
          <p:nvPr/>
        </p:nvSpPr>
        <p:spPr>
          <a:xfrm>
            <a:off x="1016105" y="4505940"/>
            <a:ext cx="1931654" cy="1672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lang="en-US" sz="922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 probable:</a:t>
            </a:r>
            <a:r>
              <a:rPr lang="en-US" sz="92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 predicted value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1"/>
          <p:cNvSpPr/>
          <p:nvPr/>
        </p:nvSpPr>
        <p:spPr>
          <a:xfrm>
            <a:off x="481659" y="4974220"/>
            <a:ext cx="5401942" cy="401383"/>
          </a:xfrm>
          <a:custGeom>
            <a:rect b="b" l="l" r="r" t="t"/>
            <a:pathLst>
              <a:path extrusionOk="0" h="401383" w="5401942">
                <a:moveTo>
                  <a:pt x="66898" y="0"/>
                </a:moveTo>
                <a:lnTo>
                  <a:pt x="5335044" y="0"/>
                </a:lnTo>
                <a:cubicBezTo>
                  <a:pt x="5371991" y="0"/>
                  <a:pt x="5401942" y="29951"/>
                  <a:pt x="5401942" y="66898"/>
                </a:cubicBezTo>
                <a:lnTo>
                  <a:pt x="5401942" y="334484"/>
                </a:lnTo>
                <a:cubicBezTo>
                  <a:pt x="5401942" y="371431"/>
                  <a:pt x="5371991" y="401383"/>
                  <a:pt x="5335044" y="401383"/>
                </a:cubicBezTo>
                <a:lnTo>
                  <a:pt x="66898" y="401383"/>
                </a:lnTo>
                <a:cubicBezTo>
                  <a:pt x="29976" y="401383"/>
                  <a:pt x="0" y="371407"/>
                  <a:pt x="0" y="334484"/>
                </a:cubicBezTo>
                <a:lnTo>
                  <a:pt x="0" y="66898"/>
                </a:lnTo>
                <a:cubicBezTo>
                  <a:pt x="0" y="29976"/>
                  <a:pt x="29976" y="0"/>
                  <a:pt x="66898" y="0"/>
                </a:cubicBezTo>
                <a:close/>
              </a:path>
            </a:pathLst>
          </a:custGeom>
          <a:solidFill>
            <a:srgbClr val="4FD1C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1"/>
          <p:cNvSpPr/>
          <p:nvPr/>
        </p:nvSpPr>
        <p:spPr>
          <a:xfrm>
            <a:off x="615453" y="5101326"/>
            <a:ext cx="100346" cy="133794"/>
          </a:xfrm>
          <a:custGeom>
            <a:rect b="b" l="l" r="r" t="t"/>
            <a:pathLst>
              <a:path extrusionOk="0" h="133794" w="100346">
                <a:moveTo>
                  <a:pt x="76540" y="100346"/>
                </a:moveTo>
                <a:cubicBezTo>
                  <a:pt x="78447" y="94518"/>
                  <a:pt x="82263" y="89240"/>
                  <a:pt x="86574" y="84693"/>
                </a:cubicBezTo>
                <a:cubicBezTo>
                  <a:pt x="95119" y="75703"/>
                  <a:pt x="100346" y="63552"/>
                  <a:pt x="100346" y="50173"/>
                </a:cubicBezTo>
                <a:cubicBezTo>
                  <a:pt x="100346" y="22473"/>
                  <a:pt x="77872" y="0"/>
                  <a:pt x="50173" y="0"/>
                </a:cubicBezTo>
                <a:cubicBezTo>
                  <a:pt x="22473" y="0"/>
                  <a:pt x="0" y="22473"/>
                  <a:pt x="0" y="50173"/>
                </a:cubicBezTo>
                <a:cubicBezTo>
                  <a:pt x="0" y="63552"/>
                  <a:pt x="5226" y="75703"/>
                  <a:pt x="13771" y="84693"/>
                </a:cubicBezTo>
                <a:cubicBezTo>
                  <a:pt x="18083" y="89240"/>
                  <a:pt x="21924" y="94518"/>
                  <a:pt x="23806" y="100346"/>
                </a:cubicBezTo>
                <a:lnTo>
                  <a:pt x="76514" y="100346"/>
                </a:lnTo>
                <a:close/>
                <a:moveTo>
                  <a:pt x="75259" y="112889"/>
                </a:moveTo>
                <a:lnTo>
                  <a:pt x="25086" y="112889"/>
                </a:lnTo>
                <a:lnTo>
                  <a:pt x="25086" y="117070"/>
                </a:lnTo>
                <a:cubicBezTo>
                  <a:pt x="25086" y="128620"/>
                  <a:pt x="34442" y="137975"/>
                  <a:pt x="45992" y="137975"/>
                </a:cubicBezTo>
                <a:lnTo>
                  <a:pt x="54354" y="137975"/>
                </a:lnTo>
                <a:cubicBezTo>
                  <a:pt x="65904" y="137975"/>
                  <a:pt x="75259" y="128620"/>
                  <a:pt x="75259" y="117070"/>
                </a:cubicBezTo>
                <a:lnTo>
                  <a:pt x="75259" y="112889"/>
                </a:lnTo>
                <a:close/>
                <a:moveTo>
                  <a:pt x="48082" y="29267"/>
                </a:moveTo>
                <a:cubicBezTo>
                  <a:pt x="37682" y="29267"/>
                  <a:pt x="29267" y="37682"/>
                  <a:pt x="29267" y="48082"/>
                </a:cubicBezTo>
                <a:cubicBezTo>
                  <a:pt x="29267" y="51558"/>
                  <a:pt x="26471" y="54354"/>
                  <a:pt x="22996" y="54354"/>
                </a:cubicBezTo>
                <a:cubicBezTo>
                  <a:pt x="19520" y="54354"/>
                  <a:pt x="16724" y="51558"/>
                  <a:pt x="16724" y="48082"/>
                </a:cubicBezTo>
                <a:cubicBezTo>
                  <a:pt x="16724" y="30757"/>
                  <a:pt x="30757" y="16724"/>
                  <a:pt x="48082" y="16724"/>
                </a:cubicBezTo>
                <a:cubicBezTo>
                  <a:pt x="51558" y="16724"/>
                  <a:pt x="54354" y="19520"/>
                  <a:pt x="54354" y="22996"/>
                </a:cubicBezTo>
                <a:cubicBezTo>
                  <a:pt x="54354" y="26471"/>
                  <a:pt x="51558" y="29267"/>
                  <a:pt x="48082" y="29267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1"/>
          <p:cNvSpPr/>
          <p:nvPr/>
        </p:nvSpPr>
        <p:spPr>
          <a:xfrm>
            <a:off x="793295" y="5074565"/>
            <a:ext cx="5056858" cy="200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Best Practice:</a:t>
            </a:r>
            <a:r>
              <a:rPr lang="en-US" sz="105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Choose method based on dataset size and missing value pattern.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1"/>
          <p:cNvSpPr/>
          <p:nvPr/>
        </p:nvSpPr>
        <p:spPr>
          <a:xfrm>
            <a:off x="6168646" y="1823365"/>
            <a:ext cx="5682910" cy="4169363"/>
          </a:xfrm>
          <a:custGeom>
            <a:rect b="b" l="l" r="r" t="t"/>
            <a:pathLst>
              <a:path extrusionOk="0" h="4169363" w="5682910">
                <a:moveTo>
                  <a:pt x="100357" y="0"/>
                </a:moveTo>
                <a:lnTo>
                  <a:pt x="5582554" y="0"/>
                </a:lnTo>
                <a:cubicBezTo>
                  <a:pt x="5637979" y="0"/>
                  <a:pt x="5682910" y="44931"/>
                  <a:pt x="5682910" y="100357"/>
                </a:cubicBezTo>
                <a:lnTo>
                  <a:pt x="5682910" y="4069006"/>
                </a:lnTo>
                <a:cubicBezTo>
                  <a:pt x="5682910" y="4124432"/>
                  <a:pt x="5637979" y="4169363"/>
                  <a:pt x="5582554" y="4169363"/>
                </a:cubicBezTo>
                <a:lnTo>
                  <a:pt x="100357" y="4169363"/>
                </a:lnTo>
                <a:cubicBezTo>
                  <a:pt x="44931" y="4169363"/>
                  <a:pt x="0" y="4124432"/>
                  <a:pt x="0" y="4069006"/>
                </a:cubicBezTo>
                <a:lnTo>
                  <a:pt x="0" y="100357"/>
                </a:lnTo>
                <a:cubicBezTo>
                  <a:pt x="0" y="44968"/>
                  <a:pt x="44968" y="0"/>
                  <a:pt x="100357" y="0"/>
                </a:cubicBezTo>
                <a:close/>
              </a:path>
            </a:pathLst>
          </a:custGeom>
          <a:solidFill>
            <a:srgbClr val="2D3748"/>
          </a:solidFill>
          <a:ln cap="flat" cmpd="sng" w="203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1"/>
          <p:cNvSpPr/>
          <p:nvPr/>
        </p:nvSpPr>
        <p:spPr>
          <a:xfrm>
            <a:off x="6309130" y="1963849"/>
            <a:ext cx="401383" cy="401383"/>
          </a:xfrm>
          <a:custGeom>
            <a:rect b="b" l="l" r="r" t="t"/>
            <a:pathLst>
              <a:path extrusionOk="0" h="401383" w="401383">
                <a:moveTo>
                  <a:pt x="66898" y="0"/>
                </a:moveTo>
                <a:lnTo>
                  <a:pt x="334484" y="0"/>
                </a:lnTo>
                <a:cubicBezTo>
                  <a:pt x="371407" y="0"/>
                  <a:pt x="401383" y="29976"/>
                  <a:pt x="401383" y="66898"/>
                </a:cubicBezTo>
                <a:lnTo>
                  <a:pt x="401383" y="334484"/>
                </a:lnTo>
                <a:cubicBezTo>
                  <a:pt x="401383" y="371407"/>
                  <a:pt x="371407" y="401383"/>
                  <a:pt x="334484" y="401383"/>
                </a:cubicBezTo>
                <a:lnTo>
                  <a:pt x="66898" y="401383"/>
                </a:lnTo>
                <a:cubicBezTo>
                  <a:pt x="29976" y="401383"/>
                  <a:pt x="0" y="371407"/>
                  <a:pt x="0" y="334484"/>
                </a:cubicBezTo>
                <a:lnTo>
                  <a:pt x="0" y="66898"/>
                </a:lnTo>
                <a:cubicBezTo>
                  <a:pt x="0" y="29976"/>
                  <a:pt x="29976" y="0"/>
                  <a:pt x="66898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1"/>
          <p:cNvSpPr/>
          <p:nvPr/>
        </p:nvSpPr>
        <p:spPr>
          <a:xfrm>
            <a:off x="6405295" y="2080919"/>
            <a:ext cx="209053" cy="167243"/>
          </a:xfrm>
          <a:custGeom>
            <a:rect b="b" l="l" r="r" t="t"/>
            <a:pathLst>
              <a:path extrusionOk="0" h="167243" w="209053">
                <a:moveTo>
                  <a:pt x="174298" y="10616"/>
                </a:moveTo>
                <a:cubicBezTo>
                  <a:pt x="170934" y="7872"/>
                  <a:pt x="166002" y="8395"/>
                  <a:pt x="163258" y="11759"/>
                </a:cubicBezTo>
                <a:cubicBezTo>
                  <a:pt x="160514" y="15124"/>
                  <a:pt x="161037" y="20056"/>
                  <a:pt x="164401" y="22800"/>
                </a:cubicBezTo>
                <a:cubicBezTo>
                  <a:pt x="182105" y="37172"/>
                  <a:pt x="193374" y="59058"/>
                  <a:pt x="193374" y="83621"/>
                </a:cubicBezTo>
                <a:cubicBezTo>
                  <a:pt x="193374" y="108185"/>
                  <a:pt x="182105" y="130070"/>
                  <a:pt x="164401" y="144476"/>
                </a:cubicBezTo>
                <a:cubicBezTo>
                  <a:pt x="161037" y="147219"/>
                  <a:pt x="160547" y="152152"/>
                  <a:pt x="163258" y="155516"/>
                </a:cubicBezTo>
                <a:cubicBezTo>
                  <a:pt x="165969" y="158881"/>
                  <a:pt x="170934" y="159371"/>
                  <a:pt x="174298" y="156659"/>
                </a:cubicBezTo>
                <a:cubicBezTo>
                  <a:pt x="195498" y="139380"/>
                  <a:pt x="209053" y="113085"/>
                  <a:pt x="209053" y="83621"/>
                </a:cubicBezTo>
                <a:cubicBezTo>
                  <a:pt x="209053" y="54158"/>
                  <a:pt x="195498" y="27830"/>
                  <a:pt x="174298" y="10616"/>
                </a:cubicBezTo>
                <a:close/>
                <a:moveTo>
                  <a:pt x="154536" y="34951"/>
                </a:moveTo>
                <a:cubicBezTo>
                  <a:pt x="151172" y="32207"/>
                  <a:pt x="146239" y="32730"/>
                  <a:pt x="143496" y="36094"/>
                </a:cubicBezTo>
                <a:cubicBezTo>
                  <a:pt x="140752" y="39459"/>
                  <a:pt x="141274" y="44391"/>
                  <a:pt x="144639" y="47135"/>
                </a:cubicBezTo>
                <a:cubicBezTo>
                  <a:pt x="155255" y="55758"/>
                  <a:pt x="162016" y="68890"/>
                  <a:pt x="162016" y="83621"/>
                </a:cubicBezTo>
                <a:cubicBezTo>
                  <a:pt x="162016" y="98353"/>
                  <a:pt x="155255" y="111484"/>
                  <a:pt x="144639" y="120140"/>
                </a:cubicBezTo>
                <a:cubicBezTo>
                  <a:pt x="141274" y="122884"/>
                  <a:pt x="140784" y="127817"/>
                  <a:pt x="143496" y="131181"/>
                </a:cubicBezTo>
                <a:cubicBezTo>
                  <a:pt x="146207" y="134546"/>
                  <a:pt x="151172" y="135035"/>
                  <a:pt x="154536" y="132324"/>
                </a:cubicBezTo>
                <a:cubicBezTo>
                  <a:pt x="168647" y="120826"/>
                  <a:pt x="177695" y="103285"/>
                  <a:pt x="177695" y="83654"/>
                </a:cubicBezTo>
                <a:cubicBezTo>
                  <a:pt x="177695" y="64023"/>
                  <a:pt x="168647" y="46482"/>
                  <a:pt x="154536" y="34984"/>
                </a:cubicBezTo>
                <a:close/>
                <a:moveTo>
                  <a:pt x="134774" y="59286"/>
                </a:moveTo>
                <a:cubicBezTo>
                  <a:pt x="131410" y="56542"/>
                  <a:pt x="126477" y="57065"/>
                  <a:pt x="123734" y="60430"/>
                </a:cubicBezTo>
                <a:cubicBezTo>
                  <a:pt x="120990" y="63794"/>
                  <a:pt x="121512" y="68726"/>
                  <a:pt x="124877" y="71470"/>
                </a:cubicBezTo>
                <a:cubicBezTo>
                  <a:pt x="128405" y="74345"/>
                  <a:pt x="130658" y="78722"/>
                  <a:pt x="130658" y="83621"/>
                </a:cubicBezTo>
                <a:cubicBezTo>
                  <a:pt x="130658" y="88521"/>
                  <a:pt x="128405" y="92898"/>
                  <a:pt x="124877" y="95805"/>
                </a:cubicBezTo>
                <a:cubicBezTo>
                  <a:pt x="121512" y="98549"/>
                  <a:pt x="121022" y="103481"/>
                  <a:pt x="123734" y="106846"/>
                </a:cubicBezTo>
                <a:cubicBezTo>
                  <a:pt x="126445" y="110210"/>
                  <a:pt x="131410" y="110700"/>
                  <a:pt x="134774" y="107989"/>
                </a:cubicBezTo>
                <a:cubicBezTo>
                  <a:pt x="141797" y="102208"/>
                  <a:pt x="146337" y="93453"/>
                  <a:pt x="146337" y="83621"/>
                </a:cubicBezTo>
                <a:cubicBezTo>
                  <a:pt x="146337" y="73789"/>
                  <a:pt x="141797" y="65035"/>
                  <a:pt x="134774" y="59286"/>
                </a:cubicBezTo>
                <a:close/>
                <a:moveTo>
                  <a:pt x="26132" y="114979"/>
                </a:moveTo>
                <a:lnTo>
                  <a:pt x="41811" y="114979"/>
                </a:lnTo>
                <a:lnTo>
                  <a:pt x="85614" y="153916"/>
                </a:lnTo>
                <a:cubicBezTo>
                  <a:pt x="87704" y="155778"/>
                  <a:pt x="90383" y="156790"/>
                  <a:pt x="93159" y="156790"/>
                </a:cubicBezTo>
                <a:cubicBezTo>
                  <a:pt x="99431" y="156790"/>
                  <a:pt x="104527" y="151694"/>
                  <a:pt x="104527" y="145423"/>
                </a:cubicBezTo>
                <a:lnTo>
                  <a:pt x="104527" y="21820"/>
                </a:lnTo>
                <a:cubicBezTo>
                  <a:pt x="104527" y="15548"/>
                  <a:pt x="99431" y="10453"/>
                  <a:pt x="93159" y="10453"/>
                </a:cubicBezTo>
                <a:cubicBezTo>
                  <a:pt x="90383" y="10453"/>
                  <a:pt x="87704" y="11465"/>
                  <a:pt x="85614" y="13327"/>
                </a:cubicBezTo>
                <a:lnTo>
                  <a:pt x="41811" y="52263"/>
                </a:lnTo>
                <a:lnTo>
                  <a:pt x="26132" y="52263"/>
                </a:lnTo>
                <a:cubicBezTo>
                  <a:pt x="17476" y="52263"/>
                  <a:pt x="10453" y="59286"/>
                  <a:pt x="10453" y="67942"/>
                </a:cubicBezTo>
                <a:lnTo>
                  <a:pt x="10453" y="99300"/>
                </a:lnTo>
                <a:cubicBezTo>
                  <a:pt x="10453" y="107957"/>
                  <a:pt x="17476" y="114979"/>
                  <a:pt x="26132" y="114979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1"/>
          <p:cNvSpPr/>
          <p:nvPr/>
        </p:nvSpPr>
        <p:spPr>
          <a:xfrm>
            <a:off x="6810858" y="2030746"/>
            <a:ext cx="1898206" cy="267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8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Handling Noisy Data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1"/>
          <p:cNvSpPr/>
          <p:nvPr/>
        </p:nvSpPr>
        <p:spPr>
          <a:xfrm>
            <a:off x="6325854" y="2499026"/>
            <a:ext cx="5385218" cy="2851490"/>
          </a:xfrm>
          <a:custGeom>
            <a:rect b="b" l="l" r="r" t="t"/>
            <a:pathLst>
              <a:path extrusionOk="0" h="2851490" w="5385218">
                <a:moveTo>
                  <a:pt x="33449" y="0"/>
                </a:moveTo>
                <a:lnTo>
                  <a:pt x="5318322" y="0"/>
                </a:lnTo>
                <a:cubicBezTo>
                  <a:pt x="5355268" y="0"/>
                  <a:pt x="5385218" y="29950"/>
                  <a:pt x="5385218" y="66896"/>
                </a:cubicBezTo>
                <a:lnTo>
                  <a:pt x="5385218" y="2784594"/>
                </a:lnTo>
                <a:cubicBezTo>
                  <a:pt x="5385218" y="2821539"/>
                  <a:pt x="5355268" y="2851490"/>
                  <a:pt x="5318322" y="2851490"/>
                </a:cubicBezTo>
                <a:lnTo>
                  <a:pt x="33449" y="2851490"/>
                </a:lnTo>
                <a:cubicBezTo>
                  <a:pt x="14975" y="2851490"/>
                  <a:pt x="0" y="2836514"/>
                  <a:pt x="0" y="2818041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1"/>
          <p:cNvSpPr/>
          <p:nvPr/>
        </p:nvSpPr>
        <p:spPr>
          <a:xfrm>
            <a:off x="6325854" y="2499026"/>
            <a:ext cx="33449" cy="2851490"/>
          </a:xfrm>
          <a:custGeom>
            <a:rect b="b" l="l" r="r" t="t"/>
            <a:pathLst>
              <a:path extrusionOk="0" h="2851490" w="33449">
                <a:moveTo>
                  <a:pt x="33449" y="0"/>
                </a:moveTo>
                <a:lnTo>
                  <a:pt x="33449" y="0"/>
                </a:lnTo>
                <a:lnTo>
                  <a:pt x="33449" y="2851490"/>
                </a:lnTo>
                <a:lnTo>
                  <a:pt x="33449" y="2851490"/>
                </a:lnTo>
                <a:cubicBezTo>
                  <a:pt x="14975" y="2851490"/>
                  <a:pt x="0" y="2836514"/>
                  <a:pt x="0" y="2818041"/>
                </a:cubicBezTo>
                <a:lnTo>
                  <a:pt x="0" y="33449"/>
                </a:lnTo>
                <a:cubicBezTo>
                  <a:pt x="0" y="14975"/>
                  <a:pt x="14975" y="0"/>
                  <a:pt x="33449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1"/>
          <p:cNvSpPr/>
          <p:nvPr/>
        </p:nvSpPr>
        <p:spPr>
          <a:xfrm>
            <a:off x="6442924" y="2599372"/>
            <a:ext cx="5234700" cy="200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Noisy data is </a:t>
            </a:r>
            <a:r>
              <a:rPr b="1" lang="en-US" sz="1054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meaningless data</a:t>
            </a:r>
            <a:r>
              <a:rPr lang="en-US" sz="105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generated from faulty collection or entry errors.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1"/>
          <p:cNvSpPr/>
          <p:nvPr/>
        </p:nvSpPr>
        <p:spPr>
          <a:xfrm>
            <a:off x="6442924" y="2900409"/>
            <a:ext cx="5234700" cy="200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Handling Methods: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1"/>
          <p:cNvSpPr/>
          <p:nvPr/>
        </p:nvSpPr>
        <p:spPr>
          <a:xfrm>
            <a:off x="6442924" y="3167998"/>
            <a:ext cx="5167802" cy="760955"/>
          </a:xfrm>
          <a:custGeom>
            <a:rect b="b" l="l" r="r" t="t"/>
            <a:pathLst>
              <a:path extrusionOk="0" h="760955" w="5167802">
                <a:moveTo>
                  <a:pt x="33452" y="0"/>
                </a:moveTo>
                <a:lnTo>
                  <a:pt x="5134351" y="0"/>
                </a:lnTo>
                <a:cubicBezTo>
                  <a:pt x="5152826" y="0"/>
                  <a:pt x="5167802" y="14977"/>
                  <a:pt x="5167802" y="33452"/>
                </a:cubicBezTo>
                <a:lnTo>
                  <a:pt x="5167802" y="727503"/>
                </a:lnTo>
                <a:cubicBezTo>
                  <a:pt x="5167802" y="745978"/>
                  <a:pt x="5152826" y="760955"/>
                  <a:pt x="5134351" y="760955"/>
                </a:cubicBezTo>
                <a:lnTo>
                  <a:pt x="33452" y="760955"/>
                </a:lnTo>
                <a:cubicBezTo>
                  <a:pt x="14977" y="760955"/>
                  <a:pt x="0" y="745978"/>
                  <a:pt x="0" y="727503"/>
                </a:cubicBezTo>
                <a:lnTo>
                  <a:pt x="0" y="33452"/>
                </a:lnTo>
                <a:cubicBezTo>
                  <a:pt x="0" y="14989"/>
                  <a:pt x="14989" y="0"/>
                  <a:pt x="33452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1"/>
          <p:cNvSpPr/>
          <p:nvPr/>
        </p:nvSpPr>
        <p:spPr>
          <a:xfrm>
            <a:off x="6543270" y="3268343"/>
            <a:ext cx="5034008" cy="200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Binning Method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1"/>
          <p:cNvSpPr/>
          <p:nvPr/>
        </p:nvSpPr>
        <p:spPr>
          <a:xfrm>
            <a:off x="6543270" y="3502483"/>
            <a:ext cx="5025646" cy="326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Works on sorted data. Divide into segments (bins) of equal size and smooth by replacing values with mean or boundary.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1"/>
          <p:cNvSpPr/>
          <p:nvPr/>
        </p:nvSpPr>
        <p:spPr>
          <a:xfrm>
            <a:off x="6442924" y="3991668"/>
            <a:ext cx="5167802" cy="593712"/>
          </a:xfrm>
          <a:custGeom>
            <a:rect b="b" l="l" r="r" t="t"/>
            <a:pathLst>
              <a:path extrusionOk="0" h="593712" w="5167802">
                <a:moveTo>
                  <a:pt x="33450" y="0"/>
                </a:moveTo>
                <a:lnTo>
                  <a:pt x="5134353" y="0"/>
                </a:lnTo>
                <a:cubicBezTo>
                  <a:pt x="5152827" y="0"/>
                  <a:pt x="5167802" y="14976"/>
                  <a:pt x="5167802" y="33450"/>
                </a:cubicBezTo>
                <a:lnTo>
                  <a:pt x="5167802" y="560262"/>
                </a:lnTo>
                <a:cubicBezTo>
                  <a:pt x="5167802" y="578736"/>
                  <a:pt x="5152827" y="593712"/>
                  <a:pt x="5134353" y="593712"/>
                </a:cubicBezTo>
                <a:lnTo>
                  <a:pt x="33450" y="593712"/>
                </a:lnTo>
                <a:cubicBezTo>
                  <a:pt x="14976" y="593712"/>
                  <a:pt x="0" y="578736"/>
                  <a:pt x="0" y="560262"/>
                </a:cubicBezTo>
                <a:lnTo>
                  <a:pt x="0" y="33450"/>
                </a:lnTo>
                <a:cubicBezTo>
                  <a:pt x="0" y="14988"/>
                  <a:pt x="14988" y="0"/>
                  <a:pt x="3345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1"/>
          <p:cNvSpPr/>
          <p:nvPr/>
        </p:nvSpPr>
        <p:spPr>
          <a:xfrm>
            <a:off x="6543270" y="4092014"/>
            <a:ext cx="5034008" cy="200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Regression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6543270" y="4326154"/>
            <a:ext cx="5025646" cy="158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Smooth data by fitting to a regression function (linear or multiple). Removes random variations.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1"/>
          <p:cNvSpPr/>
          <p:nvPr/>
        </p:nvSpPr>
        <p:spPr>
          <a:xfrm>
            <a:off x="6442924" y="4654368"/>
            <a:ext cx="5167802" cy="593712"/>
          </a:xfrm>
          <a:custGeom>
            <a:rect b="b" l="l" r="r" t="t"/>
            <a:pathLst>
              <a:path extrusionOk="0" h="593712" w="5167802">
                <a:moveTo>
                  <a:pt x="33450" y="0"/>
                </a:moveTo>
                <a:lnTo>
                  <a:pt x="5134353" y="0"/>
                </a:lnTo>
                <a:cubicBezTo>
                  <a:pt x="5152827" y="0"/>
                  <a:pt x="5167802" y="14976"/>
                  <a:pt x="5167802" y="33450"/>
                </a:cubicBezTo>
                <a:lnTo>
                  <a:pt x="5167802" y="560262"/>
                </a:lnTo>
                <a:cubicBezTo>
                  <a:pt x="5167802" y="578736"/>
                  <a:pt x="5152827" y="593712"/>
                  <a:pt x="5134353" y="593712"/>
                </a:cubicBezTo>
                <a:lnTo>
                  <a:pt x="33450" y="593712"/>
                </a:lnTo>
                <a:cubicBezTo>
                  <a:pt x="14976" y="593712"/>
                  <a:pt x="0" y="578736"/>
                  <a:pt x="0" y="560262"/>
                </a:cubicBezTo>
                <a:lnTo>
                  <a:pt x="0" y="33450"/>
                </a:lnTo>
                <a:cubicBezTo>
                  <a:pt x="0" y="14988"/>
                  <a:pt x="14988" y="0"/>
                  <a:pt x="3345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1"/>
          <p:cNvSpPr/>
          <p:nvPr/>
        </p:nvSpPr>
        <p:spPr>
          <a:xfrm>
            <a:off x="6543270" y="4754714"/>
            <a:ext cx="5034008" cy="200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Clustering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1"/>
          <p:cNvSpPr/>
          <p:nvPr/>
        </p:nvSpPr>
        <p:spPr>
          <a:xfrm>
            <a:off x="6543270" y="4988853"/>
            <a:ext cx="5025646" cy="158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similar data in clusters. Outliers fall outside clusters and can be identified for removal.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6309130" y="5450862"/>
            <a:ext cx="5401942" cy="401383"/>
          </a:xfrm>
          <a:custGeom>
            <a:rect b="b" l="l" r="r" t="t"/>
            <a:pathLst>
              <a:path extrusionOk="0" h="401383" w="5401942">
                <a:moveTo>
                  <a:pt x="66898" y="0"/>
                </a:moveTo>
                <a:lnTo>
                  <a:pt x="5335044" y="0"/>
                </a:lnTo>
                <a:cubicBezTo>
                  <a:pt x="5371991" y="0"/>
                  <a:pt x="5401942" y="29951"/>
                  <a:pt x="5401942" y="66898"/>
                </a:cubicBezTo>
                <a:lnTo>
                  <a:pt x="5401942" y="334484"/>
                </a:lnTo>
                <a:cubicBezTo>
                  <a:pt x="5401942" y="371431"/>
                  <a:pt x="5371991" y="401383"/>
                  <a:pt x="5335044" y="401383"/>
                </a:cubicBezTo>
                <a:lnTo>
                  <a:pt x="66898" y="401383"/>
                </a:lnTo>
                <a:cubicBezTo>
                  <a:pt x="29976" y="401383"/>
                  <a:pt x="0" y="371407"/>
                  <a:pt x="0" y="334484"/>
                </a:cubicBezTo>
                <a:lnTo>
                  <a:pt x="0" y="66898"/>
                </a:lnTo>
                <a:cubicBezTo>
                  <a:pt x="0" y="29976"/>
                  <a:pt x="29976" y="0"/>
                  <a:pt x="66898" y="0"/>
                </a:cubicBezTo>
                <a:close/>
              </a:path>
            </a:pathLst>
          </a:custGeom>
          <a:solidFill>
            <a:srgbClr val="F6AD55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1"/>
          <p:cNvSpPr/>
          <p:nvPr/>
        </p:nvSpPr>
        <p:spPr>
          <a:xfrm>
            <a:off x="6426200" y="5577968"/>
            <a:ext cx="133794" cy="133794"/>
          </a:xfrm>
          <a:custGeom>
            <a:rect b="b" l="l" r="r" t="t"/>
            <a:pathLst>
              <a:path extrusionOk="0" h="133794" w="133794">
                <a:moveTo>
                  <a:pt x="66897" y="133794"/>
                </a:moveTo>
                <a:cubicBezTo>
                  <a:pt x="103819" y="133794"/>
                  <a:pt x="133794" y="103819"/>
                  <a:pt x="133794" y="66897"/>
                </a:cubicBezTo>
                <a:cubicBezTo>
                  <a:pt x="133794" y="29976"/>
                  <a:pt x="103819" y="0"/>
                  <a:pt x="66897" y="0"/>
                </a:cubicBezTo>
                <a:cubicBezTo>
                  <a:pt x="29976" y="0"/>
                  <a:pt x="0" y="29976"/>
                  <a:pt x="0" y="66897"/>
                </a:cubicBezTo>
                <a:cubicBezTo>
                  <a:pt x="0" y="103819"/>
                  <a:pt x="29976" y="133794"/>
                  <a:pt x="66897" y="133794"/>
                </a:cubicBezTo>
                <a:close/>
                <a:moveTo>
                  <a:pt x="58535" y="41811"/>
                </a:moveTo>
                <a:cubicBezTo>
                  <a:pt x="58535" y="37196"/>
                  <a:pt x="62282" y="33449"/>
                  <a:pt x="66897" y="33449"/>
                </a:cubicBezTo>
                <a:cubicBezTo>
                  <a:pt x="71512" y="33449"/>
                  <a:pt x="75259" y="37196"/>
                  <a:pt x="75259" y="41811"/>
                </a:cubicBezTo>
                <a:cubicBezTo>
                  <a:pt x="75259" y="46426"/>
                  <a:pt x="71512" y="50173"/>
                  <a:pt x="66897" y="50173"/>
                </a:cubicBezTo>
                <a:cubicBezTo>
                  <a:pt x="62282" y="50173"/>
                  <a:pt x="58535" y="46426"/>
                  <a:pt x="58535" y="41811"/>
                </a:cubicBezTo>
                <a:close/>
                <a:moveTo>
                  <a:pt x="56444" y="58535"/>
                </a:moveTo>
                <a:lnTo>
                  <a:pt x="68988" y="58535"/>
                </a:lnTo>
                <a:cubicBezTo>
                  <a:pt x="72463" y="58535"/>
                  <a:pt x="75259" y="61331"/>
                  <a:pt x="75259" y="64807"/>
                </a:cubicBezTo>
                <a:lnTo>
                  <a:pt x="75259" y="87802"/>
                </a:lnTo>
                <a:lnTo>
                  <a:pt x="77350" y="87802"/>
                </a:lnTo>
                <a:cubicBezTo>
                  <a:pt x="80825" y="87802"/>
                  <a:pt x="83621" y="90599"/>
                  <a:pt x="83621" y="94074"/>
                </a:cubicBezTo>
                <a:cubicBezTo>
                  <a:pt x="83621" y="97550"/>
                  <a:pt x="80825" y="100346"/>
                  <a:pt x="77350" y="100346"/>
                </a:cubicBezTo>
                <a:lnTo>
                  <a:pt x="56444" y="100346"/>
                </a:lnTo>
                <a:cubicBezTo>
                  <a:pt x="52969" y="100346"/>
                  <a:pt x="50173" y="97550"/>
                  <a:pt x="50173" y="94074"/>
                </a:cubicBezTo>
                <a:cubicBezTo>
                  <a:pt x="50173" y="90599"/>
                  <a:pt x="52969" y="87802"/>
                  <a:pt x="56444" y="87802"/>
                </a:cubicBezTo>
                <a:lnTo>
                  <a:pt x="62716" y="87802"/>
                </a:lnTo>
                <a:lnTo>
                  <a:pt x="62716" y="71078"/>
                </a:lnTo>
                <a:lnTo>
                  <a:pt x="56444" y="71078"/>
                </a:lnTo>
                <a:cubicBezTo>
                  <a:pt x="52969" y="71078"/>
                  <a:pt x="50173" y="68282"/>
                  <a:pt x="50173" y="64807"/>
                </a:cubicBezTo>
                <a:cubicBezTo>
                  <a:pt x="50173" y="61331"/>
                  <a:pt x="52969" y="58535"/>
                  <a:pt x="56444" y="58535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1"/>
          <p:cNvSpPr/>
          <p:nvPr/>
        </p:nvSpPr>
        <p:spPr>
          <a:xfrm>
            <a:off x="6620766" y="5551207"/>
            <a:ext cx="5056858" cy="200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Result:</a:t>
            </a:r>
            <a:r>
              <a:rPr lang="en-US" sz="105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Cleaner, more reliable data for accurate mining.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0" name="Google Shape;5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8906" y="105968"/>
            <a:ext cx="1502714" cy="56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2"/>
          <p:cNvSpPr/>
          <p:nvPr/>
        </p:nvSpPr>
        <p:spPr>
          <a:xfrm>
            <a:off x="381000" y="476250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519113" y="628650"/>
            <a:ext cx="257175" cy="228600"/>
          </a:xfrm>
          <a:custGeom>
            <a:rect b="b" l="l" r="r" t="t"/>
            <a:pathLst>
              <a:path extrusionOk="0" h="228600" w="257175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1066800" y="381000"/>
            <a:ext cx="3457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Data Integration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983213" y="980959"/>
            <a:ext cx="3324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Merging Heterogeneous Sources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2"/>
          <p:cNvSpPr/>
          <p:nvPr/>
        </p:nvSpPr>
        <p:spPr>
          <a:xfrm>
            <a:off x="381000" y="1320282"/>
            <a:ext cx="5625465" cy="1748790"/>
          </a:xfrm>
          <a:custGeom>
            <a:rect b="b" l="l" r="r" t="t"/>
            <a:pathLst>
              <a:path extrusionOk="0" h="1748790" w="5625465">
                <a:moveTo>
                  <a:pt x="114301" y="0"/>
                </a:moveTo>
                <a:lnTo>
                  <a:pt x="5511164" y="0"/>
                </a:lnTo>
                <a:cubicBezTo>
                  <a:pt x="5574291" y="0"/>
                  <a:pt x="5625465" y="51174"/>
                  <a:pt x="5625465" y="114301"/>
                </a:cubicBezTo>
                <a:lnTo>
                  <a:pt x="5625465" y="1634489"/>
                </a:lnTo>
                <a:cubicBezTo>
                  <a:pt x="5625465" y="1697616"/>
                  <a:pt x="5574291" y="1748790"/>
                  <a:pt x="5511164" y="1748790"/>
                </a:cubicBezTo>
                <a:lnTo>
                  <a:pt x="114301" y="1748790"/>
                </a:lnTo>
                <a:cubicBezTo>
                  <a:pt x="51174" y="1748790"/>
                  <a:pt x="0" y="1697616"/>
                  <a:pt x="0" y="163448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20000"/>
                </a:srgbClr>
              </a:gs>
              <a:gs pos="100000">
                <a:srgbClr val="2D3748"/>
              </a:gs>
            </a:gsLst>
            <a:lin ang="2700000" scaled="0"/>
          </a:gradFill>
          <a:ln cap="flat" cmpd="sng" w="203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2"/>
          <p:cNvSpPr/>
          <p:nvPr/>
        </p:nvSpPr>
        <p:spPr>
          <a:xfrm>
            <a:off x="548640" y="1424941"/>
            <a:ext cx="5400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What is Data Integration?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548640" y="1805941"/>
            <a:ext cx="53816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process of </a:t>
            </a:r>
            <a:r>
              <a:rPr b="1" lang="en-US" sz="1200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merging data from heterogeneous sources</a:t>
            </a:r>
            <a:r>
              <a:rPr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into a common source like a data warehouse.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548640" y="2415541"/>
            <a:ext cx="5305425" cy="438150"/>
          </a:xfrm>
          <a:custGeom>
            <a:rect b="b" l="l" r="r" t="t"/>
            <a:pathLst>
              <a:path extrusionOk="0" h="438150" w="5305425">
                <a:moveTo>
                  <a:pt x="76199" y="0"/>
                </a:moveTo>
                <a:lnTo>
                  <a:pt x="5229226" y="0"/>
                </a:lnTo>
                <a:cubicBezTo>
                  <a:pt x="5271310" y="0"/>
                  <a:pt x="5305425" y="34115"/>
                  <a:pt x="5305425" y="76199"/>
                </a:cubicBezTo>
                <a:lnTo>
                  <a:pt x="5305425" y="361951"/>
                </a:lnTo>
                <a:cubicBezTo>
                  <a:pt x="5305425" y="404035"/>
                  <a:pt x="5271310" y="438150"/>
                  <a:pt x="5229226" y="438150"/>
                </a:cubicBezTo>
                <a:lnTo>
                  <a:pt x="76199" y="438150"/>
                </a:lnTo>
                <a:cubicBezTo>
                  <a:pt x="34115" y="438150"/>
                  <a:pt x="0" y="404035"/>
                  <a:pt x="0" y="3619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662940" y="2529841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Goal:</a:t>
            </a:r>
            <a:r>
              <a:rPr lang="en-US" sz="12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Provide a unified view of scattered data while maintaining accuracy.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400050" y="3135627"/>
            <a:ext cx="5619750" cy="1905000"/>
          </a:xfrm>
          <a:custGeom>
            <a:rect b="b" l="l" r="r" t="t"/>
            <a:pathLst>
              <a:path extrusionOk="0" h="1905000" w="5619750">
                <a:moveTo>
                  <a:pt x="381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1790700"/>
                </a:lnTo>
                <a:cubicBezTo>
                  <a:pt x="5619750" y="1853784"/>
                  <a:pt x="5568534" y="1905000"/>
                  <a:pt x="5505450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2"/>
          <p:cNvSpPr/>
          <p:nvPr/>
        </p:nvSpPr>
        <p:spPr>
          <a:xfrm>
            <a:off x="400050" y="3135627"/>
            <a:ext cx="38100" cy="1905000"/>
          </a:xfrm>
          <a:custGeom>
            <a:rect b="b" l="l" r="r" t="t"/>
            <a:pathLst>
              <a:path extrusionOk="0" h="1905000" w="38100">
                <a:moveTo>
                  <a:pt x="3810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2"/>
          <p:cNvSpPr/>
          <p:nvPr/>
        </p:nvSpPr>
        <p:spPr>
          <a:xfrm>
            <a:off x="571500" y="3288027"/>
            <a:ext cx="5391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Data Sources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571500" y="3669027"/>
            <a:ext cx="2609850" cy="571500"/>
          </a:xfrm>
          <a:custGeom>
            <a:rect b="b" l="l" r="r" t="t"/>
            <a:pathLst>
              <a:path extrusionOk="0" h="571500" w="2609850">
                <a:moveTo>
                  <a:pt x="38102" y="0"/>
                </a:moveTo>
                <a:lnTo>
                  <a:pt x="2571748" y="0"/>
                </a:lnTo>
                <a:cubicBezTo>
                  <a:pt x="2592791" y="0"/>
                  <a:pt x="2609850" y="17059"/>
                  <a:pt x="2609850" y="38102"/>
                </a:cubicBezTo>
                <a:lnTo>
                  <a:pt x="2609850" y="533398"/>
                </a:lnTo>
                <a:cubicBezTo>
                  <a:pt x="2609850" y="554441"/>
                  <a:pt x="2592791" y="571500"/>
                  <a:pt x="25717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2"/>
          <p:cNvSpPr/>
          <p:nvPr/>
        </p:nvSpPr>
        <p:spPr>
          <a:xfrm>
            <a:off x="1793081" y="3745227"/>
            <a:ext cx="166688" cy="190500"/>
          </a:xfrm>
          <a:custGeom>
            <a:rect b="b" l="l" r="r" t="t"/>
            <a:pathLst>
              <a:path extrusionOk="0" h="190500" w="166688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2"/>
          <p:cNvSpPr/>
          <p:nvPr/>
        </p:nvSpPr>
        <p:spPr>
          <a:xfrm>
            <a:off x="614363" y="3973827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Databases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3257550" y="3669027"/>
            <a:ext cx="2609850" cy="571500"/>
          </a:xfrm>
          <a:custGeom>
            <a:rect b="b" l="l" r="r" t="t"/>
            <a:pathLst>
              <a:path extrusionOk="0" h="571500" w="2609850">
                <a:moveTo>
                  <a:pt x="38102" y="0"/>
                </a:moveTo>
                <a:lnTo>
                  <a:pt x="2571748" y="0"/>
                </a:lnTo>
                <a:cubicBezTo>
                  <a:pt x="2592791" y="0"/>
                  <a:pt x="2609850" y="17059"/>
                  <a:pt x="2609850" y="38102"/>
                </a:cubicBezTo>
                <a:lnTo>
                  <a:pt x="2609850" y="533398"/>
                </a:lnTo>
                <a:cubicBezTo>
                  <a:pt x="2609850" y="554441"/>
                  <a:pt x="2592791" y="571500"/>
                  <a:pt x="25717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2"/>
          <p:cNvSpPr/>
          <p:nvPr/>
        </p:nvSpPr>
        <p:spPr>
          <a:xfrm>
            <a:off x="4491038" y="3745227"/>
            <a:ext cx="142875" cy="190500"/>
          </a:xfrm>
          <a:custGeom>
            <a:rect b="b" l="l" r="r" t="t"/>
            <a:pathLst>
              <a:path extrusionOk="0" h="190500" w="142875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63438"/>
                </a:lnTo>
                <a:cubicBezTo>
                  <a:pt x="142875" y="57113"/>
                  <a:pt x="140382" y="51048"/>
                  <a:pt x="135917" y="46583"/>
                </a:cubicBezTo>
                <a:lnTo>
                  <a:pt x="96255" y="6958"/>
                </a:lnTo>
                <a:cubicBezTo>
                  <a:pt x="91790" y="2493"/>
                  <a:pt x="85762" y="0"/>
                  <a:pt x="79437" y="0"/>
                </a:cubicBezTo>
                <a:lnTo>
                  <a:pt x="23812" y="0"/>
                </a:lnTo>
                <a:close/>
                <a:moveTo>
                  <a:pt x="121109" y="65484"/>
                </a:moveTo>
                <a:lnTo>
                  <a:pt x="86320" y="65484"/>
                </a:lnTo>
                <a:cubicBezTo>
                  <a:pt x="81372" y="65484"/>
                  <a:pt x="77391" y="61503"/>
                  <a:pt x="77391" y="56555"/>
                </a:cubicBezTo>
                <a:lnTo>
                  <a:pt x="77391" y="21766"/>
                </a:lnTo>
                <a:lnTo>
                  <a:pt x="121109" y="65484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3300413" y="3973827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Flat Files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571500" y="4316727"/>
            <a:ext cx="2609850" cy="571500"/>
          </a:xfrm>
          <a:custGeom>
            <a:rect b="b" l="l" r="r" t="t"/>
            <a:pathLst>
              <a:path extrusionOk="0" h="571500" w="2609850">
                <a:moveTo>
                  <a:pt x="38102" y="0"/>
                </a:moveTo>
                <a:lnTo>
                  <a:pt x="2571748" y="0"/>
                </a:lnTo>
                <a:cubicBezTo>
                  <a:pt x="2592791" y="0"/>
                  <a:pt x="2609850" y="17059"/>
                  <a:pt x="2609850" y="38102"/>
                </a:cubicBezTo>
                <a:lnTo>
                  <a:pt x="2609850" y="533398"/>
                </a:lnTo>
                <a:cubicBezTo>
                  <a:pt x="2609850" y="554441"/>
                  <a:pt x="2592791" y="571500"/>
                  <a:pt x="25717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2"/>
          <p:cNvSpPr/>
          <p:nvPr/>
        </p:nvSpPr>
        <p:spPr>
          <a:xfrm>
            <a:off x="1781175" y="4392927"/>
            <a:ext cx="190500" cy="190500"/>
          </a:xfrm>
          <a:custGeom>
            <a:rect b="b" l="l" r="r" t="t"/>
            <a:pathLst>
              <a:path extrusionOk="0" h="190500" w="190500">
                <a:moveTo>
                  <a:pt x="83455" y="-930"/>
                </a:moveTo>
                <a:cubicBezTo>
                  <a:pt x="90822" y="-5172"/>
                  <a:pt x="99901" y="-5172"/>
                  <a:pt x="107268" y="-930"/>
                </a:cubicBezTo>
                <a:lnTo>
                  <a:pt x="172715" y="36835"/>
                </a:lnTo>
                <a:cubicBezTo>
                  <a:pt x="180082" y="41077"/>
                  <a:pt x="184621" y="48964"/>
                  <a:pt x="184621" y="57448"/>
                </a:cubicBezTo>
                <a:lnTo>
                  <a:pt x="184621" y="132978"/>
                </a:lnTo>
                <a:cubicBezTo>
                  <a:pt x="184621" y="141498"/>
                  <a:pt x="180082" y="149349"/>
                  <a:pt x="172715" y="153591"/>
                </a:cubicBezTo>
                <a:lnTo>
                  <a:pt x="107268" y="191430"/>
                </a:lnTo>
                <a:cubicBezTo>
                  <a:pt x="99901" y="195672"/>
                  <a:pt x="90822" y="195672"/>
                  <a:pt x="83455" y="191430"/>
                </a:cubicBezTo>
                <a:lnTo>
                  <a:pt x="18045" y="153665"/>
                </a:lnTo>
                <a:cubicBezTo>
                  <a:pt x="10678" y="149423"/>
                  <a:pt x="6139" y="141536"/>
                  <a:pt x="6139" y="133052"/>
                </a:cubicBezTo>
                <a:lnTo>
                  <a:pt x="6139" y="57522"/>
                </a:lnTo>
                <a:cubicBezTo>
                  <a:pt x="6139" y="49002"/>
                  <a:pt x="10678" y="41151"/>
                  <a:pt x="18045" y="36909"/>
                </a:cubicBezTo>
                <a:lnTo>
                  <a:pt x="83455" y="-930"/>
                </a:lnTo>
                <a:close/>
                <a:moveTo>
                  <a:pt x="160772" y="133015"/>
                </a:moveTo>
                <a:lnTo>
                  <a:pt x="160772" y="71214"/>
                </a:lnTo>
                <a:lnTo>
                  <a:pt x="107268" y="102096"/>
                </a:lnTo>
                <a:lnTo>
                  <a:pt x="107268" y="163897"/>
                </a:lnTo>
                <a:lnTo>
                  <a:pt x="160772" y="133015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2"/>
          <p:cNvSpPr/>
          <p:nvPr/>
        </p:nvSpPr>
        <p:spPr>
          <a:xfrm>
            <a:off x="614363" y="4621527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Cubes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2"/>
          <p:cNvSpPr/>
          <p:nvPr/>
        </p:nvSpPr>
        <p:spPr>
          <a:xfrm>
            <a:off x="3257550" y="4316727"/>
            <a:ext cx="2609850" cy="571500"/>
          </a:xfrm>
          <a:custGeom>
            <a:rect b="b" l="l" r="r" t="t"/>
            <a:pathLst>
              <a:path extrusionOk="0" h="571500" w="2609850">
                <a:moveTo>
                  <a:pt x="38102" y="0"/>
                </a:moveTo>
                <a:lnTo>
                  <a:pt x="2571748" y="0"/>
                </a:lnTo>
                <a:cubicBezTo>
                  <a:pt x="2592791" y="0"/>
                  <a:pt x="2609850" y="17059"/>
                  <a:pt x="2609850" y="38102"/>
                </a:cubicBezTo>
                <a:lnTo>
                  <a:pt x="2609850" y="533398"/>
                </a:lnTo>
                <a:cubicBezTo>
                  <a:pt x="2609850" y="554441"/>
                  <a:pt x="2592791" y="571500"/>
                  <a:pt x="2571748" y="571500"/>
                </a:cubicBezTo>
                <a:lnTo>
                  <a:pt x="38102" y="571500"/>
                </a:lnTo>
                <a:cubicBezTo>
                  <a:pt x="17059" y="571500"/>
                  <a:pt x="0" y="554441"/>
                  <a:pt x="0" y="533398"/>
                </a:cubicBezTo>
                <a:lnTo>
                  <a:pt x="0" y="38102"/>
                </a:lnTo>
                <a:cubicBezTo>
                  <a:pt x="0" y="17073"/>
                  <a:pt x="17073" y="0"/>
                  <a:pt x="38102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2"/>
          <p:cNvSpPr/>
          <p:nvPr/>
        </p:nvSpPr>
        <p:spPr>
          <a:xfrm>
            <a:off x="4479131" y="4392927"/>
            <a:ext cx="166688" cy="190500"/>
          </a:xfrm>
          <a:custGeom>
            <a:rect b="b" l="l" r="r" t="t"/>
            <a:pathLst>
              <a:path extrusionOk="0" h="190500" w="166688">
                <a:moveTo>
                  <a:pt x="71438" y="0"/>
                </a:moveTo>
                <a:cubicBezTo>
                  <a:pt x="58303" y="0"/>
                  <a:pt x="47625" y="10678"/>
                  <a:pt x="47625" y="23812"/>
                </a:cubicBezTo>
                <a:lnTo>
                  <a:pt x="47625" y="119063"/>
                </a:lnTo>
                <a:cubicBezTo>
                  <a:pt x="47625" y="132197"/>
                  <a:pt x="58303" y="142875"/>
                  <a:pt x="71438" y="142875"/>
                </a:cubicBezTo>
                <a:lnTo>
                  <a:pt x="142875" y="142875"/>
                </a:lnTo>
                <a:cubicBezTo>
                  <a:pt x="156009" y="142875"/>
                  <a:pt x="166688" y="132197"/>
                  <a:pt x="166688" y="119063"/>
                </a:cubicBezTo>
                <a:lnTo>
                  <a:pt x="166688" y="44425"/>
                </a:lnTo>
                <a:cubicBezTo>
                  <a:pt x="166688" y="37951"/>
                  <a:pt x="164046" y="31738"/>
                  <a:pt x="159358" y="27236"/>
                </a:cubicBezTo>
                <a:lnTo>
                  <a:pt x="137889" y="6623"/>
                </a:lnTo>
                <a:cubicBezTo>
                  <a:pt x="133462" y="2381"/>
                  <a:pt x="127546" y="0"/>
                  <a:pt x="121407" y="0"/>
                </a:cubicBezTo>
                <a:lnTo>
                  <a:pt x="71438" y="0"/>
                </a:lnTo>
                <a:close/>
                <a:moveTo>
                  <a:pt x="23812" y="47625"/>
                </a:moveTo>
                <a:cubicBezTo>
                  <a:pt x="10678" y="47625"/>
                  <a:pt x="0" y="58303"/>
                  <a:pt x="0" y="71438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95250" y="190500"/>
                </a:lnTo>
                <a:cubicBezTo>
                  <a:pt x="108384" y="190500"/>
                  <a:pt x="119063" y="179822"/>
                  <a:pt x="119063" y="166688"/>
                </a:cubicBezTo>
                <a:lnTo>
                  <a:pt x="119063" y="160734"/>
                </a:lnTo>
                <a:lnTo>
                  <a:pt x="95250" y="160734"/>
                </a:lnTo>
                <a:lnTo>
                  <a:pt x="95250" y="166688"/>
                </a:lnTo>
                <a:lnTo>
                  <a:pt x="23812" y="166688"/>
                </a:lnTo>
                <a:lnTo>
                  <a:pt x="23812" y="71438"/>
                </a:lnTo>
                <a:lnTo>
                  <a:pt x="29766" y="71438"/>
                </a:lnTo>
                <a:lnTo>
                  <a:pt x="29766" y="47625"/>
                </a:lnTo>
                <a:lnTo>
                  <a:pt x="23812" y="47625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2"/>
          <p:cNvSpPr/>
          <p:nvPr/>
        </p:nvSpPr>
        <p:spPr>
          <a:xfrm>
            <a:off x="3300413" y="4621527"/>
            <a:ext cx="2524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Files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2"/>
          <p:cNvSpPr/>
          <p:nvPr/>
        </p:nvSpPr>
        <p:spPr>
          <a:xfrm>
            <a:off x="400050" y="5154927"/>
            <a:ext cx="5619750" cy="1143000"/>
          </a:xfrm>
          <a:custGeom>
            <a:rect b="b" l="l" r="r" t="t"/>
            <a:pathLst>
              <a:path extrusionOk="0" h="1143000" w="5619750">
                <a:moveTo>
                  <a:pt x="38100" y="0"/>
                </a:moveTo>
                <a:lnTo>
                  <a:pt x="5543546" y="0"/>
                </a:lnTo>
                <a:cubicBezTo>
                  <a:pt x="5585632" y="0"/>
                  <a:pt x="5619750" y="34118"/>
                  <a:pt x="5619750" y="76204"/>
                </a:cubicBezTo>
                <a:lnTo>
                  <a:pt x="5619750" y="1066796"/>
                </a:lnTo>
                <a:cubicBezTo>
                  <a:pt x="5619750" y="1108882"/>
                  <a:pt x="5585632" y="1143000"/>
                  <a:pt x="55435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2"/>
          <p:cNvSpPr/>
          <p:nvPr/>
        </p:nvSpPr>
        <p:spPr>
          <a:xfrm>
            <a:off x="400050" y="5154927"/>
            <a:ext cx="38100" cy="1143000"/>
          </a:xfrm>
          <a:custGeom>
            <a:rect b="b" l="l" r="r" t="t"/>
            <a:pathLst>
              <a:path extrusionOk="0" h="1143000" w="381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2"/>
          <p:cNvSpPr/>
          <p:nvPr/>
        </p:nvSpPr>
        <p:spPr>
          <a:xfrm>
            <a:off x="571500" y="5307327"/>
            <a:ext cx="5381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Importance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2"/>
          <p:cNvSpPr/>
          <p:nvPr/>
        </p:nvSpPr>
        <p:spPr>
          <a:xfrm>
            <a:off x="571500" y="5650227"/>
            <a:ext cx="5372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Provides unified view and maintains accuracy, helping executives make strategic decisions.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2"/>
          <p:cNvSpPr/>
          <p:nvPr/>
        </p:nvSpPr>
        <p:spPr>
          <a:xfrm>
            <a:off x="6191250" y="1257300"/>
            <a:ext cx="5619750" cy="4695825"/>
          </a:xfrm>
          <a:custGeom>
            <a:rect b="b" l="l" r="r" t="t"/>
            <a:pathLst>
              <a:path extrusionOk="0" h="4695825" w="5619750">
                <a:moveTo>
                  <a:pt x="38100" y="0"/>
                </a:moveTo>
                <a:lnTo>
                  <a:pt x="5505454" y="0"/>
                </a:lnTo>
                <a:cubicBezTo>
                  <a:pt x="5568578" y="0"/>
                  <a:pt x="5619750" y="51172"/>
                  <a:pt x="5619750" y="114296"/>
                </a:cubicBezTo>
                <a:lnTo>
                  <a:pt x="5619750" y="4581529"/>
                </a:lnTo>
                <a:cubicBezTo>
                  <a:pt x="5619750" y="4644653"/>
                  <a:pt x="5568578" y="4695825"/>
                  <a:pt x="5505454" y="4695825"/>
                </a:cubicBezTo>
                <a:lnTo>
                  <a:pt x="38100" y="4695825"/>
                </a:lnTo>
                <a:cubicBezTo>
                  <a:pt x="17072" y="4695825"/>
                  <a:pt x="0" y="4678753"/>
                  <a:pt x="0" y="4657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2"/>
          <p:cNvSpPr/>
          <p:nvPr/>
        </p:nvSpPr>
        <p:spPr>
          <a:xfrm>
            <a:off x="6191250" y="1257300"/>
            <a:ext cx="38100" cy="4695825"/>
          </a:xfrm>
          <a:custGeom>
            <a:rect b="b" l="l" r="r" t="t"/>
            <a:pathLst>
              <a:path extrusionOk="0" h="4695825" w="38100">
                <a:moveTo>
                  <a:pt x="38100" y="0"/>
                </a:moveTo>
                <a:lnTo>
                  <a:pt x="38100" y="0"/>
                </a:lnTo>
                <a:lnTo>
                  <a:pt x="38100" y="4695825"/>
                </a:lnTo>
                <a:lnTo>
                  <a:pt x="38100" y="4695825"/>
                </a:lnTo>
                <a:cubicBezTo>
                  <a:pt x="17072" y="4695825"/>
                  <a:pt x="0" y="4678753"/>
                  <a:pt x="0" y="4657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2"/>
          <p:cNvSpPr/>
          <p:nvPr/>
        </p:nvSpPr>
        <p:spPr>
          <a:xfrm>
            <a:off x="6362700" y="1409700"/>
            <a:ext cx="5391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Key Integration Issues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2"/>
          <p:cNvSpPr/>
          <p:nvPr/>
        </p:nvSpPr>
        <p:spPr>
          <a:xfrm>
            <a:off x="6362700" y="1790700"/>
            <a:ext cx="5295900" cy="942975"/>
          </a:xfrm>
          <a:custGeom>
            <a:rect b="b" l="l" r="r" t="t"/>
            <a:pathLst>
              <a:path extrusionOk="0" h="942975" w="5295900">
                <a:moveTo>
                  <a:pt x="76202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866773"/>
                </a:lnTo>
                <a:cubicBezTo>
                  <a:pt x="5295900" y="908858"/>
                  <a:pt x="5261783" y="942975"/>
                  <a:pt x="5219698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2"/>
          <p:cNvSpPr/>
          <p:nvPr/>
        </p:nvSpPr>
        <p:spPr>
          <a:xfrm>
            <a:off x="6477000" y="1905000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1. Entity Identification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2"/>
          <p:cNvSpPr/>
          <p:nvPr/>
        </p:nvSpPr>
        <p:spPr>
          <a:xfrm>
            <a:off x="6477000" y="2171700"/>
            <a:ext cx="51339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Problem:</a:t>
            </a:r>
            <a:r>
              <a:rPr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Matching real-world entities from heterogeneous sources.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2"/>
          <p:cNvSpPr/>
          <p:nvPr/>
        </p:nvSpPr>
        <p:spPr>
          <a:xfrm>
            <a:off x="6477000" y="2393156"/>
            <a:ext cx="5067300" cy="228600"/>
          </a:xfrm>
          <a:custGeom>
            <a:rect b="b" l="l" r="r" t="t"/>
            <a:pathLst>
              <a:path extrusionOk="0" h="228600" w="5067300">
                <a:moveTo>
                  <a:pt x="38101" y="0"/>
                </a:moveTo>
                <a:lnTo>
                  <a:pt x="5029199" y="0"/>
                </a:lnTo>
                <a:cubicBezTo>
                  <a:pt x="5050242" y="0"/>
                  <a:pt x="5067300" y="17058"/>
                  <a:pt x="5067300" y="38101"/>
                </a:cubicBezTo>
                <a:lnTo>
                  <a:pt x="5067300" y="190499"/>
                </a:lnTo>
                <a:cubicBezTo>
                  <a:pt x="5067300" y="211542"/>
                  <a:pt x="5050242" y="228600"/>
                  <a:pt x="5029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2"/>
          <p:cNvSpPr/>
          <p:nvPr/>
        </p:nvSpPr>
        <p:spPr>
          <a:xfrm>
            <a:off x="6477000" y="2393156"/>
            <a:ext cx="5124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Solution:</a:t>
            </a: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 metadata (name, meaning, data type, rules) to prevent errors.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2"/>
          <p:cNvSpPr/>
          <p:nvPr/>
        </p:nvSpPr>
        <p:spPr>
          <a:xfrm>
            <a:off x="6362700" y="2812135"/>
            <a:ext cx="5295900" cy="942975"/>
          </a:xfrm>
          <a:custGeom>
            <a:rect b="b" l="l" r="r" t="t"/>
            <a:pathLst>
              <a:path extrusionOk="0" h="942975" w="5295900">
                <a:moveTo>
                  <a:pt x="76202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866773"/>
                </a:lnTo>
                <a:cubicBezTo>
                  <a:pt x="5295900" y="908858"/>
                  <a:pt x="5261783" y="942975"/>
                  <a:pt x="5219698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2"/>
          <p:cNvSpPr/>
          <p:nvPr/>
        </p:nvSpPr>
        <p:spPr>
          <a:xfrm>
            <a:off x="6477000" y="2926435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2. Redundancy &amp; Correlation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2"/>
          <p:cNvSpPr/>
          <p:nvPr/>
        </p:nvSpPr>
        <p:spPr>
          <a:xfrm>
            <a:off x="6477000" y="3193135"/>
            <a:ext cx="51339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Problem:</a:t>
            </a:r>
            <a:r>
              <a:rPr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Duplicate or derived attributes increase data volume unnecessarily.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2"/>
          <p:cNvSpPr/>
          <p:nvPr/>
        </p:nvSpPr>
        <p:spPr>
          <a:xfrm>
            <a:off x="6477000" y="3414592"/>
            <a:ext cx="5067300" cy="228600"/>
          </a:xfrm>
          <a:custGeom>
            <a:rect b="b" l="l" r="r" t="t"/>
            <a:pathLst>
              <a:path extrusionOk="0" h="228600" w="5067300">
                <a:moveTo>
                  <a:pt x="38101" y="0"/>
                </a:moveTo>
                <a:lnTo>
                  <a:pt x="5029199" y="0"/>
                </a:lnTo>
                <a:cubicBezTo>
                  <a:pt x="5050242" y="0"/>
                  <a:pt x="5067300" y="17058"/>
                  <a:pt x="5067300" y="38101"/>
                </a:cubicBezTo>
                <a:lnTo>
                  <a:pt x="5067300" y="190499"/>
                </a:lnTo>
                <a:cubicBezTo>
                  <a:pt x="5067300" y="211542"/>
                  <a:pt x="5050242" y="228600"/>
                  <a:pt x="5029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2"/>
          <p:cNvSpPr/>
          <p:nvPr/>
        </p:nvSpPr>
        <p:spPr>
          <a:xfrm>
            <a:off x="6477000" y="3414592"/>
            <a:ext cx="5124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Solution:</a:t>
            </a: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Use correlation analysis to detect interdependencies.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2"/>
          <p:cNvSpPr/>
          <p:nvPr/>
        </p:nvSpPr>
        <p:spPr>
          <a:xfrm>
            <a:off x="6362700" y="3833575"/>
            <a:ext cx="5295900" cy="942975"/>
          </a:xfrm>
          <a:custGeom>
            <a:rect b="b" l="l" r="r" t="t"/>
            <a:pathLst>
              <a:path extrusionOk="0" h="942975" w="5295900">
                <a:moveTo>
                  <a:pt x="76202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866773"/>
                </a:lnTo>
                <a:cubicBezTo>
                  <a:pt x="5295900" y="908858"/>
                  <a:pt x="5261783" y="942975"/>
                  <a:pt x="5219698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2"/>
          <p:cNvSpPr/>
          <p:nvPr/>
        </p:nvSpPr>
        <p:spPr>
          <a:xfrm>
            <a:off x="6477000" y="3947875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3. Tuple Duplication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2"/>
          <p:cNvSpPr/>
          <p:nvPr/>
        </p:nvSpPr>
        <p:spPr>
          <a:xfrm>
            <a:off x="6477000" y="4214575"/>
            <a:ext cx="51339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Problem:</a:t>
            </a:r>
            <a:r>
              <a:rPr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Identical tuples from denormalized tables create redundancy.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2"/>
          <p:cNvSpPr/>
          <p:nvPr/>
        </p:nvSpPr>
        <p:spPr>
          <a:xfrm>
            <a:off x="6477000" y="4436032"/>
            <a:ext cx="5067300" cy="228600"/>
          </a:xfrm>
          <a:custGeom>
            <a:rect b="b" l="l" r="r" t="t"/>
            <a:pathLst>
              <a:path extrusionOk="0" h="228600" w="5067300">
                <a:moveTo>
                  <a:pt x="38101" y="0"/>
                </a:moveTo>
                <a:lnTo>
                  <a:pt x="5029199" y="0"/>
                </a:lnTo>
                <a:cubicBezTo>
                  <a:pt x="5050242" y="0"/>
                  <a:pt x="5067300" y="17058"/>
                  <a:pt x="5067300" y="38101"/>
                </a:cubicBezTo>
                <a:lnTo>
                  <a:pt x="5067300" y="190499"/>
                </a:lnTo>
                <a:cubicBezTo>
                  <a:pt x="5067300" y="211542"/>
                  <a:pt x="5050242" y="228600"/>
                  <a:pt x="5029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2"/>
          <p:cNvSpPr/>
          <p:nvPr/>
        </p:nvSpPr>
        <p:spPr>
          <a:xfrm>
            <a:off x="6477000" y="4436032"/>
            <a:ext cx="5124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Impact:</a:t>
            </a: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Same purchaser appears with different addresses.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2"/>
          <p:cNvSpPr/>
          <p:nvPr/>
        </p:nvSpPr>
        <p:spPr>
          <a:xfrm>
            <a:off x="6362700" y="4855011"/>
            <a:ext cx="5295900" cy="942975"/>
          </a:xfrm>
          <a:custGeom>
            <a:rect b="b" l="l" r="r" t="t"/>
            <a:pathLst>
              <a:path extrusionOk="0" h="942975" w="5295900">
                <a:moveTo>
                  <a:pt x="76202" y="0"/>
                </a:moveTo>
                <a:lnTo>
                  <a:pt x="5219698" y="0"/>
                </a:lnTo>
                <a:cubicBezTo>
                  <a:pt x="5261783" y="0"/>
                  <a:pt x="5295900" y="34117"/>
                  <a:pt x="5295900" y="76202"/>
                </a:cubicBezTo>
                <a:lnTo>
                  <a:pt x="5295900" y="866773"/>
                </a:lnTo>
                <a:cubicBezTo>
                  <a:pt x="5295900" y="908858"/>
                  <a:pt x="5261783" y="942975"/>
                  <a:pt x="5219698" y="942975"/>
                </a:cubicBezTo>
                <a:lnTo>
                  <a:pt x="76202" y="942975"/>
                </a:lnTo>
                <a:cubicBezTo>
                  <a:pt x="34117" y="942975"/>
                  <a:pt x="0" y="908858"/>
                  <a:pt x="0" y="86677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2"/>
          <p:cNvSpPr/>
          <p:nvPr/>
        </p:nvSpPr>
        <p:spPr>
          <a:xfrm>
            <a:off x="6477000" y="4969311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4. Data Conflict Resolution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2"/>
          <p:cNvSpPr/>
          <p:nvPr/>
        </p:nvSpPr>
        <p:spPr>
          <a:xfrm>
            <a:off x="6477000" y="5236011"/>
            <a:ext cx="51339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Problem:</a:t>
            </a:r>
            <a:r>
              <a:rPr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Merged data from different sources don't match.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2"/>
          <p:cNvSpPr/>
          <p:nvPr/>
        </p:nvSpPr>
        <p:spPr>
          <a:xfrm>
            <a:off x="6477000" y="5457467"/>
            <a:ext cx="5067300" cy="228600"/>
          </a:xfrm>
          <a:custGeom>
            <a:rect b="b" l="l" r="r" t="t"/>
            <a:pathLst>
              <a:path extrusionOk="0" h="228600" w="5067300">
                <a:moveTo>
                  <a:pt x="38101" y="0"/>
                </a:moveTo>
                <a:lnTo>
                  <a:pt x="5029199" y="0"/>
                </a:lnTo>
                <a:cubicBezTo>
                  <a:pt x="5050242" y="0"/>
                  <a:pt x="5067300" y="17058"/>
                  <a:pt x="5067300" y="38101"/>
                </a:cubicBezTo>
                <a:lnTo>
                  <a:pt x="5067300" y="190499"/>
                </a:lnTo>
                <a:cubicBezTo>
                  <a:pt x="5067300" y="211542"/>
                  <a:pt x="5050242" y="228600"/>
                  <a:pt x="5029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2"/>
          <p:cNvSpPr/>
          <p:nvPr/>
        </p:nvSpPr>
        <p:spPr>
          <a:xfrm>
            <a:off x="6477000" y="5457467"/>
            <a:ext cx="5124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Example:</a:t>
            </a:r>
            <a:r>
              <a:rPr lang="en-US" sz="9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Hotel prices in different currencies, with different services.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7" name="Google Shape;58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8906" y="105968"/>
            <a:ext cx="1502714" cy="56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3"/>
          <p:cNvSpPr/>
          <p:nvPr/>
        </p:nvSpPr>
        <p:spPr>
          <a:xfrm>
            <a:off x="356752" y="445940"/>
            <a:ext cx="499453" cy="499453"/>
          </a:xfrm>
          <a:custGeom>
            <a:rect b="b" l="l" r="r" t="t"/>
            <a:pathLst>
              <a:path extrusionOk="0" h="499453" w="499453">
                <a:moveTo>
                  <a:pt x="107028" y="0"/>
                </a:moveTo>
                <a:lnTo>
                  <a:pt x="392425" y="0"/>
                </a:lnTo>
                <a:cubicBezTo>
                  <a:pt x="451495" y="0"/>
                  <a:pt x="499453" y="47958"/>
                  <a:pt x="499453" y="107028"/>
                </a:cubicBezTo>
                <a:lnTo>
                  <a:pt x="499453" y="392425"/>
                </a:lnTo>
                <a:cubicBezTo>
                  <a:pt x="499453" y="451495"/>
                  <a:pt x="451495" y="499453"/>
                  <a:pt x="392425" y="499453"/>
                </a:cubicBezTo>
                <a:lnTo>
                  <a:pt x="107028" y="499453"/>
                </a:lnTo>
                <a:cubicBezTo>
                  <a:pt x="47958" y="499453"/>
                  <a:pt x="0" y="451495"/>
                  <a:pt x="0" y="392425"/>
                </a:cubicBezTo>
                <a:lnTo>
                  <a:pt x="0" y="107028"/>
                </a:lnTo>
                <a:cubicBezTo>
                  <a:pt x="0" y="47958"/>
                  <a:pt x="47958" y="0"/>
                  <a:pt x="107028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3"/>
          <p:cNvSpPr/>
          <p:nvPr/>
        </p:nvSpPr>
        <p:spPr>
          <a:xfrm>
            <a:off x="499453" y="588641"/>
            <a:ext cx="214051" cy="214051"/>
          </a:xfrm>
          <a:custGeom>
            <a:rect b="b" l="l" r="r" t="t"/>
            <a:pathLst>
              <a:path extrusionOk="0" h="214051" w="214051">
                <a:moveTo>
                  <a:pt x="210121" y="62961"/>
                </a:moveTo>
                <a:lnTo>
                  <a:pt x="169987" y="103096"/>
                </a:lnTo>
                <a:cubicBezTo>
                  <a:pt x="166141" y="106942"/>
                  <a:pt x="160413" y="108071"/>
                  <a:pt x="155396" y="105980"/>
                </a:cubicBezTo>
                <a:cubicBezTo>
                  <a:pt x="150379" y="103890"/>
                  <a:pt x="147160" y="99040"/>
                  <a:pt x="147160" y="93647"/>
                </a:cubicBezTo>
                <a:lnTo>
                  <a:pt x="147160" y="66891"/>
                </a:lnTo>
                <a:lnTo>
                  <a:pt x="13378" y="66891"/>
                </a:lnTo>
                <a:cubicBezTo>
                  <a:pt x="5978" y="66891"/>
                  <a:pt x="0" y="60913"/>
                  <a:pt x="0" y="53513"/>
                </a:cubicBezTo>
                <a:cubicBezTo>
                  <a:pt x="0" y="46113"/>
                  <a:pt x="5978" y="40135"/>
                  <a:pt x="13378" y="40135"/>
                </a:cubicBezTo>
                <a:lnTo>
                  <a:pt x="147160" y="40135"/>
                </a:lnTo>
                <a:lnTo>
                  <a:pt x="147160" y="13378"/>
                </a:lnTo>
                <a:cubicBezTo>
                  <a:pt x="147160" y="7985"/>
                  <a:pt x="150421" y="3094"/>
                  <a:pt x="155438" y="1003"/>
                </a:cubicBezTo>
                <a:cubicBezTo>
                  <a:pt x="160455" y="-1087"/>
                  <a:pt x="166182" y="84"/>
                  <a:pt x="170029" y="3888"/>
                </a:cubicBezTo>
                <a:lnTo>
                  <a:pt x="210163" y="44023"/>
                </a:lnTo>
                <a:cubicBezTo>
                  <a:pt x="215389" y="49249"/>
                  <a:pt x="215389" y="57735"/>
                  <a:pt x="210163" y="62961"/>
                </a:cubicBezTo>
                <a:close/>
                <a:moveTo>
                  <a:pt x="44023" y="210121"/>
                </a:moveTo>
                <a:lnTo>
                  <a:pt x="3888" y="169987"/>
                </a:lnTo>
                <a:cubicBezTo>
                  <a:pt x="-1338" y="164761"/>
                  <a:pt x="-1338" y="156274"/>
                  <a:pt x="3888" y="151048"/>
                </a:cubicBezTo>
                <a:lnTo>
                  <a:pt x="44023" y="110914"/>
                </a:lnTo>
                <a:cubicBezTo>
                  <a:pt x="47869" y="107067"/>
                  <a:pt x="53596" y="105939"/>
                  <a:pt x="58613" y="108029"/>
                </a:cubicBezTo>
                <a:cubicBezTo>
                  <a:pt x="63630" y="110119"/>
                  <a:pt x="66891" y="115011"/>
                  <a:pt x="66891" y="120404"/>
                </a:cubicBezTo>
                <a:lnTo>
                  <a:pt x="66891" y="147160"/>
                </a:lnTo>
                <a:lnTo>
                  <a:pt x="200673" y="147160"/>
                </a:lnTo>
                <a:cubicBezTo>
                  <a:pt x="208073" y="147160"/>
                  <a:pt x="214051" y="153139"/>
                  <a:pt x="214051" y="160538"/>
                </a:cubicBezTo>
                <a:cubicBezTo>
                  <a:pt x="214051" y="167938"/>
                  <a:pt x="208073" y="173917"/>
                  <a:pt x="200673" y="173917"/>
                </a:cubicBezTo>
                <a:lnTo>
                  <a:pt x="66891" y="173917"/>
                </a:lnTo>
                <a:lnTo>
                  <a:pt x="66891" y="200673"/>
                </a:lnTo>
                <a:cubicBezTo>
                  <a:pt x="66891" y="206066"/>
                  <a:pt x="63630" y="210957"/>
                  <a:pt x="58613" y="213048"/>
                </a:cubicBezTo>
                <a:cubicBezTo>
                  <a:pt x="53596" y="215138"/>
                  <a:pt x="47869" y="213968"/>
                  <a:pt x="44023" y="210163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3"/>
          <p:cNvSpPr/>
          <p:nvPr/>
        </p:nvSpPr>
        <p:spPr>
          <a:xfrm>
            <a:off x="998906" y="356752"/>
            <a:ext cx="4093729" cy="428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1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Data Transformation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3"/>
          <p:cNvSpPr/>
          <p:nvPr/>
        </p:nvSpPr>
        <p:spPr>
          <a:xfrm>
            <a:off x="998906" y="784854"/>
            <a:ext cx="3968866" cy="249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Converting Data for Mining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3"/>
          <p:cNvSpPr/>
          <p:nvPr/>
        </p:nvSpPr>
        <p:spPr>
          <a:xfrm>
            <a:off x="363887" y="1184417"/>
            <a:ext cx="5650952" cy="1789111"/>
          </a:xfrm>
          <a:custGeom>
            <a:rect b="b" l="l" r="r" t="t"/>
            <a:pathLst>
              <a:path extrusionOk="0" h="1789111" w="5650952">
                <a:moveTo>
                  <a:pt x="107025" y="0"/>
                </a:moveTo>
                <a:lnTo>
                  <a:pt x="5543927" y="0"/>
                </a:lnTo>
                <a:cubicBezTo>
                  <a:pt x="5603035" y="0"/>
                  <a:pt x="5650952" y="47917"/>
                  <a:pt x="5650952" y="107025"/>
                </a:cubicBezTo>
                <a:lnTo>
                  <a:pt x="5650952" y="1682087"/>
                </a:lnTo>
                <a:cubicBezTo>
                  <a:pt x="5650952" y="1741195"/>
                  <a:pt x="5603035" y="1789111"/>
                  <a:pt x="5543927" y="1789111"/>
                </a:cubicBezTo>
                <a:lnTo>
                  <a:pt x="107025" y="1789111"/>
                </a:lnTo>
                <a:cubicBezTo>
                  <a:pt x="47917" y="1789111"/>
                  <a:pt x="0" y="1741195"/>
                  <a:pt x="0" y="1682087"/>
                </a:cubicBezTo>
                <a:lnTo>
                  <a:pt x="0" y="107025"/>
                </a:lnTo>
                <a:cubicBezTo>
                  <a:pt x="0" y="47956"/>
                  <a:pt x="47956" y="0"/>
                  <a:pt x="107025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20000"/>
                </a:srgbClr>
              </a:gs>
              <a:gs pos="100000">
                <a:srgbClr val="2D3748"/>
              </a:gs>
            </a:gsLst>
            <a:lin ang="2700000" scaled="0"/>
          </a:gradFill>
          <a:ln cap="flat" cmpd="sng" w="203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3"/>
          <p:cNvSpPr/>
          <p:nvPr/>
        </p:nvSpPr>
        <p:spPr>
          <a:xfrm>
            <a:off x="513723" y="1334253"/>
            <a:ext cx="5440468" cy="249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5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Purpose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/>
          <p:nvPr/>
        </p:nvSpPr>
        <p:spPr>
          <a:xfrm>
            <a:off x="513723" y="1691005"/>
            <a:ext cx="5422631" cy="46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 data into </a:t>
            </a:r>
            <a:r>
              <a:rPr b="1" lang="en-US" sz="1124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appropriate forms suitable for mining</a:t>
            </a:r>
            <a:r>
              <a:rPr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by performing summary or aggregation operations.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513723" y="2261809"/>
            <a:ext cx="5351280" cy="561884"/>
          </a:xfrm>
          <a:custGeom>
            <a:rect b="b" l="l" r="r" t="t"/>
            <a:pathLst>
              <a:path extrusionOk="0" h="561884" w="5351280">
                <a:moveTo>
                  <a:pt x="71348" y="0"/>
                </a:moveTo>
                <a:lnTo>
                  <a:pt x="5279932" y="0"/>
                </a:lnTo>
                <a:cubicBezTo>
                  <a:pt x="5319337" y="0"/>
                  <a:pt x="5351280" y="31944"/>
                  <a:pt x="5351280" y="71348"/>
                </a:cubicBezTo>
                <a:lnTo>
                  <a:pt x="5351280" y="490536"/>
                </a:lnTo>
                <a:cubicBezTo>
                  <a:pt x="5351280" y="529941"/>
                  <a:pt x="5319337" y="561884"/>
                  <a:pt x="5279932" y="561884"/>
                </a:cubicBezTo>
                <a:lnTo>
                  <a:pt x="71348" y="561884"/>
                </a:lnTo>
                <a:cubicBezTo>
                  <a:pt x="31944" y="561884"/>
                  <a:pt x="0" y="529941"/>
                  <a:pt x="0" y="490536"/>
                </a:cubicBezTo>
                <a:lnTo>
                  <a:pt x="0" y="71348"/>
                </a:lnTo>
                <a:cubicBezTo>
                  <a:pt x="0" y="31944"/>
                  <a:pt x="31944" y="0"/>
                  <a:pt x="71348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3"/>
          <p:cNvSpPr/>
          <p:nvPr/>
        </p:nvSpPr>
        <p:spPr>
          <a:xfrm>
            <a:off x="620748" y="2368834"/>
            <a:ext cx="5199661" cy="347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83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When needed:</a:t>
            </a:r>
            <a:r>
              <a:rPr lang="en-US" sz="983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Combining unstructured with structured data, or transferring to a new cloud data warehouse.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3"/>
          <p:cNvSpPr/>
          <p:nvPr/>
        </p:nvSpPr>
        <p:spPr>
          <a:xfrm>
            <a:off x="374590" y="3083231"/>
            <a:ext cx="5654519" cy="1427008"/>
          </a:xfrm>
          <a:custGeom>
            <a:rect b="b" l="l" r="r" t="t"/>
            <a:pathLst>
              <a:path extrusionOk="0" h="1427008" w="5654519">
                <a:moveTo>
                  <a:pt x="35675" y="0"/>
                </a:moveTo>
                <a:lnTo>
                  <a:pt x="5547494" y="0"/>
                </a:lnTo>
                <a:cubicBezTo>
                  <a:pt x="5606602" y="0"/>
                  <a:pt x="5654519" y="47917"/>
                  <a:pt x="5654519" y="107026"/>
                </a:cubicBezTo>
                <a:lnTo>
                  <a:pt x="5654519" y="1319982"/>
                </a:lnTo>
                <a:cubicBezTo>
                  <a:pt x="5654519" y="1379091"/>
                  <a:pt x="5606602" y="1427008"/>
                  <a:pt x="5547494" y="1427008"/>
                </a:cubicBezTo>
                <a:lnTo>
                  <a:pt x="35675" y="1427008"/>
                </a:lnTo>
                <a:cubicBezTo>
                  <a:pt x="15972" y="1427008"/>
                  <a:pt x="0" y="1411036"/>
                  <a:pt x="0" y="1391333"/>
                </a:cubicBezTo>
                <a:lnTo>
                  <a:pt x="0" y="35675"/>
                </a:lnTo>
                <a:cubicBezTo>
                  <a:pt x="0" y="15986"/>
                  <a:pt x="15986" y="0"/>
                  <a:pt x="35675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3"/>
          <p:cNvSpPr/>
          <p:nvPr/>
        </p:nvSpPr>
        <p:spPr>
          <a:xfrm>
            <a:off x="374590" y="3083231"/>
            <a:ext cx="35675" cy="1427008"/>
          </a:xfrm>
          <a:custGeom>
            <a:rect b="b" l="l" r="r" t="t"/>
            <a:pathLst>
              <a:path extrusionOk="0" h="1427008" w="35675">
                <a:moveTo>
                  <a:pt x="35675" y="0"/>
                </a:moveTo>
                <a:lnTo>
                  <a:pt x="35675" y="0"/>
                </a:lnTo>
                <a:lnTo>
                  <a:pt x="35675" y="1427008"/>
                </a:lnTo>
                <a:lnTo>
                  <a:pt x="35675" y="1427008"/>
                </a:lnTo>
                <a:cubicBezTo>
                  <a:pt x="15972" y="1427008"/>
                  <a:pt x="0" y="1411036"/>
                  <a:pt x="0" y="1391333"/>
                </a:cubicBezTo>
                <a:lnTo>
                  <a:pt x="0" y="35675"/>
                </a:lnTo>
                <a:cubicBezTo>
                  <a:pt x="0" y="15986"/>
                  <a:pt x="15986" y="0"/>
                  <a:pt x="3567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3"/>
          <p:cNvSpPr/>
          <p:nvPr/>
        </p:nvSpPr>
        <p:spPr>
          <a:xfrm>
            <a:off x="535128" y="3225932"/>
            <a:ext cx="5440468" cy="249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5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Benefits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3"/>
          <p:cNvSpPr/>
          <p:nvPr/>
        </p:nvSpPr>
        <p:spPr>
          <a:xfrm>
            <a:off x="561884" y="3618359"/>
            <a:ext cx="124863" cy="142701"/>
          </a:xfrm>
          <a:custGeom>
            <a:rect b="b" l="l" r="r" t="t"/>
            <a:pathLst>
              <a:path extrusionOk="0" h="142701" w="124863">
                <a:moveTo>
                  <a:pt x="121184" y="19538"/>
                </a:moveTo>
                <a:cubicBezTo>
                  <a:pt x="125170" y="22436"/>
                  <a:pt x="126062" y="28011"/>
                  <a:pt x="123163" y="31996"/>
                </a:cubicBezTo>
                <a:lnTo>
                  <a:pt x="51813" y="130103"/>
                </a:lnTo>
                <a:cubicBezTo>
                  <a:pt x="50280" y="132221"/>
                  <a:pt x="47911" y="133531"/>
                  <a:pt x="45291" y="133754"/>
                </a:cubicBezTo>
                <a:cubicBezTo>
                  <a:pt x="42671" y="133977"/>
                  <a:pt x="40135" y="133002"/>
                  <a:pt x="38295" y="131162"/>
                </a:cubicBezTo>
                <a:lnTo>
                  <a:pt x="2620" y="95487"/>
                </a:lnTo>
                <a:cubicBezTo>
                  <a:pt x="-864" y="92003"/>
                  <a:pt x="-864" y="86345"/>
                  <a:pt x="2620" y="82861"/>
                </a:cubicBezTo>
                <a:cubicBezTo>
                  <a:pt x="6104" y="79377"/>
                  <a:pt x="11762" y="79377"/>
                  <a:pt x="15246" y="82861"/>
                </a:cubicBezTo>
                <a:lnTo>
                  <a:pt x="43535" y="111151"/>
                </a:lnTo>
                <a:lnTo>
                  <a:pt x="108754" y="21489"/>
                </a:lnTo>
                <a:cubicBezTo>
                  <a:pt x="111652" y="17503"/>
                  <a:pt x="117226" y="16611"/>
                  <a:pt x="121212" y="1951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3"/>
          <p:cNvSpPr/>
          <p:nvPr/>
        </p:nvSpPr>
        <p:spPr>
          <a:xfrm>
            <a:off x="784854" y="3582684"/>
            <a:ext cx="2461589" cy="21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Homogeneous data is </a:t>
            </a:r>
            <a:r>
              <a:rPr b="1"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easier to analyze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3"/>
          <p:cNvSpPr/>
          <p:nvPr/>
        </p:nvSpPr>
        <p:spPr>
          <a:xfrm>
            <a:off x="561884" y="3903761"/>
            <a:ext cx="124863" cy="142701"/>
          </a:xfrm>
          <a:custGeom>
            <a:rect b="b" l="l" r="r" t="t"/>
            <a:pathLst>
              <a:path extrusionOk="0" h="142701" w="124863">
                <a:moveTo>
                  <a:pt x="121184" y="19538"/>
                </a:moveTo>
                <a:cubicBezTo>
                  <a:pt x="125170" y="22436"/>
                  <a:pt x="126062" y="28011"/>
                  <a:pt x="123163" y="31996"/>
                </a:cubicBezTo>
                <a:lnTo>
                  <a:pt x="51813" y="130103"/>
                </a:lnTo>
                <a:cubicBezTo>
                  <a:pt x="50280" y="132221"/>
                  <a:pt x="47911" y="133531"/>
                  <a:pt x="45291" y="133754"/>
                </a:cubicBezTo>
                <a:cubicBezTo>
                  <a:pt x="42671" y="133977"/>
                  <a:pt x="40135" y="133002"/>
                  <a:pt x="38295" y="131162"/>
                </a:cubicBezTo>
                <a:lnTo>
                  <a:pt x="2620" y="95487"/>
                </a:lnTo>
                <a:cubicBezTo>
                  <a:pt x="-864" y="92003"/>
                  <a:pt x="-864" y="86345"/>
                  <a:pt x="2620" y="82861"/>
                </a:cubicBezTo>
                <a:cubicBezTo>
                  <a:pt x="6104" y="79377"/>
                  <a:pt x="11762" y="79377"/>
                  <a:pt x="15246" y="82861"/>
                </a:cubicBezTo>
                <a:lnTo>
                  <a:pt x="43535" y="111151"/>
                </a:lnTo>
                <a:lnTo>
                  <a:pt x="108754" y="21489"/>
                </a:lnTo>
                <a:cubicBezTo>
                  <a:pt x="111652" y="17503"/>
                  <a:pt x="117226" y="16611"/>
                  <a:pt x="121212" y="1951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3"/>
          <p:cNvSpPr/>
          <p:nvPr/>
        </p:nvSpPr>
        <p:spPr>
          <a:xfrm>
            <a:off x="784854" y="3868085"/>
            <a:ext cx="1765922" cy="21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Better for </a:t>
            </a:r>
            <a:r>
              <a:rPr b="1"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pattern discovery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3"/>
          <p:cNvSpPr/>
          <p:nvPr/>
        </p:nvSpPr>
        <p:spPr>
          <a:xfrm>
            <a:off x="561884" y="4189162"/>
            <a:ext cx="124863" cy="142701"/>
          </a:xfrm>
          <a:custGeom>
            <a:rect b="b" l="l" r="r" t="t"/>
            <a:pathLst>
              <a:path extrusionOk="0" h="142701" w="124863">
                <a:moveTo>
                  <a:pt x="121184" y="19538"/>
                </a:moveTo>
                <a:cubicBezTo>
                  <a:pt x="125170" y="22436"/>
                  <a:pt x="126062" y="28011"/>
                  <a:pt x="123163" y="31996"/>
                </a:cubicBezTo>
                <a:lnTo>
                  <a:pt x="51813" y="130103"/>
                </a:lnTo>
                <a:cubicBezTo>
                  <a:pt x="50280" y="132221"/>
                  <a:pt x="47911" y="133531"/>
                  <a:pt x="45291" y="133754"/>
                </a:cubicBezTo>
                <a:cubicBezTo>
                  <a:pt x="42671" y="133977"/>
                  <a:pt x="40135" y="133002"/>
                  <a:pt x="38295" y="131162"/>
                </a:cubicBezTo>
                <a:lnTo>
                  <a:pt x="2620" y="95487"/>
                </a:lnTo>
                <a:cubicBezTo>
                  <a:pt x="-864" y="92003"/>
                  <a:pt x="-864" y="86345"/>
                  <a:pt x="2620" y="82861"/>
                </a:cubicBezTo>
                <a:cubicBezTo>
                  <a:pt x="6104" y="79377"/>
                  <a:pt x="11762" y="79377"/>
                  <a:pt x="15246" y="82861"/>
                </a:cubicBezTo>
                <a:lnTo>
                  <a:pt x="43535" y="111151"/>
                </a:lnTo>
                <a:lnTo>
                  <a:pt x="108754" y="21489"/>
                </a:lnTo>
                <a:cubicBezTo>
                  <a:pt x="111652" y="17503"/>
                  <a:pt x="117226" y="16611"/>
                  <a:pt x="121212" y="1951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3"/>
          <p:cNvSpPr/>
          <p:nvPr/>
        </p:nvSpPr>
        <p:spPr>
          <a:xfrm>
            <a:off x="784854" y="4153487"/>
            <a:ext cx="2381320" cy="21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Enables </a:t>
            </a:r>
            <a:r>
              <a:rPr b="1"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consolidation</a:t>
            </a:r>
            <a:r>
              <a:rPr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across systems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3"/>
          <p:cNvSpPr/>
          <p:nvPr/>
        </p:nvSpPr>
        <p:spPr>
          <a:xfrm>
            <a:off x="374590" y="4617265"/>
            <a:ext cx="5654519" cy="1070256"/>
          </a:xfrm>
          <a:custGeom>
            <a:rect b="b" l="l" r="r" t="t"/>
            <a:pathLst>
              <a:path extrusionOk="0" h="1070256" w="5654519">
                <a:moveTo>
                  <a:pt x="35675" y="0"/>
                </a:moveTo>
                <a:lnTo>
                  <a:pt x="5583165" y="0"/>
                </a:lnTo>
                <a:cubicBezTo>
                  <a:pt x="5622573" y="0"/>
                  <a:pt x="5654519" y="31946"/>
                  <a:pt x="5654519" y="71354"/>
                </a:cubicBezTo>
                <a:lnTo>
                  <a:pt x="5654519" y="998902"/>
                </a:lnTo>
                <a:cubicBezTo>
                  <a:pt x="5654519" y="1038310"/>
                  <a:pt x="5622573" y="1070256"/>
                  <a:pt x="5583165" y="1070256"/>
                </a:cubicBezTo>
                <a:lnTo>
                  <a:pt x="35675" y="1070256"/>
                </a:lnTo>
                <a:cubicBezTo>
                  <a:pt x="15972" y="1070256"/>
                  <a:pt x="0" y="1054284"/>
                  <a:pt x="0" y="1034581"/>
                </a:cubicBezTo>
                <a:lnTo>
                  <a:pt x="0" y="35675"/>
                </a:lnTo>
                <a:cubicBezTo>
                  <a:pt x="0" y="15972"/>
                  <a:pt x="15972" y="0"/>
                  <a:pt x="35675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3"/>
          <p:cNvSpPr/>
          <p:nvPr/>
        </p:nvSpPr>
        <p:spPr>
          <a:xfrm>
            <a:off x="374590" y="4617265"/>
            <a:ext cx="35675" cy="1070256"/>
          </a:xfrm>
          <a:custGeom>
            <a:rect b="b" l="l" r="r" t="t"/>
            <a:pathLst>
              <a:path extrusionOk="0" h="1070256" w="35675">
                <a:moveTo>
                  <a:pt x="35675" y="0"/>
                </a:moveTo>
                <a:lnTo>
                  <a:pt x="35675" y="0"/>
                </a:lnTo>
                <a:lnTo>
                  <a:pt x="35675" y="1070256"/>
                </a:lnTo>
                <a:lnTo>
                  <a:pt x="35675" y="1070256"/>
                </a:lnTo>
                <a:cubicBezTo>
                  <a:pt x="15972" y="1070256"/>
                  <a:pt x="0" y="1054284"/>
                  <a:pt x="0" y="1034581"/>
                </a:cubicBezTo>
                <a:lnTo>
                  <a:pt x="0" y="35675"/>
                </a:lnTo>
                <a:cubicBezTo>
                  <a:pt x="0" y="15986"/>
                  <a:pt x="15986" y="0"/>
                  <a:pt x="35675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3"/>
          <p:cNvSpPr/>
          <p:nvPr/>
        </p:nvSpPr>
        <p:spPr>
          <a:xfrm>
            <a:off x="535128" y="4759965"/>
            <a:ext cx="5431549" cy="249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4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Example Scenario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3"/>
          <p:cNvSpPr/>
          <p:nvPr/>
        </p:nvSpPr>
        <p:spPr>
          <a:xfrm>
            <a:off x="535128" y="5081042"/>
            <a:ext cx="5422631" cy="4637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company acquires another firm and must consolidate business data from different database systems with unique IDs and formats.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3"/>
          <p:cNvSpPr/>
          <p:nvPr/>
        </p:nvSpPr>
        <p:spPr>
          <a:xfrm>
            <a:off x="6174931" y="1184417"/>
            <a:ext cx="5650952" cy="5115824"/>
          </a:xfrm>
          <a:custGeom>
            <a:rect b="b" l="l" r="r" t="t"/>
            <a:pathLst>
              <a:path extrusionOk="0" h="5115824" w="5650952">
                <a:moveTo>
                  <a:pt x="107023" y="0"/>
                </a:moveTo>
                <a:lnTo>
                  <a:pt x="5543929" y="0"/>
                </a:lnTo>
                <a:cubicBezTo>
                  <a:pt x="5603036" y="0"/>
                  <a:pt x="5650952" y="47916"/>
                  <a:pt x="5650952" y="107023"/>
                </a:cubicBezTo>
                <a:lnTo>
                  <a:pt x="5650952" y="5008801"/>
                </a:lnTo>
                <a:cubicBezTo>
                  <a:pt x="5650952" y="5067908"/>
                  <a:pt x="5603036" y="5115824"/>
                  <a:pt x="5543929" y="5115824"/>
                </a:cubicBezTo>
                <a:lnTo>
                  <a:pt x="107023" y="5115824"/>
                </a:lnTo>
                <a:cubicBezTo>
                  <a:pt x="47916" y="5115824"/>
                  <a:pt x="0" y="5067908"/>
                  <a:pt x="0" y="5008801"/>
                </a:cubicBezTo>
                <a:lnTo>
                  <a:pt x="0" y="107023"/>
                </a:lnTo>
                <a:cubicBezTo>
                  <a:pt x="0" y="47916"/>
                  <a:pt x="47916" y="0"/>
                  <a:pt x="107023" y="0"/>
                </a:cubicBezTo>
                <a:close/>
              </a:path>
            </a:pathLst>
          </a:custGeom>
          <a:solidFill>
            <a:srgbClr val="2D3748"/>
          </a:solidFill>
          <a:ln cap="flat" cmpd="sng" w="203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3"/>
          <p:cNvSpPr/>
          <p:nvPr/>
        </p:nvSpPr>
        <p:spPr>
          <a:xfrm>
            <a:off x="6271255" y="1334253"/>
            <a:ext cx="5458306" cy="285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5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Four Main Techniques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3"/>
          <p:cNvSpPr/>
          <p:nvPr/>
        </p:nvSpPr>
        <p:spPr>
          <a:xfrm>
            <a:off x="6342605" y="1726567"/>
            <a:ext cx="5333443" cy="1052418"/>
          </a:xfrm>
          <a:custGeom>
            <a:rect b="b" l="l" r="r" t="t"/>
            <a:pathLst>
              <a:path extrusionOk="0" h="1052418" w="5333443">
                <a:moveTo>
                  <a:pt x="35675" y="0"/>
                </a:moveTo>
                <a:lnTo>
                  <a:pt x="5262089" y="0"/>
                </a:lnTo>
                <a:cubicBezTo>
                  <a:pt x="5301496" y="0"/>
                  <a:pt x="5333443" y="31946"/>
                  <a:pt x="5333443" y="71354"/>
                </a:cubicBezTo>
                <a:lnTo>
                  <a:pt x="5333443" y="981064"/>
                </a:lnTo>
                <a:cubicBezTo>
                  <a:pt x="5333443" y="1020472"/>
                  <a:pt x="5301496" y="1052418"/>
                  <a:pt x="5262089" y="1052418"/>
                </a:cubicBezTo>
                <a:lnTo>
                  <a:pt x="35675" y="1052418"/>
                </a:lnTo>
                <a:cubicBezTo>
                  <a:pt x="15972" y="1052418"/>
                  <a:pt x="0" y="1036446"/>
                  <a:pt x="0" y="1016743"/>
                </a:cubicBezTo>
                <a:lnTo>
                  <a:pt x="0" y="35675"/>
                </a:lnTo>
                <a:cubicBezTo>
                  <a:pt x="0" y="15986"/>
                  <a:pt x="15986" y="0"/>
                  <a:pt x="3567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3"/>
          <p:cNvSpPr/>
          <p:nvPr/>
        </p:nvSpPr>
        <p:spPr>
          <a:xfrm>
            <a:off x="6342605" y="1726567"/>
            <a:ext cx="35675" cy="1052418"/>
          </a:xfrm>
          <a:custGeom>
            <a:rect b="b" l="l" r="r" t="t"/>
            <a:pathLst>
              <a:path extrusionOk="0" h="1052418" w="35675">
                <a:moveTo>
                  <a:pt x="35675" y="0"/>
                </a:moveTo>
                <a:lnTo>
                  <a:pt x="35675" y="0"/>
                </a:lnTo>
                <a:lnTo>
                  <a:pt x="35675" y="1052418"/>
                </a:lnTo>
                <a:lnTo>
                  <a:pt x="35675" y="1052418"/>
                </a:lnTo>
                <a:cubicBezTo>
                  <a:pt x="15972" y="1052418"/>
                  <a:pt x="0" y="1036446"/>
                  <a:pt x="0" y="1016743"/>
                </a:cubicBezTo>
                <a:lnTo>
                  <a:pt x="0" y="35675"/>
                </a:lnTo>
                <a:cubicBezTo>
                  <a:pt x="0" y="15986"/>
                  <a:pt x="15986" y="0"/>
                  <a:pt x="35675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3"/>
          <p:cNvSpPr/>
          <p:nvPr/>
        </p:nvSpPr>
        <p:spPr>
          <a:xfrm>
            <a:off x="6467468" y="1833593"/>
            <a:ext cx="285402" cy="285402"/>
          </a:xfrm>
          <a:custGeom>
            <a:rect b="b" l="l" r="r" t="t"/>
            <a:pathLst>
              <a:path extrusionOk="0" h="285402" w="285402">
                <a:moveTo>
                  <a:pt x="142701" y="0"/>
                </a:moveTo>
                <a:lnTo>
                  <a:pt x="142701" y="0"/>
                </a:lnTo>
                <a:cubicBezTo>
                  <a:pt x="221460" y="0"/>
                  <a:pt x="285402" y="63942"/>
                  <a:pt x="285402" y="142701"/>
                </a:cubicBezTo>
                <a:lnTo>
                  <a:pt x="285402" y="142701"/>
                </a:lnTo>
                <a:cubicBezTo>
                  <a:pt x="285402" y="221460"/>
                  <a:pt x="221460" y="285402"/>
                  <a:pt x="142701" y="285402"/>
                </a:cubicBezTo>
                <a:lnTo>
                  <a:pt x="142701" y="285402"/>
                </a:lnTo>
                <a:cubicBezTo>
                  <a:pt x="63942" y="285402"/>
                  <a:pt x="0" y="221460"/>
                  <a:pt x="0" y="142701"/>
                </a:cubicBezTo>
                <a:lnTo>
                  <a:pt x="0" y="142701"/>
                </a:lnTo>
                <a:cubicBezTo>
                  <a:pt x="0" y="63942"/>
                  <a:pt x="63942" y="0"/>
                  <a:pt x="142701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3"/>
          <p:cNvSpPr/>
          <p:nvPr/>
        </p:nvSpPr>
        <p:spPr>
          <a:xfrm>
            <a:off x="6587537" y="1869268"/>
            <a:ext cx="115944" cy="21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4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3"/>
          <p:cNvSpPr/>
          <p:nvPr/>
        </p:nvSpPr>
        <p:spPr>
          <a:xfrm>
            <a:off x="6859895" y="1869268"/>
            <a:ext cx="1061337" cy="249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4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Normalization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3"/>
          <p:cNvSpPr/>
          <p:nvPr/>
        </p:nvSpPr>
        <p:spPr>
          <a:xfrm>
            <a:off x="6467468" y="2190345"/>
            <a:ext cx="5172904" cy="196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Scale data values to specified ranges (-1.0 to 1.0 or 0.0 to 1.0) for fair comparison.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3"/>
          <p:cNvSpPr/>
          <p:nvPr/>
        </p:nvSpPr>
        <p:spPr>
          <a:xfrm>
            <a:off x="6467468" y="2457909"/>
            <a:ext cx="5101554" cy="214051"/>
          </a:xfrm>
          <a:custGeom>
            <a:rect b="b" l="l" r="r" t="t"/>
            <a:pathLst>
              <a:path extrusionOk="0" h="214051" w="5101554">
                <a:moveTo>
                  <a:pt x="35676" y="0"/>
                </a:moveTo>
                <a:lnTo>
                  <a:pt x="5065878" y="0"/>
                </a:lnTo>
                <a:cubicBezTo>
                  <a:pt x="5085581" y="0"/>
                  <a:pt x="5101554" y="15973"/>
                  <a:pt x="5101554" y="35676"/>
                </a:cubicBezTo>
                <a:lnTo>
                  <a:pt x="5101554" y="178375"/>
                </a:lnTo>
                <a:cubicBezTo>
                  <a:pt x="5101554" y="198079"/>
                  <a:pt x="5085581" y="214051"/>
                  <a:pt x="5065878" y="214051"/>
                </a:cubicBezTo>
                <a:lnTo>
                  <a:pt x="35676" y="214051"/>
                </a:lnTo>
                <a:cubicBezTo>
                  <a:pt x="15986" y="214051"/>
                  <a:pt x="0" y="198065"/>
                  <a:pt x="0" y="178375"/>
                </a:cubicBezTo>
                <a:lnTo>
                  <a:pt x="0" y="35676"/>
                </a:lnTo>
                <a:cubicBezTo>
                  <a:pt x="0" y="15986"/>
                  <a:pt x="15986" y="0"/>
                  <a:pt x="3567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3"/>
          <p:cNvSpPr/>
          <p:nvPr/>
        </p:nvSpPr>
        <p:spPr>
          <a:xfrm>
            <a:off x="6467468" y="2457909"/>
            <a:ext cx="5155067" cy="21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50" spcFirstLastPara="1" rIns="71350" wrap="square" tIns="356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3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Purpose:</a:t>
            </a:r>
            <a:r>
              <a:rPr lang="en-US" sz="843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Prevents attributes with large domains from dominating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3"/>
          <p:cNvSpPr/>
          <p:nvPr/>
        </p:nvSpPr>
        <p:spPr>
          <a:xfrm>
            <a:off x="6342605" y="2850227"/>
            <a:ext cx="5333443" cy="1052418"/>
          </a:xfrm>
          <a:custGeom>
            <a:rect b="b" l="l" r="r" t="t"/>
            <a:pathLst>
              <a:path extrusionOk="0" h="1052418" w="5333443">
                <a:moveTo>
                  <a:pt x="35675" y="0"/>
                </a:moveTo>
                <a:lnTo>
                  <a:pt x="5262089" y="0"/>
                </a:lnTo>
                <a:cubicBezTo>
                  <a:pt x="5301496" y="0"/>
                  <a:pt x="5333443" y="31946"/>
                  <a:pt x="5333443" y="71354"/>
                </a:cubicBezTo>
                <a:lnTo>
                  <a:pt x="5333443" y="981064"/>
                </a:lnTo>
                <a:cubicBezTo>
                  <a:pt x="5333443" y="1020472"/>
                  <a:pt x="5301496" y="1052418"/>
                  <a:pt x="5262089" y="1052418"/>
                </a:cubicBezTo>
                <a:lnTo>
                  <a:pt x="35675" y="1052418"/>
                </a:lnTo>
                <a:cubicBezTo>
                  <a:pt x="15972" y="1052418"/>
                  <a:pt x="0" y="1036446"/>
                  <a:pt x="0" y="1016743"/>
                </a:cubicBezTo>
                <a:lnTo>
                  <a:pt x="0" y="35675"/>
                </a:lnTo>
                <a:cubicBezTo>
                  <a:pt x="0" y="15986"/>
                  <a:pt x="15986" y="0"/>
                  <a:pt x="3567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3"/>
          <p:cNvSpPr/>
          <p:nvPr/>
        </p:nvSpPr>
        <p:spPr>
          <a:xfrm>
            <a:off x="6342605" y="2850227"/>
            <a:ext cx="35675" cy="1052418"/>
          </a:xfrm>
          <a:custGeom>
            <a:rect b="b" l="l" r="r" t="t"/>
            <a:pathLst>
              <a:path extrusionOk="0" h="1052418" w="35675">
                <a:moveTo>
                  <a:pt x="35675" y="0"/>
                </a:moveTo>
                <a:lnTo>
                  <a:pt x="35675" y="0"/>
                </a:lnTo>
                <a:lnTo>
                  <a:pt x="35675" y="1052418"/>
                </a:lnTo>
                <a:lnTo>
                  <a:pt x="35675" y="1052418"/>
                </a:lnTo>
                <a:cubicBezTo>
                  <a:pt x="15972" y="1052418"/>
                  <a:pt x="0" y="1036446"/>
                  <a:pt x="0" y="1016743"/>
                </a:cubicBezTo>
                <a:lnTo>
                  <a:pt x="0" y="35675"/>
                </a:lnTo>
                <a:cubicBezTo>
                  <a:pt x="0" y="15986"/>
                  <a:pt x="15986" y="0"/>
                  <a:pt x="3567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3"/>
          <p:cNvSpPr/>
          <p:nvPr/>
        </p:nvSpPr>
        <p:spPr>
          <a:xfrm>
            <a:off x="6467468" y="2957253"/>
            <a:ext cx="285402" cy="285402"/>
          </a:xfrm>
          <a:custGeom>
            <a:rect b="b" l="l" r="r" t="t"/>
            <a:pathLst>
              <a:path extrusionOk="0" h="285402" w="285402">
                <a:moveTo>
                  <a:pt x="142701" y="0"/>
                </a:moveTo>
                <a:lnTo>
                  <a:pt x="142701" y="0"/>
                </a:lnTo>
                <a:cubicBezTo>
                  <a:pt x="221460" y="0"/>
                  <a:pt x="285402" y="63942"/>
                  <a:pt x="285402" y="142701"/>
                </a:cubicBezTo>
                <a:lnTo>
                  <a:pt x="285402" y="142701"/>
                </a:lnTo>
                <a:cubicBezTo>
                  <a:pt x="285402" y="221460"/>
                  <a:pt x="221460" y="285402"/>
                  <a:pt x="142701" y="285402"/>
                </a:cubicBezTo>
                <a:lnTo>
                  <a:pt x="142701" y="285402"/>
                </a:lnTo>
                <a:cubicBezTo>
                  <a:pt x="63942" y="285402"/>
                  <a:pt x="0" y="221460"/>
                  <a:pt x="0" y="142701"/>
                </a:cubicBezTo>
                <a:lnTo>
                  <a:pt x="0" y="142701"/>
                </a:lnTo>
                <a:cubicBezTo>
                  <a:pt x="0" y="63942"/>
                  <a:pt x="63942" y="0"/>
                  <a:pt x="142701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3"/>
          <p:cNvSpPr/>
          <p:nvPr/>
        </p:nvSpPr>
        <p:spPr>
          <a:xfrm>
            <a:off x="6573825" y="2992928"/>
            <a:ext cx="142701" cy="21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4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3"/>
          <p:cNvSpPr/>
          <p:nvPr/>
        </p:nvSpPr>
        <p:spPr>
          <a:xfrm>
            <a:off x="6859895" y="2992928"/>
            <a:ext cx="1658897" cy="249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4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Attribute Construction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3"/>
          <p:cNvSpPr/>
          <p:nvPr/>
        </p:nvSpPr>
        <p:spPr>
          <a:xfrm>
            <a:off x="6467468" y="3314005"/>
            <a:ext cx="5172904" cy="196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new attributes from existing ones to improve mining efficiency.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3"/>
          <p:cNvSpPr/>
          <p:nvPr/>
        </p:nvSpPr>
        <p:spPr>
          <a:xfrm>
            <a:off x="6467468" y="3581569"/>
            <a:ext cx="5101554" cy="214051"/>
          </a:xfrm>
          <a:custGeom>
            <a:rect b="b" l="l" r="r" t="t"/>
            <a:pathLst>
              <a:path extrusionOk="0" h="214051" w="5101554">
                <a:moveTo>
                  <a:pt x="35676" y="0"/>
                </a:moveTo>
                <a:lnTo>
                  <a:pt x="5065878" y="0"/>
                </a:lnTo>
                <a:cubicBezTo>
                  <a:pt x="5085581" y="0"/>
                  <a:pt x="5101554" y="15973"/>
                  <a:pt x="5101554" y="35676"/>
                </a:cubicBezTo>
                <a:lnTo>
                  <a:pt x="5101554" y="178375"/>
                </a:lnTo>
                <a:cubicBezTo>
                  <a:pt x="5101554" y="198079"/>
                  <a:pt x="5085581" y="214051"/>
                  <a:pt x="5065878" y="214051"/>
                </a:cubicBezTo>
                <a:lnTo>
                  <a:pt x="35676" y="214051"/>
                </a:lnTo>
                <a:cubicBezTo>
                  <a:pt x="15986" y="214051"/>
                  <a:pt x="0" y="198065"/>
                  <a:pt x="0" y="178375"/>
                </a:cubicBezTo>
                <a:lnTo>
                  <a:pt x="0" y="35676"/>
                </a:lnTo>
                <a:cubicBezTo>
                  <a:pt x="0" y="15986"/>
                  <a:pt x="15986" y="0"/>
                  <a:pt x="35676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3"/>
          <p:cNvSpPr/>
          <p:nvPr/>
        </p:nvSpPr>
        <p:spPr>
          <a:xfrm>
            <a:off x="6467468" y="3581569"/>
            <a:ext cx="5155067" cy="21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50" spcFirstLastPara="1" rIns="71350" wrap="square" tIns="356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3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Example:</a:t>
            </a:r>
            <a:r>
              <a:rPr lang="en-US" sz="843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Create "employees joined in 2019" from employee data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3"/>
          <p:cNvSpPr/>
          <p:nvPr/>
        </p:nvSpPr>
        <p:spPr>
          <a:xfrm>
            <a:off x="6342605" y="3973883"/>
            <a:ext cx="5333443" cy="1052418"/>
          </a:xfrm>
          <a:custGeom>
            <a:rect b="b" l="l" r="r" t="t"/>
            <a:pathLst>
              <a:path extrusionOk="0" h="1052418" w="5333443">
                <a:moveTo>
                  <a:pt x="35675" y="0"/>
                </a:moveTo>
                <a:lnTo>
                  <a:pt x="5262089" y="0"/>
                </a:lnTo>
                <a:cubicBezTo>
                  <a:pt x="5301496" y="0"/>
                  <a:pt x="5333443" y="31946"/>
                  <a:pt x="5333443" y="71354"/>
                </a:cubicBezTo>
                <a:lnTo>
                  <a:pt x="5333443" y="981064"/>
                </a:lnTo>
                <a:cubicBezTo>
                  <a:pt x="5333443" y="1020472"/>
                  <a:pt x="5301496" y="1052418"/>
                  <a:pt x="5262089" y="1052418"/>
                </a:cubicBezTo>
                <a:lnTo>
                  <a:pt x="35675" y="1052418"/>
                </a:lnTo>
                <a:cubicBezTo>
                  <a:pt x="15972" y="1052418"/>
                  <a:pt x="0" y="1036446"/>
                  <a:pt x="0" y="1016743"/>
                </a:cubicBezTo>
                <a:lnTo>
                  <a:pt x="0" y="35675"/>
                </a:lnTo>
                <a:cubicBezTo>
                  <a:pt x="0" y="15986"/>
                  <a:pt x="15986" y="0"/>
                  <a:pt x="3567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3"/>
          <p:cNvSpPr/>
          <p:nvPr/>
        </p:nvSpPr>
        <p:spPr>
          <a:xfrm>
            <a:off x="6342605" y="3973883"/>
            <a:ext cx="35675" cy="1052418"/>
          </a:xfrm>
          <a:custGeom>
            <a:rect b="b" l="l" r="r" t="t"/>
            <a:pathLst>
              <a:path extrusionOk="0" h="1052418" w="35675">
                <a:moveTo>
                  <a:pt x="35675" y="0"/>
                </a:moveTo>
                <a:lnTo>
                  <a:pt x="35675" y="0"/>
                </a:lnTo>
                <a:lnTo>
                  <a:pt x="35675" y="1052418"/>
                </a:lnTo>
                <a:lnTo>
                  <a:pt x="35675" y="1052418"/>
                </a:lnTo>
                <a:cubicBezTo>
                  <a:pt x="15972" y="1052418"/>
                  <a:pt x="0" y="1036446"/>
                  <a:pt x="0" y="1016743"/>
                </a:cubicBezTo>
                <a:lnTo>
                  <a:pt x="0" y="35675"/>
                </a:lnTo>
                <a:cubicBezTo>
                  <a:pt x="0" y="15986"/>
                  <a:pt x="15986" y="0"/>
                  <a:pt x="35675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3"/>
          <p:cNvSpPr/>
          <p:nvPr/>
        </p:nvSpPr>
        <p:spPr>
          <a:xfrm>
            <a:off x="6467468" y="4080909"/>
            <a:ext cx="285402" cy="285402"/>
          </a:xfrm>
          <a:custGeom>
            <a:rect b="b" l="l" r="r" t="t"/>
            <a:pathLst>
              <a:path extrusionOk="0" h="285402" w="285402">
                <a:moveTo>
                  <a:pt x="142701" y="0"/>
                </a:moveTo>
                <a:lnTo>
                  <a:pt x="142701" y="0"/>
                </a:lnTo>
                <a:cubicBezTo>
                  <a:pt x="221460" y="0"/>
                  <a:pt x="285402" y="63942"/>
                  <a:pt x="285402" y="142701"/>
                </a:cubicBezTo>
                <a:lnTo>
                  <a:pt x="285402" y="142701"/>
                </a:lnTo>
                <a:cubicBezTo>
                  <a:pt x="285402" y="221460"/>
                  <a:pt x="221460" y="285402"/>
                  <a:pt x="142701" y="285402"/>
                </a:cubicBezTo>
                <a:lnTo>
                  <a:pt x="142701" y="285402"/>
                </a:lnTo>
                <a:cubicBezTo>
                  <a:pt x="63942" y="285402"/>
                  <a:pt x="0" y="221460"/>
                  <a:pt x="0" y="142701"/>
                </a:cubicBezTo>
                <a:lnTo>
                  <a:pt x="0" y="142701"/>
                </a:lnTo>
                <a:cubicBezTo>
                  <a:pt x="0" y="63942"/>
                  <a:pt x="63942" y="0"/>
                  <a:pt x="142701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3"/>
          <p:cNvSpPr/>
          <p:nvPr/>
        </p:nvSpPr>
        <p:spPr>
          <a:xfrm>
            <a:off x="6571929" y="4116584"/>
            <a:ext cx="151620" cy="21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4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3"/>
          <p:cNvSpPr/>
          <p:nvPr/>
        </p:nvSpPr>
        <p:spPr>
          <a:xfrm>
            <a:off x="6859895" y="4116584"/>
            <a:ext cx="1052418" cy="249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4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Discretization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3"/>
          <p:cNvSpPr/>
          <p:nvPr/>
        </p:nvSpPr>
        <p:spPr>
          <a:xfrm>
            <a:off x="6467468" y="4437661"/>
            <a:ext cx="5172904" cy="196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 continuous data into intervals (e.g., age groups).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3"/>
          <p:cNvSpPr/>
          <p:nvPr/>
        </p:nvSpPr>
        <p:spPr>
          <a:xfrm>
            <a:off x="6467468" y="4705225"/>
            <a:ext cx="5101554" cy="214051"/>
          </a:xfrm>
          <a:custGeom>
            <a:rect b="b" l="l" r="r" t="t"/>
            <a:pathLst>
              <a:path extrusionOk="0" h="214051" w="5101554">
                <a:moveTo>
                  <a:pt x="35676" y="0"/>
                </a:moveTo>
                <a:lnTo>
                  <a:pt x="5065878" y="0"/>
                </a:lnTo>
                <a:cubicBezTo>
                  <a:pt x="5085581" y="0"/>
                  <a:pt x="5101554" y="15973"/>
                  <a:pt x="5101554" y="35676"/>
                </a:cubicBezTo>
                <a:lnTo>
                  <a:pt x="5101554" y="178375"/>
                </a:lnTo>
                <a:cubicBezTo>
                  <a:pt x="5101554" y="198079"/>
                  <a:pt x="5085581" y="214051"/>
                  <a:pt x="5065878" y="214051"/>
                </a:cubicBezTo>
                <a:lnTo>
                  <a:pt x="35676" y="214051"/>
                </a:lnTo>
                <a:cubicBezTo>
                  <a:pt x="15986" y="214051"/>
                  <a:pt x="0" y="198065"/>
                  <a:pt x="0" y="178375"/>
                </a:cubicBezTo>
                <a:lnTo>
                  <a:pt x="0" y="35676"/>
                </a:lnTo>
                <a:cubicBezTo>
                  <a:pt x="0" y="15986"/>
                  <a:pt x="15986" y="0"/>
                  <a:pt x="35676" y="0"/>
                </a:cubicBezTo>
                <a:close/>
              </a:path>
            </a:pathLst>
          </a:custGeom>
          <a:solidFill>
            <a:srgbClr val="4FD1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3"/>
          <p:cNvSpPr/>
          <p:nvPr/>
        </p:nvSpPr>
        <p:spPr>
          <a:xfrm>
            <a:off x="6467468" y="4705225"/>
            <a:ext cx="5155067" cy="21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50" spcFirstLastPara="1" rIns="71350" wrap="square" tIns="356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3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Benefit:</a:t>
            </a:r>
            <a:r>
              <a:rPr lang="en-US" sz="843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Significantly improves mining efficiency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3"/>
          <p:cNvSpPr/>
          <p:nvPr/>
        </p:nvSpPr>
        <p:spPr>
          <a:xfrm>
            <a:off x="6342605" y="5097539"/>
            <a:ext cx="5333443" cy="1052418"/>
          </a:xfrm>
          <a:custGeom>
            <a:rect b="b" l="l" r="r" t="t"/>
            <a:pathLst>
              <a:path extrusionOk="0" h="1052418" w="5333443">
                <a:moveTo>
                  <a:pt x="35675" y="0"/>
                </a:moveTo>
                <a:lnTo>
                  <a:pt x="5262089" y="0"/>
                </a:lnTo>
                <a:cubicBezTo>
                  <a:pt x="5301496" y="0"/>
                  <a:pt x="5333443" y="31946"/>
                  <a:pt x="5333443" y="71354"/>
                </a:cubicBezTo>
                <a:lnTo>
                  <a:pt x="5333443" y="981064"/>
                </a:lnTo>
                <a:cubicBezTo>
                  <a:pt x="5333443" y="1020472"/>
                  <a:pt x="5301496" y="1052418"/>
                  <a:pt x="5262089" y="1052418"/>
                </a:cubicBezTo>
                <a:lnTo>
                  <a:pt x="35675" y="1052418"/>
                </a:lnTo>
                <a:cubicBezTo>
                  <a:pt x="15972" y="1052418"/>
                  <a:pt x="0" y="1036446"/>
                  <a:pt x="0" y="1016743"/>
                </a:cubicBezTo>
                <a:lnTo>
                  <a:pt x="0" y="35675"/>
                </a:lnTo>
                <a:cubicBezTo>
                  <a:pt x="0" y="15986"/>
                  <a:pt x="15986" y="0"/>
                  <a:pt x="35675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3"/>
          <p:cNvSpPr/>
          <p:nvPr/>
        </p:nvSpPr>
        <p:spPr>
          <a:xfrm>
            <a:off x="6342605" y="5097539"/>
            <a:ext cx="35675" cy="1052418"/>
          </a:xfrm>
          <a:custGeom>
            <a:rect b="b" l="l" r="r" t="t"/>
            <a:pathLst>
              <a:path extrusionOk="0" h="1052418" w="35675">
                <a:moveTo>
                  <a:pt x="35675" y="0"/>
                </a:moveTo>
                <a:lnTo>
                  <a:pt x="35675" y="0"/>
                </a:lnTo>
                <a:lnTo>
                  <a:pt x="35675" y="1052418"/>
                </a:lnTo>
                <a:lnTo>
                  <a:pt x="35675" y="1052418"/>
                </a:lnTo>
                <a:cubicBezTo>
                  <a:pt x="15972" y="1052418"/>
                  <a:pt x="0" y="1036446"/>
                  <a:pt x="0" y="1016743"/>
                </a:cubicBezTo>
                <a:lnTo>
                  <a:pt x="0" y="35675"/>
                </a:lnTo>
                <a:cubicBezTo>
                  <a:pt x="0" y="15986"/>
                  <a:pt x="15986" y="0"/>
                  <a:pt x="35675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3"/>
          <p:cNvSpPr/>
          <p:nvPr/>
        </p:nvSpPr>
        <p:spPr>
          <a:xfrm>
            <a:off x="6467468" y="5204564"/>
            <a:ext cx="285402" cy="285402"/>
          </a:xfrm>
          <a:custGeom>
            <a:rect b="b" l="l" r="r" t="t"/>
            <a:pathLst>
              <a:path extrusionOk="0" h="285402" w="285402">
                <a:moveTo>
                  <a:pt x="142701" y="0"/>
                </a:moveTo>
                <a:lnTo>
                  <a:pt x="142701" y="0"/>
                </a:lnTo>
                <a:cubicBezTo>
                  <a:pt x="221460" y="0"/>
                  <a:pt x="285402" y="63942"/>
                  <a:pt x="285402" y="142701"/>
                </a:cubicBezTo>
                <a:lnTo>
                  <a:pt x="285402" y="142701"/>
                </a:lnTo>
                <a:cubicBezTo>
                  <a:pt x="285402" y="221460"/>
                  <a:pt x="221460" y="285402"/>
                  <a:pt x="142701" y="285402"/>
                </a:cubicBezTo>
                <a:lnTo>
                  <a:pt x="142701" y="285402"/>
                </a:lnTo>
                <a:cubicBezTo>
                  <a:pt x="63942" y="285402"/>
                  <a:pt x="0" y="221460"/>
                  <a:pt x="0" y="142701"/>
                </a:cubicBezTo>
                <a:lnTo>
                  <a:pt x="0" y="142701"/>
                </a:lnTo>
                <a:cubicBezTo>
                  <a:pt x="0" y="63942"/>
                  <a:pt x="63942" y="0"/>
                  <a:pt x="142701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3"/>
          <p:cNvSpPr/>
          <p:nvPr/>
        </p:nvSpPr>
        <p:spPr>
          <a:xfrm>
            <a:off x="6573825" y="5240239"/>
            <a:ext cx="142701" cy="21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4">
                <a:solidFill>
                  <a:srgbClr val="1A202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3"/>
          <p:cNvSpPr/>
          <p:nvPr/>
        </p:nvSpPr>
        <p:spPr>
          <a:xfrm>
            <a:off x="6859895" y="5240239"/>
            <a:ext cx="1409170" cy="2497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64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Concept Hierarchy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3"/>
          <p:cNvSpPr/>
          <p:nvPr/>
        </p:nvSpPr>
        <p:spPr>
          <a:xfrm>
            <a:off x="6467468" y="5561316"/>
            <a:ext cx="5172904" cy="1962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4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Convert attributes from lower to higher levels for multi-level analysis.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3"/>
          <p:cNvSpPr/>
          <p:nvPr/>
        </p:nvSpPr>
        <p:spPr>
          <a:xfrm>
            <a:off x="6467468" y="5828880"/>
            <a:ext cx="5101554" cy="214051"/>
          </a:xfrm>
          <a:custGeom>
            <a:rect b="b" l="l" r="r" t="t"/>
            <a:pathLst>
              <a:path extrusionOk="0" h="214051" w="5101554">
                <a:moveTo>
                  <a:pt x="35676" y="0"/>
                </a:moveTo>
                <a:lnTo>
                  <a:pt x="5065878" y="0"/>
                </a:lnTo>
                <a:cubicBezTo>
                  <a:pt x="5085581" y="0"/>
                  <a:pt x="5101554" y="15973"/>
                  <a:pt x="5101554" y="35676"/>
                </a:cubicBezTo>
                <a:lnTo>
                  <a:pt x="5101554" y="178375"/>
                </a:lnTo>
                <a:cubicBezTo>
                  <a:pt x="5101554" y="198079"/>
                  <a:pt x="5085581" y="214051"/>
                  <a:pt x="5065878" y="214051"/>
                </a:cubicBezTo>
                <a:lnTo>
                  <a:pt x="35676" y="214051"/>
                </a:lnTo>
                <a:cubicBezTo>
                  <a:pt x="15986" y="214051"/>
                  <a:pt x="0" y="198065"/>
                  <a:pt x="0" y="178375"/>
                </a:cubicBezTo>
                <a:lnTo>
                  <a:pt x="0" y="35676"/>
                </a:lnTo>
                <a:cubicBezTo>
                  <a:pt x="0" y="15986"/>
                  <a:pt x="15986" y="0"/>
                  <a:pt x="35676" y="0"/>
                </a:cubicBezTo>
                <a:close/>
              </a:path>
            </a:pathLst>
          </a:custGeom>
          <a:solidFill>
            <a:srgbClr val="F6AD5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3"/>
          <p:cNvSpPr/>
          <p:nvPr/>
        </p:nvSpPr>
        <p:spPr>
          <a:xfrm>
            <a:off x="6467468" y="5828880"/>
            <a:ext cx="5155067" cy="214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35675" lIns="71350" spcFirstLastPara="1" rIns="71350" wrap="square" tIns="356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3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Example:</a:t>
            </a:r>
            <a:r>
              <a:rPr lang="en-US" sz="843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City → State → Country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9" name="Google Shape;64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8906" y="105968"/>
            <a:ext cx="1502714" cy="56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4"/>
          <p:cNvSpPr/>
          <p:nvPr/>
        </p:nvSpPr>
        <p:spPr>
          <a:xfrm>
            <a:off x="381000" y="476250"/>
            <a:ext cx="533400" cy="533400"/>
          </a:xfrm>
          <a:custGeom>
            <a:rect b="b" l="l" r="r" t="t"/>
            <a:pathLst>
              <a:path extrusionOk="0" h="533400" w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4"/>
          <p:cNvSpPr/>
          <p:nvPr/>
        </p:nvSpPr>
        <p:spPr>
          <a:xfrm>
            <a:off x="533400" y="628650"/>
            <a:ext cx="228600" cy="228600"/>
          </a:xfrm>
          <a:custGeom>
            <a:rect b="b" l="l" r="r" t="t"/>
            <a:pathLst>
              <a:path extrusionOk="0" h="228600" w="228600">
                <a:moveTo>
                  <a:pt x="85725" y="114300"/>
                </a:moveTo>
                <a:lnTo>
                  <a:pt x="68089" y="131936"/>
                </a:lnTo>
                <a:cubicBezTo>
                  <a:pt x="62463" y="129748"/>
                  <a:pt x="56391" y="128588"/>
                  <a:pt x="50006" y="128588"/>
                </a:cubicBezTo>
                <a:cubicBezTo>
                  <a:pt x="22369" y="128588"/>
                  <a:pt x="0" y="150956"/>
                  <a:pt x="0" y="178594"/>
                </a:cubicBezTo>
                <a:cubicBezTo>
                  <a:pt x="0" y="206231"/>
                  <a:pt x="22369" y="228600"/>
                  <a:pt x="50006" y="228600"/>
                </a:cubicBezTo>
                <a:cubicBezTo>
                  <a:pt x="77644" y="228600"/>
                  <a:pt x="100013" y="206231"/>
                  <a:pt x="100013" y="178594"/>
                </a:cubicBezTo>
                <a:cubicBezTo>
                  <a:pt x="100013" y="172209"/>
                  <a:pt x="98807" y="166137"/>
                  <a:pt x="96664" y="160511"/>
                </a:cubicBezTo>
                <a:lnTo>
                  <a:pt x="222885" y="34290"/>
                </a:lnTo>
                <a:cubicBezTo>
                  <a:pt x="226055" y="31120"/>
                  <a:pt x="226055" y="26030"/>
                  <a:pt x="222885" y="22860"/>
                </a:cubicBezTo>
                <a:cubicBezTo>
                  <a:pt x="210249" y="10224"/>
                  <a:pt x="189801" y="10224"/>
                  <a:pt x="177165" y="22860"/>
                </a:cubicBezTo>
                <a:lnTo>
                  <a:pt x="114300" y="85725"/>
                </a:lnTo>
                <a:lnTo>
                  <a:pt x="96664" y="68089"/>
                </a:lnTo>
                <a:cubicBezTo>
                  <a:pt x="98852" y="62463"/>
                  <a:pt x="100013" y="56391"/>
                  <a:pt x="100013" y="50006"/>
                </a:cubicBezTo>
                <a:cubicBezTo>
                  <a:pt x="100013" y="22369"/>
                  <a:pt x="77644" y="0"/>
                  <a:pt x="50006" y="0"/>
                </a:cubicBezTo>
                <a:cubicBezTo>
                  <a:pt x="22369" y="0"/>
                  <a:pt x="0" y="22369"/>
                  <a:pt x="0" y="50006"/>
                </a:cubicBezTo>
                <a:cubicBezTo>
                  <a:pt x="0" y="77644"/>
                  <a:pt x="22369" y="100013"/>
                  <a:pt x="50006" y="100013"/>
                </a:cubicBezTo>
                <a:cubicBezTo>
                  <a:pt x="56391" y="100013"/>
                  <a:pt x="62463" y="98807"/>
                  <a:pt x="68089" y="96664"/>
                </a:cubicBezTo>
                <a:lnTo>
                  <a:pt x="85725" y="114300"/>
                </a:lnTo>
                <a:close/>
                <a:moveTo>
                  <a:pt x="129436" y="158011"/>
                </a:moveTo>
                <a:lnTo>
                  <a:pt x="177165" y="205740"/>
                </a:lnTo>
                <a:cubicBezTo>
                  <a:pt x="189801" y="218376"/>
                  <a:pt x="210249" y="218376"/>
                  <a:pt x="222885" y="205740"/>
                </a:cubicBezTo>
                <a:cubicBezTo>
                  <a:pt x="226055" y="202570"/>
                  <a:pt x="226055" y="197480"/>
                  <a:pt x="222885" y="194310"/>
                </a:cubicBezTo>
                <a:lnTo>
                  <a:pt x="158011" y="129436"/>
                </a:lnTo>
                <a:lnTo>
                  <a:pt x="129436" y="158011"/>
                </a:lnTo>
                <a:close/>
                <a:moveTo>
                  <a:pt x="28575" y="50006"/>
                </a:moveTo>
                <a:cubicBezTo>
                  <a:pt x="28575" y="38178"/>
                  <a:pt x="38178" y="28575"/>
                  <a:pt x="50006" y="28575"/>
                </a:cubicBezTo>
                <a:cubicBezTo>
                  <a:pt x="61834" y="28575"/>
                  <a:pt x="71438" y="38178"/>
                  <a:pt x="71438" y="50006"/>
                </a:cubicBezTo>
                <a:cubicBezTo>
                  <a:pt x="71438" y="61834"/>
                  <a:pt x="61834" y="71438"/>
                  <a:pt x="50006" y="71438"/>
                </a:cubicBezTo>
                <a:cubicBezTo>
                  <a:pt x="38178" y="71438"/>
                  <a:pt x="28575" y="61834"/>
                  <a:pt x="28575" y="50006"/>
                </a:cubicBezTo>
                <a:close/>
                <a:moveTo>
                  <a:pt x="50006" y="157163"/>
                </a:moveTo>
                <a:cubicBezTo>
                  <a:pt x="61834" y="157163"/>
                  <a:pt x="71438" y="166766"/>
                  <a:pt x="71438" y="178594"/>
                </a:cubicBezTo>
                <a:cubicBezTo>
                  <a:pt x="71438" y="190422"/>
                  <a:pt x="61834" y="200025"/>
                  <a:pt x="50006" y="200025"/>
                </a:cubicBezTo>
                <a:cubicBezTo>
                  <a:pt x="38178" y="200025"/>
                  <a:pt x="28575" y="190422"/>
                  <a:pt x="28575" y="178594"/>
                </a:cubicBezTo>
                <a:cubicBezTo>
                  <a:pt x="28575" y="166766"/>
                  <a:pt x="38178" y="157163"/>
                  <a:pt x="50006" y="157163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4"/>
          <p:cNvSpPr/>
          <p:nvPr/>
        </p:nvSpPr>
        <p:spPr>
          <a:xfrm>
            <a:off x="1066800" y="381000"/>
            <a:ext cx="403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Data Discretization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4"/>
          <p:cNvSpPr/>
          <p:nvPr/>
        </p:nvSpPr>
        <p:spPr>
          <a:xfrm>
            <a:off x="1066800" y="960120"/>
            <a:ext cx="3905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Transforming Continuous to Discrete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4"/>
          <p:cNvSpPr/>
          <p:nvPr/>
        </p:nvSpPr>
        <p:spPr>
          <a:xfrm>
            <a:off x="388620" y="1264920"/>
            <a:ext cx="5625465" cy="1720215"/>
          </a:xfrm>
          <a:custGeom>
            <a:rect b="b" l="l" r="r" t="t"/>
            <a:pathLst>
              <a:path extrusionOk="0" h="1720215" w="5625465">
                <a:moveTo>
                  <a:pt x="114308" y="0"/>
                </a:moveTo>
                <a:lnTo>
                  <a:pt x="5511157" y="0"/>
                </a:lnTo>
                <a:cubicBezTo>
                  <a:pt x="5574245" y="0"/>
                  <a:pt x="5625465" y="51220"/>
                  <a:pt x="5625465" y="114308"/>
                </a:cubicBezTo>
                <a:lnTo>
                  <a:pt x="5625465" y="1605907"/>
                </a:lnTo>
                <a:cubicBezTo>
                  <a:pt x="5625465" y="1668995"/>
                  <a:pt x="5574245" y="1720215"/>
                  <a:pt x="5511157" y="1720215"/>
                </a:cubicBezTo>
                <a:lnTo>
                  <a:pt x="114308" y="1720215"/>
                </a:lnTo>
                <a:cubicBezTo>
                  <a:pt x="51220" y="1720215"/>
                  <a:pt x="0" y="1668995"/>
                  <a:pt x="0" y="160590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>
            <a:gsLst>
              <a:gs pos="0">
                <a:srgbClr val="F6AD55">
                  <a:alpha val="20000"/>
                </a:srgbClr>
              </a:gs>
              <a:gs pos="100000">
                <a:srgbClr val="2D3748"/>
              </a:gs>
            </a:gsLst>
            <a:lin ang="2700000" scaled="0"/>
          </a:gradFill>
          <a:ln cap="flat" cmpd="sng" w="203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4"/>
          <p:cNvSpPr/>
          <p:nvPr/>
        </p:nvSpPr>
        <p:spPr>
          <a:xfrm>
            <a:off x="548640" y="1424936"/>
            <a:ext cx="5400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What is Discretization?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4"/>
          <p:cNvSpPr/>
          <p:nvPr/>
        </p:nvSpPr>
        <p:spPr>
          <a:xfrm>
            <a:off x="548640" y="1805936"/>
            <a:ext cx="53816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process of </a:t>
            </a:r>
            <a:r>
              <a:rPr b="1" lang="en-US" sz="1200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transforming continuous data into a set of intervals</a:t>
            </a:r>
            <a:r>
              <a:rPr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or conceptual levels.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4"/>
          <p:cNvSpPr/>
          <p:nvPr/>
        </p:nvSpPr>
        <p:spPr>
          <a:xfrm>
            <a:off x="548640" y="2415536"/>
            <a:ext cx="5305425" cy="409575"/>
          </a:xfrm>
          <a:custGeom>
            <a:rect b="b" l="l" r="r" t="t"/>
            <a:pathLst>
              <a:path extrusionOk="0" h="409575" w="5305425">
                <a:moveTo>
                  <a:pt x="76201" y="0"/>
                </a:moveTo>
                <a:lnTo>
                  <a:pt x="5229224" y="0"/>
                </a:lnTo>
                <a:cubicBezTo>
                  <a:pt x="5271280" y="0"/>
                  <a:pt x="5305425" y="34145"/>
                  <a:pt x="5305425" y="76201"/>
                </a:cubicBezTo>
                <a:lnTo>
                  <a:pt x="5305425" y="333374"/>
                </a:lnTo>
                <a:cubicBezTo>
                  <a:pt x="5305425" y="375430"/>
                  <a:pt x="5271280" y="409575"/>
                  <a:pt x="5229224" y="409575"/>
                </a:cubicBezTo>
                <a:lnTo>
                  <a:pt x="76201" y="409575"/>
                </a:lnTo>
                <a:cubicBezTo>
                  <a:pt x="34145" y="409575"/>
                  <a:pt x="0" y="375430"/>
                  <a:pt x="0" y="3333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4"/>
          <p:cNvSpPr/>
          <p:nvPr/>
        </p:nvSpPr>
        <p:spPr>
          <a:xfrm>
            <a:off x="662940" y="2529836"/>
            <a:ext cx="5143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Purpose:</a:t>
            </a:r>
            <a:r>
              <a:rPr lang="en-US" sz="105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Replaces raw numeric values with interval levels to improve mining efficiency.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4"/>
          <p:cNvSpPr/>
          <p:nvPr/>
        </p:nvSpPr>
        <p:spPr>
          <a:xfrm>
            <a:off x="400050" y="3109429"/>
            <a:ext cx="5619750" cy="1828800"/>
          </a:xfrm>
          <a:custGeom>
            <a:rect b="b" l="l" r="r" t="t"/>
            <a:pathLst>
              <a:path extrusionOk="0" h="1828800" w="5619750">
                <a:moveTo>
                  <a:pt x="38100" y="0"/>
                </a:moveTo>
                <a:lnTo>
                  <a:pt x="5505450" y="0"/>
                </a:lnTo>
                <a:cubicBezTo>
                  <a:pt x="5568534" y="0"/>
                  <a:pt x="5619750" y="51216"/>
                  <a:pt x="5619750" y="114300"/>
                </a:cubicBezTo>
                <a:lnTo>
                  <a:pt x="5619750" y="1714500"/>
                </a:lnTo>
                <a:cubicBezTo>
                  <a:pt x="5619750" y="1777584"/>
                  <a:pt x="5568534" y="1828800"/>
                  <a:pt x="5505450" y="1828800"/>
                </a:cubicBezTo>
                <a:lnTo>
                  <a:pt x="38100" y="1828800"/>
                </a:lnTo>
                <a:cubicBezTo>
                  <a:pt x="17058" y="1828800"/>
                  <a:pt x="0" y="1811742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4"/>
          <p:cNvSpPr/>
          <p:nvPr/>
        </p:nvSpPr>
        <p:spPr>
          <a:xfrm>
            <a:off x="400050" y="3109429"/>
            <a:ext cx="38100" cy="1828800"/>
          </a:xfrm>
          <a:custGeom>
            <a:rect b="b" l="l" r="r" t="t"/>
            <a:pathLst>
              <a:path extrusionOk="0" h="1828800" w="38100">
                <a:moveTo>
                  <a:pt x="38100" y="0"/>
                </a:moveTo>
                <a:lnTo>
                  <a:pt x="38100" y="0"/>
                </a:lnTo>
                <a:lnTo>
                  <a:pt x="38100" y="1828800"/>
                </a:lnTo>
                <a:lnTo>
                  <a:pt x="38100" y="1828800"/>
                </a:lnTo>
                <a:cubicBezTo>
                  <a:pt x="17072" y="1828800"/>
                  <a:pt x="0" y="1811728"/>
                  <a:pt x="0" y="1790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4"/>
          <p:cNvSpPr/>
          <p:nvPr/>
        </p:nvSpPr>
        <p:spPr>
          <a:xfrm>
            <a:off x="571500" y="3261829"/>
            <a:ext cx="5391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Why Discretize?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4"/>
          <p:cNvSpPr/>
          <p:nvPr/>
        </p:nvSpPr>
        <p:spPr>
          <a:xfrm>
            <a:off x="619125" y="3680929"/>
            <a:ext cx="95250" cy="152400"/>
          </a:xfrm>
          <a:custGeom>
            <a:rect b="b" l="l" r="r" t="t"/>
            <a:pathLst>
              <a:path extrusionOk="0" h="152400" w="9525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4"/>
          <p:cNvSpPr/>
          <p:nvPr/>
        </p:nvSpPr>
        <p:spPr>
          <a:xfrm>
            <a:off x="838200" y="3642829"/>
            <a:ext cx="3629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Most frameworks </a:t>
            </a:r>
            <a:r>
              <a:rPr b="1"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cannot handle continuous attributes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4"/>
          <p:cNvSpPr/>
          <p:nvPr/>
        </p:nvSpPr>
        <p:spPr>
          <a:xfrm>
            <a:off x="619125" y="3985729"/>
            <a:ext cx="95250" cy="152400"/>
          </a:xfrm>
          <a:custGeom>
            <a:rect b="b" l="l" r="r" t="t"/>
            <a:pathLst>
              <a:path extrusionOk="0" h="152400" w="9525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4"/>
          <p:cNvSpPr/>
          <p:nvPr/>
        </p:nvSpPr>
        <p:spPr>
          <a:xfrm>
            <a:off x="838200" y="3947629"/>
            <a:ext cx="3362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Even if capable, it </a:t>
            </a:r>
            <a:r>
              <a:rPr b="1"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significantly improves efficiency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4"/>
          <p:cNvSpPr/>
          <p:nvPr/>
        </p:nvSpPr>
        <p:spPr>
          <a:xfrm>
            <a:off x="619125" y="4290529"/>
            <a:ext cx="95250" cy="152400"/>
          </a:xfrm>
          <a:custGeom>
            <a:rect b="b" l="l" r="r" t="t"/>
            <a:pathLst>
              <a:path extrusionOk="0" h="152400" w="9525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4"/>
          <p:cNvSpPr/>
          <p:nvPr/>
        </p:nvSpPr>
        <p:spPr>
          <a:xfrm>
            <a:off x="838200" y="4252429"/>
            <a:ext cx="2209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Enables </a:t>
            </a:r>
            <a:r>
              <a:rPr b="1"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better pattern discovery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4"/>
          <p:cNvSpPr/>
          <p:nvPr/>
        </p:nvSpPr>
        <p:spPr>
          <a:xfrm>
            <a:off x="619125" y="4595329"/>
            <a:ext cx="95250" cy="152400"/>
          </a:xfrm>
          <a:custGeom>
            <a:rect b="b" l="l" r="r" t="t"/>
            <a:pathLst>
              <a:path extrusionOk="0" h="152400" w="95250">
                <a:moveTo>
                  <a:pt x="92601" y="69473"/>
                </a:moveTo>
                <a:cubicBezTo>
                  <a:pt x="96322" y="73194"/>
                  <a:pt x="96322" y="79236"/>
                  <a:pt x="92601" y="82957"/>
                </a:cubicBezTo>
                <a:lnTo>
                  <a:pt x="35451" y="140107"/>
                </a:lnTo>
                <a:cubicBezTo>
                  <a:pt x="31730" y="143828"/>
                  <a:pt x="25688" y="143828"/>
                  <a:pt x="21967" y="140107"/>
                </a:cubicBezTo>
                <a:cubicBezTo>
                  <a:pt x="18246" y="136386"/>
                  <a:pt x="18246" y="130344"/>
                  <a:pt x="21967" y="126623"/>
                </a:cubicBezTo>
                <a:lnTo>
                  <a:pt x="72390" y="76200"/>
                </a:lnTo>
                <a:lnTo>
                  <a:pt x="21997" y="25777"/>
                </a:lnTo>
                <a:cubicBezTo>
                  <a:pt x="18276" y="22056"/>
                  <a:pt x="18276" y="16014"/>
                  <a:pt x="21997" y="12293"/>
                </a:cubicBezTo>
                <a:cubicBezTo>
                  <a:pt x="25718" y="8573"/>
                  <a:pt x="31760" y="8573"/>
                  <a:pt x="35481" y="12293"/>
                </a:cubicBezTo>
                <a:lnTo>
                  <a:pt x="92631" y="69443"/>
                </a:ln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4"/>
          <p:cNvSpPr/>
          <p:nvPr/>
        </p:nvSpPr>
        <p:spPr>
          <a:xfrm>
            <a:off x="838200" y="4557229"/>
            <a:ext cx="175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Facilitates </a:t>
            </a:r>
            <a:r>
              <a:rPr b="1"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rule generation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4"/>
          <p:cNvSpPr/>
          <p:nvPr/>
        </p:nvSpPr>
        <p:spPr>
          <a:xfrm>
            <a:off x="400050" y="5052529"/>
            <a:ext cx="5619750" cy="1143000"/>
          </a:xfrm>
          <a:custGeom>
            <a:rect b="b" l="l" r="r" t="t"/>
            <a:pathLst>
              <a:path extrusionOk="0" h="1143000" w="5619750">
                <a:moveTo>
                  <a:pt x="38100" y="0"/>
                </a:moveTo>
                <a:lnTo>
                  <a:pt x="5543546" y="0"/>
                </a:lnTo>
                <a:cubicBezTo>
                  <a:pt x="5585632" y="0"/>
                  <a:pt x="5619750" y="34118"/>
                  <a:pt x="5619750" y="76204"/>
                </a:cubicBezTo>
                <a:lnTo>
                  <a:pt x="5619750" y="1066796"/>
                </a:lnTo>
                <a:cubicBezTo>
                  <a:pt x="5619750" y="1108882"/>
                  <a:pt x="5585632" y="1143000"/>
                  <a:pt x="554354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>
            <a:gsLst>
              <a:gs pos="0">
                <a:srgbClr val="F6AD5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4"/>
          <p:cNvSpPr/>
          <p:nvPr/>
        </p:nvSpPr>
        <p:spPr>
          <a:xfrm>
            <a:off x="400050" y="5052529"/>
            <a:ext cx="38100" cy="1143000"/>
          </a:xfrm>
          <a:custGeom>
            <a:rect b="b" l="l" r="r" t="t"/>
            <a:pathLst>
              <a:path extrusionOk="0" h="1143000" w="381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4"/>
          <p:cNvSpPr/>
          <p:nvPr/>
        </p:nvSpPr>
        <p:spPr>
          <a:xfrm>
            <a:off x="571500" y="5204929"/>
            <a:ext cx="5381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Common Applications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4"/>
          <p:cNvSpPr/>
          <p:nvPr/>
        </p:nvSpPr>
        <p:spPr>
          <a:xfrm>
            <a:off x="571500" y="5547829"/>
            <a:ext cx="5372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Age groups, income brackets, score ranges, temperature intervals, and any continuous variable that can be categorized.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4"/>
          <p:cNvSpPr/>
          <p:nvPr/>
        </p:nvSpPr>
        <p:spPr>
          <a:xfrm>
            <a:off x="6179820" y="1264920"/>
            <a:ext cx="5625465" cy="5120640"/>
          </a:xfrm>
          <a:custGeom>
            <a:rect b="b" l="l" r="r" t="t"/>
            <a:pathLst>
              <a:path extrusionOk="0" h="5120640" w="5625465">
                <a:moveTo>
                  <a:pt x="114293" y="0"/>
                </a:moveTo>
                <a:lnTo>
                  <a:pt x="5511172" y="0"/>
                </a:lnTo>
                <a:cubicBezTo>
                  <a:pt x="5574294" y="0"/>
                  <a:pt x="5625465" y="51171"/>
                  <a:pt x="5625465" y="114293"/>
                </a:cubicBezTo>
                <a:lnTo>
                  <a:pt x="5625465" y="5006347"/>
                </a:lnTo>
                <a:cubicBezTo>
                  <a:pt x="5625465" y="5069469"/>
                  <a:pt x="5574294" y="5120640"/>
                  <a:pt x="5511172" y="5120640"/>
                </a:cubicBezTo>
                <a:lnTo>
                  <a:pt x="114293" y="5120640"/>
                </a:lnTo>
                <a:cubicBezTo>
                  <a:pt x="51171" y="5120640"/>
                  <a:pt x="0" y="5069469"/>
                  <a:pt x="0" y="500634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D3748"/>
          </a:solidFill>
          <a:ln cap="flat" cmpd="sng" w="203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4"/>
          <p:cNvSpPr/>
          <p:nvPr/>
        </p:nvSpPr>
        <p:spPr>
          <a:xfrm>
            <a:off x="6292215" y="1424936"/>
            <a:ext cx="5400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Discretization Example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4"/>
          <p:cNvSpPr/>
          <p:nvPr/>
        </p:nvSpPr>
        <p:spPr>
          <a:xfrm>
            <a:off x="6339840" y="1805936"/>
            <a:ext cx="5305425" cy="800100"/>
          </a:xfrm>
          <a:custGeom>
            <a:rect b="b" l="l" r="r" t="t"/>
            <a:pathLst>
              <a:path extrusionOk="0" h="800100" w="5305425">
                <a:moveTo>
                  <a:pt x="76202" y="0"/>
                </a:moveTo>
                <a:lnTo>
                  <a:pt x="5229223" y="0"/>
                </a:lnTo>
                <a:cubicBezTo>
                  <a:pt x="5271308" y="0"/>
                  <a:pt x="5305425" y="34117"/>
                  <a:pt x="5305425" y="76202"/>
                </a:cubicBezTo>
                <a:lnTo>
                  <a:pt x="5305425" y="723898"/>
                </a:lnTo>
                <a:cubicBezTo>
                  <a:pt x="5305425" y="765983"/>
                  <a:pt x="5271308" y="800100"/>
                  <a:pt x="522922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4"/>
          <p:cNvSpPr/>
          <p:nvPr/>
        </p:nvSpPr>
        <p:spPr>
          <a:xfrm>
            <a:off x="6454140" y="1920236"/>
            <a:ext cx="5153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Original Continuous Data: Age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4"/>
          <p:cNvSpPr/>
          <p:nvPr/>
        </p:nvSpPr>
        <p:spPr>
          <a:xfrm>
            <a:off x="6454140" y="2225036"/>
            <a:ext cx="5076825" cy="266700"/>
          </a:xfrm>
          <a:custGeom>
            <a:rect b="b" l="l" r="r" t="t"/>
            <a:pathLst>
              <a:path extrusionOk="0" h="266700" w="5076825">
                <a:moveTo>
                  <a:pt x="38101" y="0"/>
                </a:moveTo>
                <a:lnTo>
                  <a:pt x="5038724" y="0"/>
                </a:lnTo>
                <a:cubicBezTo>
                  <a:pt x="5059767" y="0"/>
                  <a:pt x="5076825" y="17058"/>
                  <a:pt x="5076825" y="38101"/>
                </a:cubicBezTo>
                <a:lnTo>
                  <a:pt x="5076825" y="228599"/>
                </a:lnTo>
                <a:cubicBezTo>
                  <a:pt x="5076825" y="249642"/>
                  <a:pt x="5059767" y="266700"/>
                  <a:pt x="50387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4"/>
          <p:cNvSpPr/>
          <p:nvPr/>
        </p:nvSpPr>
        <p:spPr>
          <a:xfrm>
            <a:off x="6530340" y="2263136"/>
            <a:ext cx="485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Values: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4"/>
          <p:cNvSpPr/>
          <p:nvPr/>
        </p:nvSpPr>
        <p:spPr>
          <a:xfrm>
            <a:off x="9517856" y="2263136"/>
            <a:ext cx="200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25, 34, 47, 52, 18, 63, 29, 41, 55, 38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4"/>
          <p:cNvSpPr/>
          <p:nvPr/>
        </p:nvSpPr>
        <p:spPr>
          <a:xfrm>
            <a:off x="6268403" y="2720336"/>
            <a:ext cx="5448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↓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4"/>
          <p:cNvSpPr/>
          <p:nvPr/>
        </p:nvSpPr>
        <p:spPr>
          <a:xfrm>
            <a:off x="6339840" y="3177536"/>
            <a:ext cx="5305425" cy="1752600"/>
          </a:xfrm>
          <a:custGeom>
            <a:rect b="b" l="l" r="r" t="t"/>
            <a:pathLst>
              <a:path extrusionOk="0" h="1752600" w="5305425">
                <a:moveTo>
                  <a:pt x="76203" y="0"/>
                </a:moveTo>
                <a:lnTo>
                  <a:pt x="5229222" y="0"/>
                </a:lnTo>
                <a:cubicBezTo>
                  <a:pt x="5271308" y="0"/>
                  <a:pt x="5305425" y="34117"/>
                  <a:pt x="5305425" y="76203"/>
                </a:cubicBezTo>
                <a:lnTo>
                  <a:pt x="5305425" y="1676397"/>
                </a:lnTo>
                <a:cubicBezTo>
                  <a:pt x="5305425" y="1718483"/>
                  <a:pt x="5271308" y="1752600"/>
                  <a:pt x="5229222" y="1752600"/>
                </a:cubicBezTo>
                <a:lnTo>
                  <a:pt x="76203" y="1752600"/>
                </a:lnTo>
                <a:cubicBezTo>
                  <a:pt x="34117" y="1752600"/>
                  <a:pt x="0" y="1718483"/>
                  <a:pt x="0" y="16763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4"/>
          <p:cNvSpPr/>
          <p:nvPr/>
        </p:nvSpPr>
        <p:spPr>
          <a:xfrm>
            <a:off x="6454140" y="3291836"/>
            <a:ext cx="5153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After Discretization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4"/>
          <p:cNvSpPr/>
          <p:nvPr/>
        </p:nvSpPr>
        <p:spPr>
          <a:xfrm>
            <a:off x="6454140" y="3634736"/>
            <a:ext cx="5076825" cy="342900"/>
          </a:xfrm>
          <a:custGeom>
            <a:rect b="b" l="l" r="r" t="t"/>
            <a:pathLst>
              <a:path extrusionOk="0" h="342900" w="5076825">
                <a:moveTo>
                  <a:pt x="38100" y="0"/>
                </a:moveTo>
                <a:lnTo>
                  <a:pt x="5038725" y="0"/>
                </a:lnTo>
                <a:cubicBezTo>
                  <a:pt x="5059767" y="0"/>
                  <a:pt x="5076825" y="17058"/>
                  <a:pt x="5076825" y="38100"/>
                </a:cubicBezTo>
                <a:lnTo>
                  <a:pt x="5076825" y="304800"/>
                </a:lnTo>
                <a:cubicBezTo>
                  <a:pt x="5076825" y="325842"/>
                  <a:pt x="5059767" y="342900"/>
                  <a:pt x="50387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4"/>
          <p:cNvSpPr/>
          <p:nvPr/>
        </p:nvSpPr>
        <p:spPr>
          <a:xfrm>
            <a:off x="6530340" y="3710936"/>
            <a:ext cx="876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1-25 → Young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4"/>
          <p:cNvSpPr/>
          <p:nvPr/>
        </p:nvSpPr>
        <p:spPr>
          <a:xfrm>
            <a:off x="10213063" y="3767965"/>
            <a:ext cx="762000" cy="76200"/>
          </a:xfrm>
          <a:custGeom>
            <a:rect b="b" l="l" r="r" t="t"/>
            <a:pathLst>
              <a:path extrusionOk="0" h="76200" w="762000">
                <a:moveTo>
                  <a:pt x="38100" y="0"/>
                </a:moveTo>
                <a:lnTo>
                  <a:pt x="723900" y="0"/>
                </a:lnTo>
                <a:cubicBezTo>
                  <a:pt x="744928" y="0"/>
                  <a:pt x="762000" y="17072"/>
                  <a:pt x="762000" y="38100"/>
                </a:cubicBezTo>
                <a:lnTo>
                  <a:pt x="762000" y="38100"/>
                </a:lnTo>
                <a:cubicBezTo>
                  <a:pt x="762000" y="59128"/>
                  <a:pt x="744928" y="76200"/>
                  <a:pt x="723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4"/>
          <p:cNvSpPr/>
          <p:nvPr/>
        </p:nvSpPr>
        <p:spPr>
          <a:xfrm>
            <a:off x="10213063" y="3767965"/>
            <a:ext cx="228600" cy="76200"/>
          </a:xfrm>
          <a:custGeom>
            <a:rect b="b" l="l" r="r" t="t"/>
            <a:pathLst>
              <a:path extrusionOk="0" h="76200" w="228600">
                <a:moveTo>
                  <a:pt x="0" y="0"/>
                </a:moveTo>
                <a:lnTo>
                  <a:pt x="228600" y="0"/>
                </a:lnTo>
                <a:lnTo>
                  <a:pt x="228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>
            <a:noFill/>
          </a:ln>
        </p:spPr>
      </p:sp>
      <p:sp>
        <p:nvSpPr>
          <p:cNvPr id="693" name="Google Shape;693;p14"/>
          <p:cNvSpPr/>
          <p:nvPr/>
        </p:nvSpPr>
        <p:spPr>
          <a:xfrm>
            <a:off x="11051263" y="3729986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values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4"/>
          <p:cNvSpPr/>
          <p:nvPr/>
        </p:nvSpPr>
        <p:spPr>
          <a:xfrm>
            <a:off x="6454140" y="4053836"/>
            <a:ext cx="5076825" cy="342900"/>
          </a:xfrm>
          <a:custGeom>
            <a:rect b="b" l="l" r="r" t="t"/>
            <a:pathLst>
              <a:path extrusionOk="0" h="342900" w="5076825">
                <a:moveTo>
                  <a:pt x="38100" y="0"/>
                </a:moveTo>
                <a:lnTo>
                  <a:pt x="5038725" y="0"/>
                </a:lnTo>
                <a:cubicBezTo>
                  <a:pt x="5059767" y="0"/>
                  <a:pt x="5076825" y="17058"/>
                  <a:pt x="5076825" y="38100"/>
                </a:cubicBezTo>
                <a:lnTo>
                  <a:pt x="5076825" y="304800"/>
                </a:lnTo>
                <a:cubicBezTo>
                  <a:pt x="5076825" y="325842"/>
                  <a:pt x="5059767" y="342900"/>
                  <a:pt x="50387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4"/>
          <p:cNvSpPr/>
          <p:nvPr/>
        </p:nvSpPr>
        <p:spPr>
          <a:xfrm>
            <a:off x="6530340" y="4130036"/>
            <a:ext cx="1276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26-45 → Middle-age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4"/>
          <p:cNvSpPr/>
          <p:nvPr/>
        </p:nvSpPr>
        <p:spPr>
          <a:xfrm>
            <a:off x="10209729" y="4187065"/>
            <a:ext cx="762000" cy="76200"/>
          </a:xfrm>
          <a:custGeom>
            <a:rect b="b" l="l" r="r" t="t"/>
            <a:pathLst>
              <a:path extrusionOk="0" h="76200" w="762000">
                <a:moveTo>
                  <a:pt x="38100" y="0"/>
                </a:moveTo>
                <a:lnTo>
                  <a:pt x="723900" y="0"/>
                </a:lnTo>
                <a:cubicBezTo>
                  <a:pt x="744928" y="0"/>
                  <a:pt x="762000" y="17072"/>
                  <a:pt x="762000" y="38100"/>
                </a:cubicBezTo>
                <a:lnTo>
                  <a:pt x="762000" y="38100"/>
                </a:lnTo>
                <a:cubicBezTo>
                  <a:pt x="762000" y="59128"/>
                  <a:pt x="744928" y="76200"/>
                  <a:pt x="723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4"/>
          <p:cNvSpPr/>
          <p:nvPr/>
        </p:nvSpPr>
        <p:spPr>
          <a:xfrm>
            <a:off x="10209729" y="4187065"/>
            <a:ext cx="381000" cy="76200"/>
          </a:xfrm>
          <a:custGeom>
            <a:rect b="b" l="l" r="r" t="t"/>
            <a:pathLst>
              <a:path extrusionOk="0" h="76200" w="381000">
                <a:moveTo>
                  <a:pt x="0" y="0"/>
                </a:moveTo>
                <a:lnTo>
                  <a:pt x="381000" y="0"/>
                </a:lnTo>
                <a:lnTo>
                  <a:pt x="381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</p:sp>
      <p:sp>
        <p:nvSpPr>
          <p:cNvPr id="698" name="Google Shape;698;p14"/>
          <p:cNvSpPr/>
          <p:nvPr/>
        </p:nvSpPr>
        <p:spPr>
          <a:xfrm>
            <a:off x="11047929" y="4149086"/>
            <a:ext cx="4667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values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4"/>
          <p:cNvSpPr/>
          <p:nvPr/>
        </p:nvSpPr>
        <p:spPr>
          <a:xfrm>
            <a:off x="6454140" y="4472936"/>
            <a:ext cx="5076825" cy="342900"/>
          </a:xfrm>
          <a:custGeom>
            <a:rect b="b" l="l" r="r" t="t"/>
            <a:pathLst>
              <a:path extrusionOk="0" h="342900" w="5076825">
                <a:moveTo>
                  <a:pt x="38100" y="0"/>
                </a:moveTo>
                <a:lnTo>
                  <a:pt x="5038725" y="0"/>
                </a:lnTo>
                <a:cubicBezTo>
                  <a:pt x="5059767" y="0"/>
                  <a:pt x="5076825" y="17058"/>
                  <a:pt x="5076825" y="38100"/>
                </a:cubicBezTo>
                <a:lnTo>
                  <a:pt x="5076825" y="304800"/>
                </a:lnTo>
                <a:cubicBezTo>
                  <a:pt x="5076825" y="325842"/>
                  <a:pt x="5059767" y="342900"/>
                  <a:pt x="50387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4"/>
          <p:cNvSpPr/>
          <p:nvPr/>
        </p:nvSpPr>
        <p:spPr>
          <a:xfrm>
            <a:off x="6530340" y="4549136"/>
            <a:ext cx="838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46+ → Senior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4"/>
          <p:cNvSpPr/>
          <p:nvPr/>
        </p:nvSpPr>
        <p:spPr>
          <a:xfrm>
            <a:off x="10210086" y="4606165"/>
            <a:ext cx="762000" cy="76200"/>
          </a:xfrm>
          <a:custGeom>
            <a:rect b="b" l="l" r="r" t="t"/>
            <a:pathLst>
              <a:path extrusionOk="0" h="76200" w="762000">
                <a:moveTo>
                  <a:pt x="38100" y="0"/>
                </a:moveTo>
                <a:lnTo>
                  <a:pt x="723900" y="0"/>
                </a:lnTo>
                <a:cubicBezTo>
                  <a:pt x="744928" y="0"/>
                  <a:pt x="762000" y="17072"/>
                  <a:pt x="762000" y="38100"/>
                </a:cubicBezTo>
                <a:lnTo>
                  <a:pt x="762000" y="38100"/>
                </a:lnTo>
                <a:cubicBezTo>
                  <a:pt x="762000" y="59128"/>
                  <a:pt x="744928" y="76200"/>
                  <a:pt x="7239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4"/>
          <p:cNvSpPr/>
          <p:nvPr/>
        </p:nvSpPr>
        <p:spPr>
          <a:xfrm>
            <a:off x="10210086" y="4606165"/>
            <a:ext cx="152400" cy="76200"/>
          </a:xfrm>
          <a:custGeom>
            <a:rect b="b" l="l" r="r" t="t"/>
            <a:pathLst>
              <a:path extrusionOk="0" h="76200" w="152400">
                <a:moveTo>
                  <a:pt x="0" y="0"/>
                </a:moveTo>
                <a:lnTo>
                  <a:pt x="152400" y="0"/>
                </a:lnTo>
                <a:lnTo>
                  <a:pt x="152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FD1C5"/>
          </a:solidFill>
          <a:ln>
            <a:noFill/>
          </a:ln>
        </p:spPr>
      </p:sp>
      <p:sp>
        <p:nvSpPr>
          <p:cNvPr id="703" name="Google Shape;703;p14"/>
          <p:cNvSpPr/>
          <p:nvPr/>
        </p:nvSpPr>
        <p:spPr>
          <a:xfrm>
            <a:off x="11048286" y="4568186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values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4"/>
          <p:cNvSpPr/>
          <p:nvPr/>
        </p:nvSpPr>
        <p:spPr>
          <a:xfrm>
            <a:off x="6339840" y="5044436"/>
            <a:ext cx="5305425" cy="1181100"/>
          </a:xfrm>
          <a:custGeom>
            <a:rect b="b" l="l" r="r" t="t"/>
            <a:pathLst>
              <a:path extrusionOk="0" h="1181100" w="5305425">
                <a:moveTo>
                  <a:pt x="76205" y="0"/>
                </a:moveTo>
                <a:lnTo>
                  <a:pt x="5229220" y="0"/>
                </a:lnTo>
                <a:cubicBezTo>
                  <a:pt x="5271279" y="0"/>
                  <a:pt x="5305425" y="34146"/>
                  <a:pt x="5305425" y="76205"/>
                </a:cubicBezTo>
                <a:lnTo>
                  <a:pt x="5305425" y="1104895"/>
                </a:lnTo>
                <a:cubicBezTo>
                  <a:pt x="5305425" y="1146982"/>
                  <a:pt x="5271307" y="1181100"/>
                  <a:pt x="5229220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9803"/>
                </a:srgbClr>
              </a:gs>
              <a:gs pos="100000">
                <a:srgbClr val="F6AD55">
                  <a:alpha val="980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4"/>
          <p:cNvSpPr/>
          <p:nvPr/>
        </p:nvSpPr>
        <p:spPr>
          <a:xfrm>
            <a:off x="6416040" y="5158736"/>
            <a:ext cx="5153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Binning Strategy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4"/>
          <p:cNvSpPr/>
          <p:nvPr/>
        </p:nvSpPr>
        <p:spPr>
          <a:xfrm>
            <a:off x="7513320" y="5471156"/>
            <a:ext cx="748665" cy="367665"/>
          </a:xfrm>
          <a:custGeom>
            <a:rect b="b" l="l" r="r" t="t"/>
            <a:pathLst>
              <a:path extrusionOk="0" h="367665" w="748665">
                <a:moveTo>
                  <a:pt x="38101" y="0"/>
                </a:moveTo>
                <a:lnTo>
                  <a:pt x="710564" y="0"/>
                </a:lnTo>
                <a:cubicBezTo>
                  <a:pt x="731607" y="0"/>
                  <a:pt x="748665" y="17058"/>
                  <a:pt x="748665" y="38101"/>
                </a:cubicBezTo>
                <a:lnTo>
                  <a:pt x="748665" y="329564"/>
                </a:lnTo>
                <a:cubicBezTo>
                  <a:pt x="748665" y="350607"/>
                  <a:pt x="731607" y="367665"/>
                  <a:pt x="710564" y="367665"/>
                </a:cubicBezTo>
                <a:lnTo>
                  <a:pt x="38101" y="367665"/>
                </a:lnTo>
                <a:cubicBezTo>
                  <a:pt x="17058" y="367665"/>
                  <a:pt x="0" y="350607"/>
                  <a:pt x="0" y="32956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4FD1C5">
              <a:alpha val="29803"/>
            </a:srgbClr>
          </a:solidFill>
          <a:ln cap="flat" cmpd="sng" w="203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4"/>
          <p:cNvSpPr/>
          <p:nvPr/>
        </p:nvSpPr>
        <p:spPr>
          <a:xfrm>
            <a:off x="7727156" y="5558786"/>
            <a:ext cx="323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 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4"/>
          <p:cNvSpPr/>
          <p:nvPr/>
        </p:nvSpPr>
        <p:spPr>
          <a:xfrm>
            <a:off x="7752398" y="5943600"/>
            <a:ext cx="268605" cy="129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1-25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4"/>
          <p:cNvSpPr/>
          <p:nvPr/>
        </p:nvSpPr>
        <p:spPr>
          <a:xfrm>
            <a:off x="8343900" y="5654036"/>
            <a:ext cx="285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4"/>
          <p:cNvSpPr/>
          <p:nvPr/>
        </p:nvSpPr>
        <p:spPr>
          <a:xfrm>
            <a:off x="8618220" y="5471156"/>
            <a:ext cx="748665" cy="367665"/>
          </a:xfrm>
          <a:custGeom>
            <a:rect b="b" l="l" r="r" t="t"/>
            <a:pathLst>
              <a:path extrusionOk="0" h="367665" w="748665">
                <a:moveTo>
                  <a:pt x="38101" y="0"/>
                </a:moveTo>
                <a:lnTo>
                  <a:pt x="710564" y="0"/>
                </a:lnTo>
                <a:cubicBezTo>
                  <a:pt x="731607" y="0"/>
                  <a:pt x="748665" y="17058"/>
                  <a:pt x="748665" y="38101"/>
                </a:cubicBezTo>
                <a:lnTo>
                  <a:pt x="748665" y="329564"/>
                </a:lnTo>
                <a:cubicBezTo>
                  <a:pt x="748665" y="350607"/>
                  <a:pt x="731607" y="367665"/>
                  <a:pt x="710564" y="367665"/>
                </a:cubicBezTo>
                <a:lnTo>
                  <a:pt x="38101" y="367665"/>
                </a:lnTo>
                <a:cubicBezTo>
                  <a:pt x="17058" y="367665"/>
                  <a:pt x="0" y="350607"/>
                  <a:pt x="0" y="32956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6AD55">
              <a:alpha val="29803"/>
            </a:srgbClr>
          </a:solidFill>
          <a:ln cap="flat" cmpd="sng" w="203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4"/>
          <p:cNvSpPr/>
          <p:nvPr/>
        </p:nvSpPr>
        <p:spPr>
          <a:xfrm>
            <a:off x="8819198" y="5558786"/>
            <a:ext cx="342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 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4"/>
          <p:cNvSpPr/>
          <p:nvPr/>
        </p:nvSpPr>
        <p:spPr>
          <a:xfrm>
            <a:off x="8814792" y="5943600"/>
            <a:ext cx="353497" cy="129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26-45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4"/>
          <p:cNvSpPr/>
          <p:nvPr/>
        </p:nvSpPr>
        <p:spPr>
          <a:xfrm>
            <a:off x="9448800" y="5654036"/>
            <a:ext cx="285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4"/>
          <p:cNvSpPr/>
          <p:nvPr/>
        </p:nvSpPr>
        <p:spPr>
          <a:xfrm>
            <a:off x="9723120" y="5471156"/>
            <a:ext cx="748665" cy="367665"/>
          </a:xfrm>
          <a:custGeom>
            <a:rect b="b" l="l" r="r" t="t"/>
            <a:pathLst>
              <a:path extrusionOk="0" h="367665" w="748665">
                <a:moveTo>
                  <a:pt x="38101" y="0"/>
                </a:moveTo>
                <a:lnTo>
                  <a:pt x="710564" y="0"/>
                </a:lnTo>
                <a:cubicBezTo>
                  <a:pt x="731607" y="0"/>
                  <a:pt x="748665" y="17058"/>
                  <a:pt x="748665" y="38101"/>
                </a:cubicBezTo>
                <a:lnTo>
                  <a:pt x="748665" y="329564"/>
                </a:lnTo>
                <a:cubicBezTo>
                  <a:pt x="748665" y="350607"/>
                  <a:pt x="731607" y="367665"/>
                  <a:pt x="710564" y="367665"/>
                </a:cubicBezTo>
                <a:lnTo>
                  <a:pt x="38101" y="367665"/>
                </a:lnTo>
                <a:cubicBezTo>
                  <a:pt x="17058" y="367665"/>
                  <a:pt x="0" y="350607"/>
                  <a:pt x="0" y="329564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4FD1C5">
              <a:alpha val="29803"/>
            </a:srgbClr>
          </a:solidFill>
          <a:ln cap="flat" cmpd="sng" w="203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4"/>
          <p:cNvSpPr/>
          <p:nvPr/>
        </p:nvSpPr>
        <p:spPr>
          <a:xfrm>
            <a:off x="9922430" y="5558786"/>
            <a:ext cx="3524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Bin 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4"/>
          <p:cNvSpPr/>
          <p:nvPr/>
        </p:nvSpPr>
        <p:spPr>
          <a:xfrm>
            <a:off x="9978985" y="5943600"/>
            <a:ext cx="235029" cy="129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46+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7" name="Google Shape;71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8906" y="105968"/>
            <a:ext cx="1502714" cy="56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5"/>
          <p:cNvSpPr/>
          <p:nvPr/>
        </p:nvSpPr>
        <p:spPr>
          <a:xfrm>
            <a:off x="349091" y="436364"/>
            <a:ext cx="488727" cy="488727"/>
          </a:xfrm>
          <a:custGeom>
            <a:rect b="b" l="l" r="r" t="t"/>
            <a:pathLst>
              <a:path extrusionOk="0" h="488727" w="488727">
                <a:moveTo>
                  <a:pt x="104729" y="0"/>
                </a:moveTo>
                <a:lnTo>
                  <a:pt x="383998" y="0"/>
                </a:lnTo>
                <a:cubicBezTo>
                  <a:pt x="441838" y="0"/>
                  <a:pt x="488727" y="46889"/>
                  <a:pt x="488727" y="104729"/>
                </a:cubicBezTo>
                <a:lnTo>
                  <a:pt x="488727" y="383998"/>
                </a:lnTo>
                <a:cubicBezTo>
                  <a:pt x="488727" y="441838"/>
                  <a:pt x="441838" y="488727"/>
                  <a:pt x="383998" y="488727"/>
                </a:cubicBezTo>
                <a:lnTo>
                  <a:pt x="104729" y="488727"/>
                </a:lnTo>
                <a:cubicBezTo>
                  <a:pt x="46889" y="488727"/>
                  <a:pt x="0" y="441838"/>
                  <a:pt x="0" y="383998"/>
                </a:cubicBezTo>
                <a:lnTo>
                  <a:pt x="0" y="104729"/>
                </a:lnTo>
                <a:cubicBezTo>
                  <a:pt x="0" y="46928"/>
                  <a:pt x="46928" y="0"/>
                  <a:pt x="104729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5"/>
          <p:cNvSpPr/>
          <p:nvPr/>
        </p:nvSpPr>
        <p:spPr>
          <a:xfrm>
            <a:off x="488727" y="576000"/>
            <a:ext cx="209455" cy="209455"/>
          </a:xfrm>
          <a:custGeom>
            <a:rect b="b" l="l" r="r" t="t"/>
            <a:pathLst>
              <a:path extrusionOk="0" h="209455" w="209455">
                <a:moveTo>
                  <a:pt x="179795" y="2864"/>
                </a:moveTo>
                <a:cubicBezTo>
                  <a:pt x="183641" y="-982"/>
                  <a:pt x="189859" y="-982"/>
                  <a:pt x="193664" y="2864"/>
                </a:cubicBezTo>
                <a:lnTo>
                  <a:pt x="206755" y="15955"/>
                </a:lnTo>
                <a:cubicBezTo>
                  <a:pt x="210600" y="19800"/>
                  <a:pt x="210600" y="26018"/>
                  <a:pt x="206755" y="29823"/>
                </a:cubicBezTo>
                <a:lnTo>
                  <a:pt x="171164" y="65414"/>
                </a:lnTo>
                <a:lnTo>
                  <a:pt x="187118" y="81368"/>
                </a:lnTo>
                <a:cubicBezTo>
                  <a:pt x="189941" y="84191"/>
                  <a:pt x="190759" y="88405"/>
                  <a:pt x="189245" y="92086"/>
                </a:cubicBezTo>
                <a:cubicBezTo>
                  <a:pt x="187732" y="95768"/>
                  <a:pt x="184173" y="98182"/>
                  <a:pt x="180205" y="98182"/>
                </a:cubicBezTo>
                <a:lnTo>
                  <a:pt x="121295" y="98182"/>
                </a:lnTo>
                <a:cubicBezTo>
                  <a:pt x="115855" y="98182"/>
                  <a:pt x="111477" y="93805"/>
                  <a:pt x="111477" y="88364"/>
                </a:cubicBezTo>
                <a:lnTo>
                  <a:pt x="111477" y="29455"/>
                </a:lnTo>
                <a:cubicBezTo>
                  <a:pt x="111477" y="25486"/>
                  <a:pt x="113850" y="21886"/>
                  <a:pt x="117532" y="20373"/>
                </a:cubicBezTo>
                <a:cubicBezTo>
                  <a:pt x="121214" y="18859"/>
                  <a:pt x="125427" y="19677"/>
                  <a:pt x="128250" y="22500"/>
                </a:cubicBezTo>
                <a:lnTo>
                  <a:pt x="144205" y="38455"/>
                </a:lnTo>
                <a:lnTo>
                  <a:pt x="179795" y="2864"/>
                </a:lnTo>
                <a:close/>
                <a:moveTo>
                  <a:pt x="29659" y="111273"/>
                </a:moveTo>
                <a:lnTo>
                  <a:pt x="88568" y="111273"/>
                </a:lnTo>
                <a:cubicBezTo>
                  <a:pt x="94009" y="111273"/>
                  <a:pt x="98386" y="115650"/>
                  <a:pt x="98386" y="121091"/>
                </a:cubicBezTo>
                <a:lnTo>
                  <a:pt x="98386" y="180000"/>
                </a:lnTo>
                <a:cubicBezTo>
                  <a:pt x="98386" y="183968"/>
                  <a:pt x="96014" y="187568"/>
                  <a:pt x="92332" y="189082"/>
                </a:cubicBezTo>
                <a:cubicBezTo>
                  <a:pt x="88650" y="190595"/>
                  <a:pt x="84436" y="189777"/>
                  <a:pt x="81614" y="186955"/>
                </a:cubicBezTo>
                <a:lnTo>
                  <a:pt x="65659" y="171000"/>
                </a:lnTo>
                <a:lnTo>
                  <a:pt x="30068" y="206591"/>
                </a:lnTo>
                <a:cubicBezTo>
                  <a:pt x="26223" y="210436"/>
                  <a:pt x="20005" y="210436"/>
                  <a:pt x="16200" y="206591"/>
                </a:cubicBezTo>
                <a:lnTo>
                  <a:pt x="3109" y="193500"/>
                </a:lnTo>
                <a:cubicBezTo>
                  <a:pt x="-736" y="189655"/>
                  <a:pt x="-736" y="183436"/>
                  <a:pt x="3109" y="179632"/>
                </a:cubicBezTo>
                <a:lnTo>
                  <a:pt x="38700" y="144041"/>
                </a:lnTo>
                <a:lnTo>
                  <a:pt x="22745" y="128086"/>
                </a:lnTo>
                <a:cubicBezTo>
                  <a:pt x="19923" y="125264"/>
                  <a:pt x="19105" y="121050"/>
                  <a:pt x="20618" y="117368"/>
                </a:cubicBezTo>
                <a:cubicBezTo>
                  <a:pt x="22132" y="113686"/>
                  <a:pt x="25691" y="111273"/>
                  <a:pt x="29659" y="111273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5"/>
          <p:cNvSpPr/>
          <p:nvPr/>
        </p:nvSpPr>
        <p:spPr>
          <a:xfrm>
            <a:off x="977455" y="349091"/>
            <a:ext cx="5280000" cy="4189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99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Data Reduction Techniques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5"/>
          <p:cNvSpPr/>
          <p:nvPr/>
        </p:nvSpPr>
        <p:spPr>
          <a:xfrm>
            <a:off x="977455" y="768000"/>
            <a:ext cx="5157818" cy="244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74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Managing Volume and Complexity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15"/>
          <p:cNvSpPr/>
          <p:nvPr/>
        </p:nvSpPr>
        <p:spPr>
          <a:xfrm>
            <a:off x="356073" y="1158982"/>
            <a:ext cx="5660509" cy="1576145"/>
          </a:xfrm>
          <a:custGeom>
            <a:rect b="b" l="l" r="r" t="t"/>
            <a:pathLst>
              <a:path extrusionOk="0" h="1576145" w="5660509">
                <a:moveTo>
                  <a:pt x="104735" y="0"/>
                </a:moveTo>
                <a:lnTo>
                  <a:pt x="5555774" y="0"/>
                </a:lnTo>
                <a:cubicBezTo>
                  <a:pt x="5613618" y="0"/>
                  <a:pt x="5660509" y="46891"/>
                  <a:pt x="5660509" y="104735"/>
                </a:cubicBezTo>
                <a:lnTo>
                  <a:pt x="5660509" y="1471411"/>
                </a:lnTo>
                <a:cubicBezTo>
                  <a:pt x="5660509" y="1529254"/>
                  <a:pt x="5613618" y="1576145"/>
                  <a:pt x="5555774" y="1576145"/>
                </a:cubicBezTo>
                <a:lnTo>
                  <a:pt x="104735" y="1576145"/>
                </a:lnTo>
                <a:cubicBezTo>
                  <a:pt x="46891" y="1576145"/>
                  <a:pt x="0" y="1529254"/>
                  <a:pt x="0" y="1471411"/>
                </a:cubicBezTo>
                <a:lnTo>
                  <a:pt x="0" y="104735"/>
                </a:lnTo>
                <a:cubicBezTo>
                  <a:pt x="0" y="46930"/>
                  <a:pt x="46930" y="0"/>
                  <a:pt x="104735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20000"/>
                </a:srgbClr>
              </a:gs>
              <a:gs pos="100000">
                <a:srgbClr val="2D3748"/>
              </a:gs>
            </a:gsLst>
            <a:lin ang="2700000" scaled="0"/>
          </a:gradFill>
          <a:ln cap="flat" cmpd="sng" w="203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5"/>
          <p:cNvSpPr/>
          <p:nvPr/>
        </p:nvSpPr>
        <p:spPr>
          <a:xfrm>
            <a:off x="502691" y="1305597"/>
            <a:ext cx="5454545" cy="244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4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What is Data Reduction?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15"/>
          <p:cNvSpPr/>
          <p:nvPr/>
        </p:nvSpPr>
        <p:spPr>
          <a:xfrm>
            <a:off x="502691" y="1654687"/>
            <a:ext cx="5437091" cy="453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preprocessing technique to obtain a </a:t>
            </a:r>
            <a:r>
              <a:rPr b="1" lang="en-US" sz="1100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reduced representation of dataset</a:t>
            </a:r>
            <a:r>
              <a:rPr lang="en-US" sz="11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while producing the same analytical results.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15"/>
          <p:cNvSpPr/>
          <p:nvPr/>
        </p:nvSpPr>
        <p:spPr>
          <a:xfrm>
            <a:off x="502691" y="2213233"/>
            <a:ext cx="5367273" cy="375273"/>
          </a:xfrm>
          <a:custGeom>
            <a:rect b="b" l="l" r="r" t="t"/>
            <a:pathLst>
              <a:path extrusionOk="0" h="375273" w="5367273">
                <a:moveTo>
                  <a:pt x="69819" y="0"/>
                </a:moveTo>
                <a:lnTo>
                  <a:pt x="5297453" y="0"/>
                </a:lnTo>
                <a:cubicBezTo>
                  <a:pt x="5336013" y="0"/>
                  <a:pt x="5367273" y="31259"/>
                  <a:pt x="5367273" y="69819"/>
                </a:cubicBezTo>
                <a:lnTo>
                  <a:pt x="5367273" y="305453"/>
                </a:lnTo>
                <a:cubicBezTo>
                  <a:pt x="5367273" y="344013"/>
                  <a:pt x="5336013" y="375273"/>
                  <a:pt x="5297453" y="375273"/>
                </a:cubicBezTo>
                <a:lnTo>
                  <a:pt x="69819" y="375273"/>
                </a:lnTo>
                <a:cubicBezTo>
                  <a:pt x="31259" y="375273"/>
                  <a:pt x="0" y="344013"/>
                  <a:pt x="0" y="305453"/>
                </a:cubicBezTo>
                <a:lnTo>
                  <a:pt x="0" y="69819"/>
                </a:lnTo>
                <a:cubicBezTo>
                  <a:pt x="0" y="31259"/>
                  <a:pt x="31259" y="0"/>
                  <a:pt x="69819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5"/>
          <p:cNvSpPr/>
          <p:nvPr/>
        </p:nvSpPr>
        <p:spPr>
          <a:xfrm>
            <a:off x="607418" y="2317960"/>
            <a:ext cx="5218909" cy="165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2">
                <a:solidFill>
                  <a:srgbClr val="4FD1C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Goal:</a:t>
            </a:r>
            <a:r>
              <a:rPr lang="en-US" sz="962">
                <a:solidFill>
                  <a:srgbClr val="A0AEC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Increase storage efficiency and reduce costs while maintaining analytical accuracy.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5"/>
          <p:cNvSpPr/>
          <p:nvPr/>
        </p:nvSpPr>
        <p:spPr>
          <a:xfrm>
            <a:off x="356073" y="2855993"/>
            <a:ext cx="5660509" cy="2911418"/>
          </a:xfrm>
          <a:custGeom>
            <a:rect b="b" l="l" r="r" t="t"/>
            <a:pathLst>
              <a:path extrusionOk="0" h="2911418" w="5660509">
                <a:moveTo>
                  <a:pt x="104724" y="0"/>
                </a:moveTo>
                <a:lnTo>
                  <a:pt x="5555785" y="0"/>
                </a:lnTo>
                <a:cubicBezTo>
                  <a:pt x="5613623" y="0"/>
                  <a:pt x="5660509" y="46886"/>
                  <a:pt x="5660509" y="104724"/>
                </a:cubicBezTo>
                <a:lnTo>
                  <a:pt x="5660509" y="2806694"/>
                </a:lnTo>
                <a:cubicBezTo>
                  <a:pt x="5660509" y="2864532"/>
                  <a:pt x="5613623" y="2911418"/>
                  <a:pt x="5555785" y="2911418"/>
                </a:cubicBezTo>
                <a:lnTo>
                  <a:pt x="104724" y="2911418"/>
                </a:lnTo>
                <a:cubicBezTo>
                  <a:pt x="46886" y="2911418"/>
                  <a:pt x="0" y="2864532"/>
                  <a:pt x="0" y="2806694"/>
                </a:cubicBezTo>
                <a:lnTo>
                  <a:pt x="0" y="104724"/>
                </a:lnTo>
                <a:cubicBezTo>
                  <a:pt x="0" y="46925"/>
                  <a:pt x="46925" y="0"/>
                  <a:pt x="104724" y="0"/>
                </a:cubicBezTo>
                <a:close/>
              </a:path>
            </a:pathLst>
          </a:custGeom>
          <a:solidFill>
            <a:srgbClr val="2D3748"/>
          </a:solidFill>
          <a:ln cap="flat" cmpd="sng" w="20300">
            <a:solidFill>
              <a:srgbClr val="4FD1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5"/>
          <p:cNvSpPr/>
          <p:nvPr/>
        </p:nvSpPr>
        <p:spPr>
          <a:xfrm>
            <a:off x="502691" y="3002616"/>
            <a:ext cx="5454545" cy="244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4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Dimensionality Reduction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5"/>
          <p:cNvSpPr/>
          <p:nvPr/>
        </p:nvSpPr>
        <p:spPr>
          <a:xfrm>
            <a:off x="502691" y="3351707"/>
            <a:ext cx="5428364" cy="20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Reducing the number of attributes/features to combat the </a:t>
            </a:r>
            <a:r>
              <a:rPr b="1" lang="en-US" sz="962">
                <a:solidFill>
                  <a:srgbClr val="F6AD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curse of dimensionality</a:t>
            </a:r>
            <a:r>
              <a:rPr lang="en-US" sz="96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5"/>
          <p:cNvSpPr/>
          <p:nvPr/>
        </p:nvSpPr>
        <p:spPr>
          <a:xfrm>
            <a:off x="520145" y="3654980"/>
            <a:ext cx="5349818" cy="549818"/>
          </a:xfrm>
          <a:custGeom>
            <a:rect b="b" l="l" r="r" t="t"/>
            <a:pathLst>
              <a:path extrusionOk="0" h="549818" w="5349818">
                <a:moveTo>
                  <a:pt x="34909" y="0"/>
                </a:moveTo>
                <a:lnTo>
                  <a:pt x="5280002" y="0"/>
                </a:lnTo>
                <a:cubicBezTo>
                  <a:pt x="5318561" y="0"/>
                  <a:pt x="5349818" y="31258"/>
                  <a:pt x="5349818" y="69816"/>
                </a:cubicBezTo>
                <a:lnTo>
                  <a:pt x="5349818" y="480002"/>
                </a:lnTo>
                <a:cubicBezTo>
                  <a:pt x="5349818" y="518561"/>
                  <a:pt x="5318561" y="549818"/>
                  <a:pt x="5280002" y="549818"/>
                </a:cubicBezTo>
                <a:lnTo>
                  <a:pt x="34909" y="549818"/>
                </a:lnTo>
                <a:cubicBezTo>
                  <a:pt x="15629" y="549818"/>
                  <a:pt x="0" y="534189"/>
                  <a:pt x="0" y="514909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5"/>
          <p:cNvSpPr/>
          <p:nvPr/>
        </p:nvSpPr>
        <p:spPr>
          <a:xfrm>
            <a:off x="520145" y="3654980"/>
            <a:ext cx="34909" cy="549818"/>
          </a:xfrm>
          <a:custGeom>
            <a:rect b="b" l="l" r="r" t="t"/>
            <a:pathLst>
              <a:path extrusionOk="0" h="549818" w="34909">
                <a:moveTo>
                  <a:pt x="34909" y="0"/>
                </a:moveTo>
                <a:lnTo>
                  <a:pt x="34909" y="0"/>
                </a:lnTo>
                <a:lnTo>
                  <a:pt x="34909" y="549818"/>
                </a:lnTo>
                <a:lnTo>
                  <a:pt x="34909" y="549818"/>
                </a:lnTo>
                <a:cubicBezTo>
                  <a:pt x="15629" y="549818"/>
                  <a:pt x="0" y="534189"/>
                  <a:pt x="0" y="514909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5"/>
          <p:cNvSpPr/>
          <p:nvPr/>
        </p:nvSpPr>
        <p:spPr>
          <a:xfrm>
            <a:off x="607418" y="3724798"/>
            <a:ext cx="5262545" cy="209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Wavelet Transform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5"/>
          <p:cNvSpPr/>
          <p:nvPr/>
        </p:nvSpPr>
        <p:spPr>
          <a:xfrm>
            <a:off x="607418" y="3969162"/>
            <a:ext cx="5253818" cy="165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Lossy method for sparse/skewed data. Used in image compression and signal processing.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5"/>
          <p:cNvSpPr/>
          <p:nvPr/>
        </p:nvSpPr>
        <p:spPr>
          <a:xfrm>
            <a:off x="520145" y="4276798"/>
            <a:ext cx="5349818" cy="549818"/>
          </a:xfrm>
          <a:custGeom>
            <a:rect b="b" l="l" r="r" t="t"/>
            <a:pathLst>
              <a:path extrusionOk="0" h="549818" w="5349818">
                <a:moveTo>
                  <a:pt x="34909" y="0"/>
                </a:moveTo>
                <a:lnTo>
                  <a:pt x="5280002" y="0"/>
                </a:lnTo>
                <a:cubicBezTo>
                  <a:pt x="5318561" y="0"/>
                  <a:pt x="5349818" y="31258"/>
                  <a:pt x="5349818" y="69816"/>
                </a:cubicBezTo>
                <a:lnTo>
                  <a:pt x="5349818" y="480002"/>
                </a:lnTo>
                <a:cubicBezTo>
                  <a:pt x="5349818" y="518561"/>
                  <a:pt x="5318561" y="549818"/>
                  <a:pt x="5280002" y="549818"/>
                </a:cubicBezTo>
                <a:lnTo>
                  <a:pt x="34909" y="549818"/>
                </a:lnTo>
                <a:cubicBezTo>
                  <a:pt x="15629" y="549818"/>
                  <a:pt x="0" y="534189"/>
                  <a:pt x="0" y="514909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5"/>
          <p:cNvSpPr/>
          <p:nvPr/>
        </p:nvSpPr>
        <p:spPr>
          <a:xfrm>
            <a:off x="520145" y="4276798"/>
            <a:ext cx="34909" cy="549818"/>
          </a:xfrm>
          <a:custGeom>
            <a:rect b="b" l="l" r="r" t="t"/>
            <a:pathLst>
              <a:path extrusionOk="0" h="549818" w="34909">
                <a:moveTo>
                  <a:pt x="34909" y="0"/>
                </a:moveTo>
                <a:lnTo>
                  <a:pt x="34909" y="0"/>
                </a:lnTo>
                <a:lnTo>
                  <a:pt x="34909" y="549818"/>
                </a:lnTo>
                <a:lnTo>
                  <a:pt x="34909" y="549818"/>
                </a:lnTo>
                <a:cubicBezTo>
                  <a:pt x="15629" y="549818"/>
                  <a:pt x="0" y="534189"/>
                  <a:pt x="0" y="514909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5"/>
          <p:cNvSpPr/>
          <p:nvPr/>
        </p:nvSpPr>
        <p:spPr>
          <a:xfrm>
            <a:off x="607418" y="4346616"/>
            <a:ext cx="5262545" cy="209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Principal Component Analysis (PCA)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5"/>
          <p:cNvSpPr/>
          <p:nvPr/>
        </p:nvSpPr>
        <p:spPr>
          <a:xfrm>
            <a:off x="607418" y="4590980"/>
            <a:ext cx="5253818" cy="1658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Finds orthogonal vectors to represent data in fewer dimensions while preserving variance.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5"/>
          <p:cNvSpPr/>
          <p:nvPr/>
        </p:nvSpPr>
        <p:spPr>
          <a:xfrm>
            <a:off x="520145" y="4898616"/>
            <a:ext cx="5349818" cy="724364"/>
          </a:xfrm>
          <a:custGeom>
            <a:rect b="b" l="l" r="r" t="t"/>
            <a:pathLst>
              <a:path extrusionOk="0" h="724364" w="5349818">
                <a:moveTo>
                  <a:pt x="34909" y="0"/>
                </a:moveTo>
                <a:lnTo>
                  <a:pt x="5279997" y="0"/>
                </a:lnTo>
                <a:cubicBezTo>
                  <a:pt x="5318558" y="0"/>
                  <a:pt x="5349818" y="31260"/>
                  <a:pt x="5349818" y="69821"/>
                </a:cubicBezTo>
                <a:lnTo>
                  <a:pt x="5349818" y="654542"/>
                </a:lnTo>
                <a:cubicBezTo>
                  <a:pt x="5349818" y="693104"/>
                  <a:pt x="5318558" y="724364"/>
                  <a:pt x="5279997" y="724364"/>
                </a:cubicBezTo>
                <a:lnTo>
                  <a:pt x="34909" y="724364"/>
                </a:lnTo>
                <a:cubicBezTo>
                  <a:pt x="15629" y="724364"/>
                  <a:pt x="0" y="708734"/>
                  <a:pt x="0" y="689455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5"/>
          <p:cNvSpPr/>
          <p:nvPr/>
        </p:nvSpPr>
        <p:spPr>
          <a:xfrm>
            <a:off x="520145" y="4898616"/>
            <a:ext cx="34909" cy="724364"/>
          </a:xfrm>
          <a:custGeom>
            <a:rect b="b" l="l" r="r" t="t"/>
            <a:pathLst>
              <a:path extrusionOk="0" h="724364" w="34909">
                <a:moveTo>
                  <a:pt x="34909" y="0"/>
                </a:moveTo>
                <a:lnTo>
                  <a:pt x="34909" y="0"/>
                </a:lnTo>
                <a:lnTo>
                  <a:pt x="34909" y="724364"/>
                </a:lnTo>
                <a:lnTo>
                  <a:pt x="34909" y="724364"/>
                </a:lnTo>
                <a:cubicBezTo>
                  <a:pt x="15629" y="724364"/>
                  <a:pt x="0" y="708734"/>
                  <a:pt x="0" y="689455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5"/>
          <p:cNvSpPr/>
          <p:nvPr/>
        </p:nvSpPr>
        <p:spPr>
          <a:xfrm>
            <a:off x="607418" y="4968435"/>
            <a:ext cx="5262545" cy="209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Attribute Subset Selection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5"/>
          <p:cNvSpPr/>
          <p:nvPr/>
        </p:nvSpPr>
        <p:spPr>
          <a:xfrm>
            <a:off x="607418" y="5212798"/>
            <a:ext cx="5253818" cy="340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Remove irrelevant/redundant attributes using forward selection, backward elimination, or decision trees.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5"/>
          <p:cNvSpPr/>
          <p:nvPr/>
        </p:nvSpPr>
        <p:spPr>
          <a:xfrm>
            <a:off x="6174219" y="1158982"/>
            <a:ext cx="5660509" cy="1907782"/>
          </a:xfrm>
          <a:custGeom>
            <a:rect b="b" l="l" r="r" t="t"/>
            <a:pathLst>
              <a:path extrusionOk="0" h="1907782" w="5660509">
                <a:moveTo>
                  <a:pt x="104718" y="0"/>
                </a:moveTo>
                <a:lnTo>
                  <a:pt x="5555791" y="0"/>
                </a:lnTo>
                <a:cubicBezTo>
                  <a:pt x="5613625" y="0"/>
                  <a:pt x="5660509" y="46884"/>
                  <a:pt x="5660509" y="104718"/>
                </a:cubicBezTo>
                <a:lnTo>
                  <a:pt x="5660509" y="1803064"/>
                </a:lnTo>
                <a:cubicBezTo>
                  <a:pt x="5660509" y="1860898"/>
                  <a:pt x="5613625" y="1907782"/>
                  <a:pt x="5555791" y="1907782"/>
                </a:cubicBezTo>
                <a:lnTo>
                  <a:pt x="104718" y="1907782"/>
                </a:lnTo>
                <a:cubicBezTo>
                  <a:pt x="46884" y="1907782"/>
                  <a:pt x="0" y="1860898"/>
                  <a:pt x="0" y="1803064"/>
                </a:cubicBezTo>
                <a:lnTo>
                  <a:pt x="0" y="104718"/>
                </a:lnTo>
                <a:cubicBezTo>
                  <a:pt x="0" y="46923"/>
                  <a:pt x="46923" y="0"/>
                  <a:pt x="104718" y="0"/>
                </a:cubicBezTo>
                <a:close/>
              </a:path>
            </a:pathLst>
          </a:custGeom>
          <a:solidFill>
            <a:srgbClr val="2D3748"/>
          </a:solidFill>
          <a:ln cap="flat" cmpd="sng" w="20300">
            <a:solidFill>
              <a:srgbClr val="F6A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5"/>
          <p:cNvSpPr/>
          <p:nvPr/>
        </p:nvSpPr>
        <p:spPr>
          <a:xfrm>
            <a:off x="6320836" y="1305597"/>
            <a:ext cx="5454545" cy="244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4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Numerosity Reduction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5"/>
          <p:cNvSpPr/>
          <p:nvPr/>
        </p:nvSpPr>
        <p:spPr>
          <a:xfrm>
            <a:off x="6320836" y="1654687"/>
            <a:ext cx="5428364" cy="200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alternate, smaller data representations through parametric and non-parametric methods.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5"/>
          <p:cNvSpPr/>
          <p:nvPr/>
        </p:nvSpPr>
        <p:spPr>
          <a:xfrm>
            <a:off x="6338291" y="1957960"/>
            <a:ext cx="2618182" cy="960000"/>
          </a:xfrm>
          <a:custGeom>
            <a:rect b="b" l="l" r="r" t="t"/>
            <a:pathLst>
              <a:path extrusionOk="0" h="960000" w="2618182">
                <a:moveTo>
                  <a:pt x="34909" y="0"/>
                </a:moveTo>
                <a:lnTo>
                  <a:pt x="2548361" y="0"/>
                </a:lnTo>
                <a:cubicBezTo>
                  <a:pt x="2586922" y="0"/>
                  <a:pt x="2618182" y="31260"/>
                  <a:pt x="2618182" y="69821"/>
                </a:cubicBezTo>
                <a:lnTo>
                  <a:pt x="2618182" y="890179"/>
                </a:lnTo>
                <a:cubicBezTo>
                  <a:pt x="2618182" y="928740"/>
                  <a:pt x="2586922" y="960000"/>
                  <a:pt x="2548361" y="960000"/>
                </a:cubicBezTo>
                <a:lnTo>
                  <a:pt x="34909" y="960000"/>
                </a:lnTo>
                <a:cubicBezTo>
                  <a:pt x="15629" y="960000"/>
                  <a:pt x="0" y="944371"/>
                  <a:pt x="0" y="925091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5"/>
          <p:cNvSpPr/>
          <p:nvPr/>
        </p:nvSpPr>
        <p:spPr>
          <a:xfrm>
            <a:off x="6338291" y="1957960"/>
            <a:ext cx="34909" cy="960000"/>
          </a:xfrm>
          <a:custGeom>
            <a:rect b="b" l="l" r="r" t="t"/>
            <a:pathLst>
              <a:path extrusionOk="0" h="960000" w="34909">
                <a:moveTo>
                  <a:pt x="34909" y="0"/>
                </a:moveTo>
                <a:lnTo>
                  <a:pt x="34909" y="0"/>
                </a:lnTo>
                <a:lnTo>
                  <a:pt x="34909" y="960000"/>
                </a:lnTo>
                <a:lnTo>
                  <a:pt x="34909" y="960000"/>
                </a:lnTo>
                <a:cubicBezTo>
                  <a:pt x="15629" y="960000"/>
                  <a:pt x="0" y="944371"/>
                  <a:pt x="0" y="925091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5"/>
          <p:cNvSpPr/>
          <p:nvPr/>
        </p:nvSpPr>
        <p:spPr>
          <a:xfrm>
            <a:off x="6460473" y="2062688"/>
            <a:ext cx="2461091" cy="209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Parametric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5"/>
          <p:cNvSpPr/>
          <p:nvPr/>
        </p:nvSpPr>
        <p:spPr>
          <a:xfrm>
            <a:off x="6460473" y="2307051"/>
            <a:ext cx="2452364" cy="506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Assume a model, estimate parameters, discard rest. E.g., Linear/Log-Linear Regression.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5"/>
          <p:cNvSpPr/>
          <p:nvPr/>
        </p:nvSpPr>
        <p:spPr>
          <a:xfrm>
            <a:off x="9076255" y="1957960"/>
            <a:ext cx="2618182" cy="960000"/>
          </a:xfrm>
          <a:custGeom>
            <a:rect b="b" l="l" r="r" t="t"/>
            <a:pathLst>
              <a:path extrusionOk="0" h="960000" w="2618182">
                <a:moveTo>
                  <a:pt x="34909" y="0"/>
                </a:moveTo>
                <a:lnTo>
                  <a:pt x="2548361" y="0"/>
                </a:lnTo>
                <a:cubicBezTo>
                  <a:pt x="2586922" y="0"/>
                  <a:pt x="2618182" y="31260"/>
                  <a:pt x="2618182" y="69821"/>
                </a:cubicBezTo>
                <a:lnTo>
                  <a:pt x="2618182" y="890179"/>
                </a:lnTo>
                <a:cubicBezTo>
                  <a:pt x="2618182" y="928740"/>
                  <a:pt x="2586922" y="960000"/>
                  <a:pt x="2548361" y="960000"/>
                </a:cubicBezTo>
                <a:lnTo>
                  <a:pt x="34909" y="960000"/>
                </a:lnTo>
                <a:cubicBezTo>
                  <a:pt x="15629" y="960000"/>
                  <a:pt x="0" y="944371"/>
                  <a:pt x="0" y="925091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5"/>
          <p:cNvSpPr/>
          <p:nvPr/>
        </p:nvSpPr>
        <p:spPr>
          <a:xfrm>
            <a:off x="9076255" y="1957960"/>
            <a:ext cx="34909" cy="960000"/>
          </a:xfrm>
          <a:custGeom>
            <a:rect b="b" l="l" r="r" t="t"/>
            <a:pathLst>
              <a:path extrusionOk="0" h="960000" w="34909">
                <a:moveTo>
                  <a:pt x="34909" y="0"/>
                </a:moveTo>
                <a:lnTo>
                  <a:pt x="34909" y="0"/>
                </a:lnTo>
                <a:lnTo>
                  <a:pt x="34909" y="960000"/>
                </a:lnTo>
                <a:lnTo>
                  <a:pt x="34909" y="960000"/>
                </a:lnTo>
                <a:cubicBezTo>
                  <a:pt x="15629" y="960000"/>
                  <a:pt x="0" y="944371"/>
                  <a:pt x="0" y="925091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5"/>
          <p:cNvSpPr/>
          <p:nvPr/>
        </p:nvSpPr>
        <p:spPr>
          <a:xfrm>
            <a:off x="9198437" y="2062688"/>
            <a:ext cx="2461091" cy="209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Non-Parametric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5"/>
          <p:cNvSpPr/>
          <p:nvPr/>
        </p:nvSpPr>
        <p:spPr>
          <a:xfrm>
            <a:off x="9198437" y="2307051"/>
            <a:ext cx="2452364" cy="506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model assumption. More uniform reduction. E.g., Histograms, Clustering, Sampling.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5"/>
          <p:cNvSpPr/>
          <p:nvPr/>
        </p:nvSpPr>
        <p:spPr>
          <a:xfrm>
            <a:off x="6184691" y="3174102"/>
            <a:ext cx="5664000" cy="1745455"/>
          </a:xfrm>
          <a:custGeom>
            <a:rect b="b" l="l" r="r" t="t"/>
            <a:pathLst>
              <a:path extrusionOk="0" h="1745455" w="5664000">
                <a:moveTo>
                  <a:pt x="34909" y="0"/>
                </a:moveTo>
                <a:lnTo>
                  <a:pt x="5559273" y="0"/>
                </a:lnTo>
                <a:cubicBezTo>
                  <a:pt x="5617112" y="0"/>
                  <a:pt x="5664000" y="46888"/>
                  <a:pt x="5664000" y="104727"/>
                </a:cubicBezTo>
                <a:lnTo>
                  <a:pt x="5664000" y="1640727"/>
                </a:lnTo>
                <a:cubicBezTo>
                  <a:pt x="5664000" y="1698567"/>
                  <a:pt x="5617112" y="1745455"/>
                  <a:pt x="5559273" y="1745455"/>
                </a:cubicBezTo>
                <a:lnTo>
                  <a:pt x="34909" y="1745455"/>
                </a:lnTo>
                <a:cubicBezTo>
                  <a:pt x="15629" y="1745455"/>
                  <a:pt x="0" y="1729825"/>
                  <a:pt x="0" y="1710545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2D37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5"/>
          <p:cNvSpPr/>
          <p:nvPr/>
        </p:nvSpPr>
        <p:spPr>
          <a:xfrm>
            <a:off x="6184691" y="3174102"/>
            <a:ext cx="34909" cy="1745455"/>
          </a:xfrm>
          <a:custGeom>
            <a:rect b="b" l="l" r="r" t="t"/>
            <a:pathLst>
              <a:path extrusionOk="0" h="1745455" w="34909">
                <a:moveTo>
                  <a:pt x="34909" y="0"/>
                </a:moveTo>
                <a:lnTo>
                  <a:pt x="34909" y="0"/>
                </a:lnTo>
                <a:lnTo>
                  <a:pt x="34909" y="1745455"/>
                </a:lnTo>
                <a:lnTo>
                  <a:pt x="34909" y="1745455"/>
                </a:lnTo>
                <a:cubicBezTo>
                  <a:pt x="15629" y="1745455"/>
                  <a:pt x="0" y="1729825"/>
                  <a:pt x="0" y="1710545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5"/>
          <p:cNvSpPr/>
          <p:nvPr/>
        </p:nvSpPr>
        <p:spPr>
          <a:xfrm>
            <a:off x="6298146" y="3313739"/>
            <a:ext cx="5454545" cy="244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74">
                <a:solidFill>
                  <a:srgbClr val="F6AD55"/>
                </a:solidFill>
                <a:latin typeface="Liter"/>
                <a:ea typeface="Liter"/>
                <a:cs typeface="Liter"/>
                <a:sym typeface="Liter"/>
              </a:rPr>
              <a:t>Non-Parametric Techniques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5"/>
          <p:cNvSpPr/>
          <p:nvPr/>
        </p:nvSpPr>
        <p:spPr>
          <a:xfrm>
            <a:off x="6341782" y="3662830"/>
            <a:ext cx="2644364" cy="523636"/>
          </a:xfrm>
          <a:custGeom>
            <a:rect b="b" l="l" r="r" t="t"/>
            <a:pathLst>
              <a:path extrusionOk="0" h="523636" w="2644364">
                <a:moveTo>
                  <a:pt x="34911" y="0"/>
                </a:moveTo>
                <a:lnTo>
                  <a:pt x="2609453" y="0"/>
                </a:lnTo>
                <a:cubicBezTo>
                  <a:pt x="2628734" y="0"/>
                  <a:pt x="2644364" y="15630"/>
                  <a:pt x="2644364" y="34911"/>
                </a:cubicBezTo>
                <a:lnTo>
                  <a:pt x="2644364" y="488726"/>
                </a:lnTo>
                <a:cubicBezTo>
                  <a:pt x="2644364" y="508006"/>
                  <a:pt x="2628734" y="523636"/>
                  <a:pt x="2609453" y="523636"/>
                </a:cubicBezTo>
                <a:lnTo>
                  <a:pt x="34911" y="523636"/>
                </a:lnTo>
                <a:cubicBezTo>
                  <a:pt x="15630" y="523636"/>
                  <a:pt x="0" y="508006"/>
                  <a:pt x="0" y="488726"/>
                </a:cubicBezTo>
                <a:lnTo>
                  <a:pt x="0" y="34911"/>
                </a:lnTo>
                <a:cubicBezTo>
                  <a:pt x="0" y="15643"/>
                  <a:pt x="15643" y="0"/>
                  <a:pt x="34911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5"/>
          <p:cNvSpPr/>
          <p:nvPr/>
        </p:nvSpPr>
        <p:spPr>
          <a:xfrm>
            <a:off x="7578109" y="3732648"/>
            <a:ext cx="174545" cy="174545"/>
          </a:xfrm>
          <a:custGeom>
            <a:rect b="b" l="l" r="r" t="t"/>
            <a:pathLst>
              <a:path extrusionOk="0" h="174545" w="174545">
                <a:moveTo>
                  <a:pt x="10909" y="10909"/>
                </a:moveTo>
                <a:cubicBezTo>
                  <a:pt x="16943" y="10909"/>
                  <a:pt x="21818" y="15784"/>
                  <a:pt x="21818" y="21818"/>
                </a:cubicBezTo>
                <a:lnTo>
                  <a:pt x="21818" y="136364"/>
                </a:lnTo>
                <a:cubicBezTo>
                  <a:pt x="21818" y="139364"/>
                  <a:pt x="24273" y="141818"/>
                  <a:pt x="27273" y="141818"/>
                </a:cubicBezTo>
                <a:lnTo>
                  <a:pt x="163636" y="141818"/>
                </a:lnTo>
                <a:cubicBezTo>
                  <a:pt x="169670" y="141818"/>
                  <a:pt x="174545" y="146693"/>
                  <a:pt x="174545" y="152727"/>
                </a:cubicBezTo>
                <a:cubicBezTo>
                  <a:pt x="174545" y="158761"/>
                  <a:pt x="169670" y="163636"/>
                  <a:pt x="163636" y="163636"/>
                </a:cubicBezTo>
                <a:lnTo>
                  <a:pt x="27273" y="163636"/>
                </a:lnTo>
                <a:cubicBezTo>
                  <a:pt x="12205" y="163636"/>
                  <a:pt x="0" y="151432"/>
                  <a:pt x="0" y="136364"/>
                </a:cubicBezTo>
                <a:lnTo>
                  <a:pt x="0" y="21818"/>
                </a:lnTo>
                <a:cubicBezTo>
                  <a:pt x="0" y="15784"/>
                  <a:pt x="4875" y="10909"/>
                  <a:pt x="10909" y="10909"/>
                </a:cubicBezTo>
                <a:close/>
                <a:moveTo>
                  <a:pt x="43636" y="32727"/>
                </a:moveTo>
                <a:cubicBezTo>
                  <a:pt x="43636" y="26693"/>
                  <a:pt x="48511" y="21818"/>
                  <a:pt x="54545" y="21818"/>
                </a:cubicBezTo>
                <a:lnTo>
                  <a:pt x="120000" y="21818"/>
                </a:lnTo>
                <a:cubicBezTo>
                  <a:pt x="126034" y="21818"/>
                  <a:pt x="130909" y="26693"/>
                  <a:pt x="130909" y="32727"/>
                </a:cubicBezTo>
                <a:cubicBezTo>
                  <a:pt x="130909" y="38761"/>
                  <a:pt x="126034" y="43636"/>
                  <a:pt x="120000" y="43636"/>
                </a:cubicBezTo>
                <a:lnTo>
                  <a:pt x="54545" y="43636"/>
                </a:lnTo>
                <a:cubicBezTo>
                  <a:pt x="48511" y="43636"/>
                  <a:pt x="43636" y="38761"/>
                  <a:pt x="43636" y="32727"/>
                </a:cubicBezTo>
                <a:close/>
                <a:moveTo>
                  <a:pt x="54545" y="60000"/>
                </a:moveTo>
                <a:lnTo>
                  <a:pt x="98182" y="60000"/>
                </a:lnTo>
                <a:cubicBezTo>
                  <a:pt x="104216" y="60000"/>
                  <a:pt x="109091" y="64875"/>
                  <a:pt x="109091" y="70909"/>
                </a:cubicBezTo>
                <a:cubicBezTo>
                  <a:pt x="109091" y="76943"/>
                  <a:pt x="104216" y="81818"/>
                  <a:pt x="98182" y="81818"/>
                </a:cubicBezTo>
                <a:lnTo>
                  <a:pt x="54545" y="81818"/>
                </a:lnTo>
                <a:cubicBezTo>
                  <a:pt x="48511" y="81818"/>
                  <a:pt x="43636" y="76943"/>
                  <a:pt x="43636" y="70909"/>
                </a:cubicBezTo>
                <a:cubicBezTo>
                  <a:pt x="43636" y="64875"/>
                  <a:pt x="48511" y="60000"/>
                  <a:pt x="54545" y="60000"/>
                </a:cubicBezTo>
                <a:close/>
                <a:moveTo>
                  <a:pt x="54545" y="98182"/>
                </a:moveTo>
                <a:lnTo>
                  <a:pt x="141818" y="98182"/>
                </a:lnTo>
                <a:cubicBezTo>
                  <a:pt x="147852" y="98182"/>
                  <a:pt x="152727" y="103057"/>
                  <a:pt x="152727" y="109091"/>
                </a:cubicBezTo>
                <a:cubicBezTo>
                  <a:pt x="152727" y="115125"/>
                  <a:pt x="147852" y="120000"/>
                  <a:pt x="141818" y="120000"/>
                </a:cubicBezTo>
                <a:lnTo>
                  <a:pt x="54545" y="120000"/>
                </a:lnTo>
                <a:cubicBezTo>
                  <a:pt x="48511" y="120000"/>
                  <a:pt x="43636" y="115125"/>
                  <a:pt x="43636" y="109091"/>
                </a:cubicBezTo>
                <a:cubicBezTo>
                  <a:pt x="43636" y="103057"/>
                  <a:pt x="48511" y="98182"/>
                  <a:pt x="54545" y="98182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5"/>
          <p:cNvSpPr/>
          <p:nvPr/>
        </p:nvSpPr>
        <p:spPr>
          <a:xfrm>
            <a:off x="6381055" y="3942102"/>
            <a:ext cx="2565818" cy="174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Histogram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5"/>
          <p:cNvSpPr/>
          <p:nvPr/>
        </p:nvSpPr>
        <p:spPr>
          <a:xfrm>
            <a:off x="9058800" y="3662830"/>
            <a:ext cx="2644364" cy="523636"/>
          </a:xfrm>
          <a:custGeom>
            <a:rect b="b" l="l" r="r" t="t"/>
            <a:pathLst>
              <a:path extrusionOk="0" h="523636" w="2644364">
                <a:moveTo>
                  <a:pt x="34911" y="0"/>
                </a:moveTo>
                <a:lnTo>
                  <a:pt x="2609453" y="0"/>
                </a:lnTo>
                <a:cubicBezTo>
                  <a:pt x="2628734" y="0"/>
                  <a:pt x="2644364" y="15630"/>
                  <a:pt x="2644364" y="34911"/>
                </a:cubicBezTo>
                <a:lnTo>
                  <a:pt x="2644364" y="488726"/>
                </a:lnTo>
                <a:cubicBezTo>
                  <a:pt x="2644364" y="508006"/>
                  <a:pt x="2628734" y="523636"/>
                  <a:pt x="2609453" y="523636"/>
                </a:cubicBezTo>
                <a:lnTo>
                  <a:pt x="34911" y="523636"/>
                </a:lnTo>
                <a:cubicBezTo>
                  <a:pt x="15630" y="523636"/>
                  <a:pt x="0" y="508006"/>
                  <a:pt x="0" y="488726"/>
                </a:cubicBezTo>
                <a:lnTo>
                  <a:pt x="0" y="34911"/>
                </a:lnTo>
                <a:cubicBezTo>
                  <a:pt x="0" y="15643"/>
                  <a:pt x="15643" y="0"/>
                  <a:pt x="34911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5"/>
          <p:cNvSpPr/>
          <p:nvPr/>
        </p:nvSpPr>
        <p:spPr>
          <a:xfrm>
            <a:off x="10295127" y="3732648"/>
            <a:ext cx="174545" cy="174545"/>
          </a:xfrm>
          <a:custGeom>
            <a:rect b="b" l="l" r="r" t="t"/>
            <a:pathLst>
              <a:path extrusionOk="0" h="174545" w="174545">
                <a:moveTo>
                  <a:pt x="0" y="27273"/>
                </a:moveTo>
                <a:cubicBezTo>
                  <a:pt x="0" y="18239"/>
                  <a:pt x="7330" y="10909"/>
                  <a:pt x="16364" y="10909"/>
                </a:cubicBezTo>
                <a:lnTo>
                  <a:pt x="49091" y="10909"/>
                </a:lnTo>
                <a:cubicBezTo>
                  <a:pt x="58125" y="10909"/>
                  <a:pt x="65455" y="18239"/>
                  <a:pt x="65455" y="27273"/>
                </a:cubicBezTo>
                <a:lnTo>
                  <a:pt x="65455" y="32727"/>
                </a:lnTo>
                <a:lnTo>
                  <a:pt x="109091" y="32727"/>
                </a:lnTo>
                <a:lnTo>
                  <a:pt x="109091" y="27273"/>
                </a:lnTo>
                <a:cubicBezTo>
                  <a:pt x="109091" y="18239"/>
                  <a:pt x="116420" y="10909"/>
                  <a:pt x="125455" y="10909"/>
                </a:cubicBezTo>
                <a:lnTo>
                  <a:pt x="158182" y="10909"/>
                </a:lnTo>
                <a:cubicBezTo>
                  <a:pt x="167216" y="10909"/>
                  <a:pt x="174545" y="18239"/>
                  <a:pt x="174545" y="27273"/>
                </a:cubicBezTo>
                <a:lnTo>
                  <a:pt x="174545" y="60000"/>
                </a:lnTo>
                <a:cubicBezTo>
                  <a:pt x="174545" y="69034"/>
                  <a:pt x="167216" y="76364"/>
                  <a:pt x="158182" y="76364"/>
                </a:cubicBezTo>
                <a:lnTo>
                  <a:pt x="125455" y="76364"/>
                </a:lnTo>
                <a:cubicBezTo>
                  <a:pt x="116420" y="76364"/>
                  <a:pt x="109091" y="69034"/>
                  <a:pt x="109091" y="60000"/>
                </a:cubicBezTo>
                <a:lnTo>
                  <a:pt x="109091" y="54545"/>
                </a:lnTo>
                <a:lnTo>
                  <a:pt x="65455" y="54545"/>
                </a:lnTo>
                <a:lnTo>
                  <a:pt x="65455" y="60000"/>
                </a:lnTo>
                <a:cubicBezTo>
                  <a:pt x="65455" y="62489"/>
                  <a:pt x="64875" y="64875"/>
                  <a:pt x="63886" y="66989"/>
                </a:cubicBezTo>
                <a:lnTo>
                  <a:pt x="87273" y="98182"/>
                </a:lnTo>
                <a:lnTo>
                  <a:pt x="114545" y="98182"/>
                </a:lnTo>
                <a:cubicBezTo>
                  <a:pt x="123580" y="98182"/>
                  <a:pt x="130909" y="105511"/>
                  <a:pt x="130909" y="114545"/>
                </a:cubicBezTo>
                <a:lnTo>
                  <a:pt x="130909" y="147273"/>
                </a:lnTo>
                <a:cubicBezTo>
                  <a:pt x="130909" y="156307"/>
                  <a:pt x="123580" y="163636"/>
                  <a:pt x="114545" y="163636"/>
                </a:cubicBezTo>
                <a:lnTo>
                  <a:pt x="81818" y="163636"/>
                </a:lnTo>
                <a:cubicBezTo>
                  <a:pt x="72784" y="163636"/>
                  <a:pt x="65455" y="156307"/>
                  <a:pt x="65455" y="147273"/>
                </a:cubicBezTo>
                <a:lnTo>
                  <a:pt x="65455" y="114545"/>
                </a:lnTo>
                <a:cubicBezTo>
                  <a:pt x="65455" y="112057"/>
                  <a:pt x="66034" y="109670"/>
                  <a:pt x="67023" y="107557"/>
                </a:cubicBezTo>
                <a:lnTo>
                  <a:pt x="43636" y="76364"/>
                </a:lnTo>
                <a:lnTo>
                  <a:pt x="16364" y="76364"/>
                </a:lnTo>
                <a:cubicBezTo>
                  <a:pt x="7330" y="76364"/>
                  <a:pt x="0" y="69034"/>
                  <a:pt x="0" y="60000"/>
                </a:cubicBezTo>
                <a:lnTo>
                  <a:pt x="0" y="27273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5"/>
          <p:cNvSpPr/>
          <p:nvPr/>
        </p:nvSpPr>
        <p:spPr>
          <a:xfrm>
            <a:off x="9098073" y="3942102"/>
            <a:ext cx="2565818" cy="174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Clustering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5"/>
          <p:cNvSpPr/>
          <p:nvPr/>
        </p:nvSpPr>
        <p:spPr>
          <a:xfrm>
            <a:off x="6341782" y="4256284"/>
            <a:ext cx="2644364" cy="523636"/>
          </a:xfrm>
          <a:custGeom>
            <a:rect b="b" l="l" r="r" t="t"/>
            <a:pathLst>
              <a:path extrusionOk="0" h="523636" w="2644364">
                <a:moveTo>
                  <a:pt x="34911" y="0"/>
                </a:moveTo>
                <a:lnTo>
                  <a:pt x="2609453" y="0"/>
                </a:lnTo>
                <a:cubicBezTo>
                  <a:pt x="2628734" y="0"/>
                  <a:pt x="2644364" y="15630"/>
                  <a:pt x="2644364" y="34911"/>
                </a:cubicBezTo>
                <a:lnTo>
                  <a:pt x="2644364" y="488726"/>
                </a:lnTo>
                <a:cubicBezTo>
                  <a:pt x="2644364" y="508006"/>
                  <a:pt x="2628734" y="523636"/>
                  <a:pt x="2609453" y="523636"/>
                </a:cubicBezTo>
                <a:lnTo>
                  <a:pt x="34911" y="523636"/>
                </a:lnTo>
                <a:cubicBezTo>
                  <a:pt x="15630" y="523636"/>
                  <a:pt x="0" y="508006"/>
                  <a:pt x="0" y="488726"/>
                </a:cubicBezTo>
                <a:lnTo>
                  <a:pt x="0" y="34911"/>
                </a:lnTo>
                <a:cubicBezTo>
                  <a:pt x="0" y="15643"/>
                  <a:pt x="15643" y="0"/>
                  <a:pt x="34911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5"/>
          <p:cNvSpPr/>
          <p:nvPr/>
        </p:nvSpPr>
        <p:spPr>
          <a:xfrm>
            <a:off x="7578109" y="4326102"/>
            <a:ext cx="174545" cy="174545"/>
          </a:xfrm>
          <a:custGeom>
            <a:rect b="b" l="l" r="r" t="t"/>
            <a:pathLst>
              <a:path extrusionOk="0" h="174545" w="174545">
                <a:moveTo>
                  <a:pt x="137659" y="11727"/>
                </a:moveTo>
                <a:cubicBezTo>
                  <a:pt x="141750" y="10023"/>
                  <a:pt x="146420" y="10977"/>
                  <a:pt x="149557" y="14080"/>
                </a:cubicBezTo>
                <a:lnTo>
                  <a:pt x="171375" y="35898"/>
                </a:lnTo>
                <a:cubicBezTo>
                  <a:pt x="173420" y="37943"/>
                  <a:pt x="174580" y="40705"/>
                  <a:pt x="174580" y="43602"/>
                </a:cubicBezTo>
                <a:cubicBezTo>
                  <a:pt x="174580" y="46500"/>
                  <a:pt x="173420" y="49261"/>
                  <a:pt x="171375" y="51307"/>
                </a:cubicBezTo>
                <a:lnTo>
                  <a:pt x="149557" y="73125"/>
                </a:lnTo>
                <a:cubicBezTo>
                  <a:pt x="146420" y="76261"/>
                  <a:pt x="141750" y="77182"/>
                  <a:pt x="137659" y="75477"/>
                </a:cubicBezTo>
                <a:cubicBezTo>
                  <a:pt x="133568" y="73773"/>
                  <a:pt x="130909" y="69852"/>
                  <a:pt x="130909" y="65455"/>
                </a:cubicBezTo>
                <a:lnTo>
                  <a:pt x="130909" y="54545"/>
                </a:lnTo>
                <a:lnTo>
                  <a:pt x="120000" y="54545"/>
                </a:lnTo>
                <a:cubicBezTo>
                  <a:pt x="116557" y="54545"/>
                  <a:pt x="113318" y="56148"/>
                  <a:pt x="111273" y="58909"/>
                </a:cubicBezTo>
                <a:lnTo>
                  <a:pt x="100227" y="73636"/>
                </a:lnTo>
                <a:lnTo>
                  <a:pt x="86591" y="55466"/>
                </a:lnTo>
                <a:lnTo>
                  <a:pt x="93818" y="45818"/>
                </a:lnTo>
                <a:cubicBezTo>
                  <a:pt x="99989" y="37568"/>
                  <a:pt x="109705" y="32727"/>
                  <a:pt x="120000" y="32727"/>
                </a:cubicBezTo>
                <a:lnTo>
                  <a:pt x="130909" y="32727"/>
                </a:lnTo>
                <a:lnTo>
                  <a:pt x="130909" y="21818"/>
                </a:lnTo>
                <a:cubicBezTo>
                  <a:pt x="130909" y="17420"/>
                  <a:pt x="133568" y="13432"/>
                  <a:pt x="137659" y="11727"/>
                </a:cubicBezTo>
                <a:close/>
                <a:moveTo>
                  <a:pt x="52500" y="100909"/>
                </a:moveTo>
                <a:lnTo>
                  <a:pt x="66136" y="119080"/>
                </a:lnTo>
                <a:lnTo>
                  <a:pt x="58909" y="128727"/>
                </a:lnTo>
                <a:cubicBezTo>
                  <a:pt x="52739" y="136977"/>
                  <a:pt x="43023" y="141818"/>
                  <a:pt x="32727" y="141818"/>
                </a:cubicBezTo>
                <a:lnTo>
                  <a:pt x="10909" y="141818"/>
                </a:lnTo>
                <a:cubicBezTo>
                  <a:pt x="4875" y="141818"/>
                  <a:pt x="0" y="136943"/>
                  <a:pt x="0" y="130909"/>
                </a:cubicBezTo>
                <a:cubicBezTo>
                  <a:pt x="0" y="124875"/>
                  <a:pt x="4875" y="120000"/>
                  <a:pt x="10909" y="120000"/>
                </a:cubicBezTo>
                <a:lnTo>
                  <a:pt x="32727" y="120000"/>
                </a:lnTo>
                <a:cubicBezTo>
                  <a:pt x="36170" y="120000"/>
                  <a:pt x="39409" y="118398"/>
                  <a:pt x="41455" y="115636"/>
                </a:cubicBezTo>
                <a:lnTo>
                  <a:pt x="52500" y="100909"/>
                </a:lnTo>
                <a:close/>
                <a:moveTo>
                  <a:pt x="149523" y="160432"/>
                </a:moveTo>
                <a:cubicBezTo>
                  <a:pt x="146386" y="163568"/>
                  <a:pt x="141716" y="164489"/>
                  <a:pt x="137625" y="162784"/>
                </a:cubicBezTo>
                <a:cubicBezTo>
                  <a:pt x="133534" y="161080"/>
                  <a:pt x="130909" y="157125"/>
                  <a:pt x="130909" y="152727"/>
                </a:cubicBezTo>
                <a:lnTo>
                  <a:pt x="130909" y="141818"/>
                </a:lnTo>
                <a:lnTo>
                  <a:pt x="120000" y="141818"/>
                </a:lnTo>
                <a:cubicBezTo>
                  <a:pt x="109705" y="141818"/>
                  <a:pt x="99989" y="136977"/>
                  <a:pt x="93818" y="128727"/>
                </a:cubicBezTo>
                <a:lnTo>
                  <a:pt x="41455" y="58909"/>
                </a:lnTo>
                <a:cubicBezTo>
                  <a:pt x="39409" y="56148"/>
                  <a:pt x="36170" y="54545"/>
                  <a:pt x="32727" y="54545"/>
                </a:cubicBezTo>
                <a:lnTo>
                  <a:pt x="10909" y="54545"/>
                </a:lnTo>
                <a:cubicBezTo>
                  <a:pt x="4875" y="54545"/>
                  <a:pt x="0" y="49670"/>
                  <a:pt x="0" y="43636"/>
                </a:cubicBezTo>
                <a:cubicBezTo>
                  <a:pt x="0" y="37602"/>
                  <a:pt x="4875" y="32727"/>
                  <a:pt x="10909" y="32727"/>
                </a:cubicBezTo>
                <a:lnTo>
                  <a:pt x="32727" y="32727"/>
                </a:lnTo>
                <a:cubicBezTo>
                  <a:pt x="43023" y="32727"/>
                  <a:pt x="52739" y="37568"/>
                  <a:pt x="58909" y="45818"/>
                </a:cubicBezTo>
                <a:lnTo>
                  <a:pt x="111273" y="115636"/>
                </a:lnTo>
                <a:cubicBezTo>
                  <a:pt x="113318" y="118398"/>
                  <a:pt x="116557" y="120000"/>
                  <a:pt x="120000" y="120000"/>
                </a:cubicBezTo>
                <a:lnTo>
                  <a:pt x="130909" y="120000"/>
                </a:lnTo>
                <a:lnTo>
                  <a:pt x="130909" y="109091"/>
                </a:lnTo>
                <a:cubicBezTo>
                  <a:pt x="130909" y="104693"/>
                  <a:pt x="133568" y="100705"/>
                  <a:pt x="137659" y="99000"/>
                </a:cubicBezTo>
                <a:cubicBezTo>
                  <a:pt x="141750" y="97295"/>
                  <a:pt x="146420" y="98250"/>
                  <a:pt x="149557" y="101352"/>
                </a:cubicBezTo>
                <a:lnTo>
                  <a:pt x="171375" y="123170"/>
                </a:lnTo>
                <a:cubicBezTo>
                  <a:pt x="173420" y="125216"/>
                  <a:pt x="174580" y="127977"/>
                  <a:pt x="174580" y="130875"/>
                </a:cubicBezTo>
                <a:cubicBezTo>
                  <a:pt x="174580" y="133773"/>
                  <a:pt x="173420" y="136534"/>
                  <a:pt x="171375" y="138580"/>
                </a:cubicBezTo>
                <a:lnTo>
                  <a:pt x="149557" y="160398"/>
                </a:ln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5"/>
          <p:cNvSpPr/>
          <p:nvPr/>
        </p:nvSpPr>
        <p:spPr>
          <a:xfrm>
            <a:off x="6381055" y="4535557"/>
            <a:ext cx="2565818" cy="174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5"/>
          <p:cNvSpPr/>
          <p:nvPr/>
        </p:nvSpPr>
        <p:spPr>
          <a:xfrm>
            <a:off x="9058800" y="4256284"/>
            <a:ext cx="2644364" cy="523636"/>
          </a:xfrm>
          <a:custGeom>
            <a:rect b="b" l="l" r="r" t="t"/>
            <a:pathLst>
              <a:path extrusionOk="0" h="523636" w="2644364">
                <a:moveTo>
                  <a:pt x="34911" y="0"/>
                </a:moveTo>
                <a:lnTo>
                  <a:pt x="2609453" y="0"/>
                </a:lnTo>
                <a:cubicBezTo>
                  <a:pt x="2628734" y="0"/>
                  <a:pt x="2644364" y="15630"/>
                  <a:pt x="2644364" y="34911"/>
                </a:cubicBezTo>
                <a:lnTo>
                  <a:pt x="2644364" y="488726"/>
                </a:lnTo>
                <a:cubicBezTo>
                  <a:pt x="2644364" y="508006"/>
                  <a:pt x="2628734" y="523636"/>
                  <a:pt x="2609453" y="523636"/>
                </a:cubicBezTo>
                <a:lnTo>
                  <a:pt x="34911" y="523636"/>
                </a:lnTo>
                <a:cubicBezTo>
                  <a:pt x="15630" y="523636"/>
                  <a:pt x="0" y="508006"/>
                  <a:pt x="0" y="488726"/>
                </a:cubicBezTo>
                <a:lnTo>
                  <a:pt x="0" y="34911"/>
                </a:lnTo>
                <a:cubicBezTo>
                  <a:pt x="0" y="15643"/>
                  <a:pt x="15643" y="0"/>
                  <a:pt x="34911" y="0"/>
                </a:cubicBez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5"/>
          <p:cNvSpPr/>
          <p:nvPr/>
        </p:nvSpPr>
        <p:spPr>
          <a:xfrm>
            <a:off x="10295127" y="4326102"/>
            <a:ext cx="174545" cy="174545"/>
          </a:xfrm>
          <a:custGeom>
            <a:rect b="b" l="l" r="r" t="t"/>
            <a:pathLst>
              <a:path extrusionOk="0" h="174545" w="174545">
                <a:moveTo>
                  <a:pt x="96818" y="-443"/>
                </a:moveTo>
                <a:cubicBezTo>
                  <a:pt x="90920" y="-3852"/>
                  <a:pt x="83625" y="-3852"/>
                  <a:pt x="77727" y="-443"/>
                </a:cubicBezTo>
                <a:lnTo>
                  <a:pt x="49023" y="16125"/>
                </a:lnTo>
                <a:cubicBezTo>
                  <a:pt x="43125" y="19534"/>
                  <a:pt x="39477" y="25841"/>
                  <a:pt x="39477" y="32659"/>
                </a:cubicBezTo>
                <a:lnTo>
                  <a:pt x="39477" y="67398"/>
                </a:lnTo>
                <a:lnTo>
                  <a:pt x="9375" y="84784"/>
                </a:lnTo>
                <a:cubicBezTo>
                  <a:pt x="3477" y="88193"/>
                  <a:pt x="-170" y="94500"/>
                  <a:pt x="-170" y="101318"/>
                </a:cubicBezTo>
                <a:lnTo>
                  <a:pt x="-170" y="134489"/>
                </a:lnTo>
                <a:cubicBezTo>
                  <a:pt x="-170" y="141307"/>
                  <a:pt x="3477" y="147614"/>
                  <a:pt x="9375" y="151023"/>
                </a:cubicBezTo>
                <a:lnTo>
                  <a:pt x="38114" y="167591"/>
                </a:lnTo>
                <a:cubicBezTo>
                  <a:pt x="44011" y="171000"/>
                  <a:pt x="51307" y="171000"/>
                  <a:pt x="57205" y="167591"/>
                </a:cubicBezTo>
                <a:lnTo>
                  <a:pt x="87307" y="150205"/>
                </a:lnTo>
                <a:lnTo>
                  <a:pt x="117409" y="167591"/>
                </a:lnTo>
                <a:cubicBezTo>
                  <a:pt x="123307" y="171000"/>
                  <a:pt x="130602" y="171000"/>
                  <a:pt x="136500" y="167591"/>
                </a:cubicBezTo>
                <a:lnTo>
                  <a:pt x="165170" y="151023"/>
                </a:lnTo>
                <a:cubicBezTo>
                  <a:pt x="171068" y="147614"/>
                  <a:pt x="174716" y="141307"/>
                  <a:pt x="174716" y="134489"/>
                </a:cubicBezTo>
                <a:lnTo>
                  <a:pt x="174716" y="101318"/>
                </a:lnTo>
                <a:cubicBezTo>
                  <a:pt x="174716" y="94500"/>
                  <a:pt x="171068" y="88193"/>
                  <a:pt x="165170" y="84784"/>
                </a:cubicBezTo>
                <a:lnTo>
                  <a:pt x="135068" y="67398"/>
                </a:lnTo>
                <a:lnTo>
                  <a:pt x="135068" y="32659"/>
                </a:lnTo>
                <a:cubicBezTo>
                  <a:pt x="135068" y="25841"/>
                  <a:pt x="131420" y="19534"/>
                  <a:pt x="125523" y="16125"/>
                </a:cubicBezTo>
                <a:lnTo>
                  <a:pt x="96818" y="-443"/>
                </a:lnTo>
                <a:close/>
                <a:moveTo>
                  <a:pt x="79091" y="99750"/>
                </a:moveTo>
                <a:lnTo>
                  <a:pt x="79091" y="136057"/>
                </a:lnTo>
                <a:lnTo>
                  <a:pt x="48989" y="153443"/>
                </a:lnTo>
                <a:cubicBezTo>
                  <a:pt x="48580" y="153682"/>
                  <a:pt x="48102" y="153818"/>
                  <a:pt x="47625" y="153818"/>
                </a:cubicBezTo>
                <a:lnTo>
                  <a:pt x="47625" y="117920"/>
                </a:lnTo>
                <a:lnTo>
                  <a:pt x="79091" y="99750"/>
                </a:lnTo>
                <a:close/>
                <a:moveTo>
                  <a:pt x="157977" y="99955"/>
                </a:moveTo>
                <a:cubicBezTo>
                  <a:pt x="158216" y="100364"/>
                  <a:pt x="158352" y="100841"/>
                  <a:pt x="158352" y="101318"/>
                </a:cubicBezTo>
                <a:lnTo>
                  <a:pt x="158352" y="134489"/>
                </a:lnTo>
                <a:cubicBezTo>
                  <a:pt x="158352" y="135477"/>
                  <a:pt x="157841" y="136364"/>
                  <a:pt x="156989" y="136841"/>
                </a:cubicBezTo>
                <a:lnTo>
                  <a:pt x="128250" y="153409"/>
                </a:lnTo>
                <a:cubicBezTo>
                  <a:pt x="127841" y="153648"/>
                  <a:pt x="127364" y="153784"/>
                  <a:pt x="126886" y="153784"/>
                </a:cubicBezTo>
                <a:lnTo>
                  <a:pt x="126886" y="117886"/>
                </a:lnTo>
                <a:lnTo>
                  <a:pt x="157977" y="99955"/>
                </a:lnTo>
                <a:close/>
                <a:moveTo>
                  <a:pt x="118739" y="32659"/>
                </a:moveTo>
                <a:lnTo>
                  <a:pt x="118739" y="67398"/>
                </a:lnTo>
                <a:lnTo>
                  <a:pt x="87273" y="85568"/>
                </a:lnTo>
                <a:lnTo>
                  <a:pt x="87273" y="49261"/>
                </a:lnTo>
                <a:lnTo>
                  <a:pt x="118364" y="31330"/>
                </a:lnTo>
                <a:cubicBezTo>
                  <a:pt x="118602" y="31739"/>
                  <a:pt x="118739" y="32216"/>
                  <a:pt x="118739" y="32693"/>
                </a:cubicBezTo>
                <a:close/>
              </a:path>
            </a:pathLst>
          </a:custGeom>
          <a:solidFill>
            <a:srgbClr val="F6A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5"/>
          <p:cNvSpPr/>
          <p:nvPr/>
        </p:nvSpPr>
        <p:spPr>
          <a:xfrm>
            <a:off x="9098073" y="4535557"/>
            <a:ext cx="2565818" cy="174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2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Cube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15"/>
          <p:cNvSpPr/>
          <p:nvPr/>
        </p:nvSpPr>
        <p:spPr>
          <a:xfrm>
            <a:off x="6184691" y="5024284"/>
            <a:ext cx="5664000" cy="1291636"/>
          </a:xfrm>
          <a:custGeom>
            <a:rect b="b" l="l" r="r" t="t"/>
            <a:pathLst>
              <a:path extrusionOk="0" h="1291636" w="5664000">
                <a:moveTo>
                  <a:pt x="34909" y="0"/>
                </a:moveTo>
                <a:lnTo>
                  <a:pt x="5594187" y="0"/>
                </a:lnTo>
                <a:cubicBezTo>
                  <a:pt x="5632744" y="0"/>
                  <a:pt x="5664000" y="31256"/>
                  <a:pt x="5664000" y="69813"/>
                </a:cubicBezTo>
                <a:lnTo>
                  <a:pt x="5664000" y="1221823"/>
                </a:lnTo>
                <a:cubicBezTo>
                  <a:pt x="5664000" y="1260380"/>
                  <a:pt x="5632744" y="1291636"/>
                  <a:pt x="5594187" y="1291636"/>
                </a:cubicBezTo>
                <a:lnTo>
                  <a:pt x="34909" y="1291636"/>
                </a:lnTo>
                <a:cubicBezTo>
                  <a:pt x="15629" y="1291636"/>
                  <a:pt x="0" y="1276007"/>
                  <a:pt x="0" y="1256727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gradFill>
            <a:gsLst>
              <a:gs pos="0">
                <a:srgbClr val="4FD1C5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5"/>
          <p:cNvSpPr/>
          <p:nvPr/>
        </p:nvSpPr>
        <p:spPr>
          <a:xfrm>
            <a:off x="6184691" y="5024284"/>
            <a:ext cx="34909" cy="1291636"/>
          </a:xfrm>
          <a:custGeom>
            <a:rect b="b" l="l" r="r" t="t"/>
            <a:pathLst>
              <a:path extrusionOk="0" h="1291636" w="34909">
                <a:moveTo>
                  <a:pt x="34909" y="0"/>
                </a:moveTo>
                <a:lnTo>
                  <a:pt x="34909" y="0"/>
                </a:lnTo>
                <a:lnTo>
                  <a:pt x="34909" y="1291636"/>
                </a:lnTo>
                <a:lnTo>
                  <a:pt x="34909" y="1291636"/>
                </a:lnTo>
                <a:cubicBezTo>
                  <a:pt x="15629" y="1291636"/>
                  <a:pt x="0" y="1276007"/>
                  <a:pt x="0" y="1256727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5"/>
          <p:cNvSpPr/>
          <p:nvPr/>
        </p:nvSpPr>
        <p:spPr>
          <a:xfrm>
            <a:off x="6341782" y="5163920"/>
            <a:ext cx="5445818" cy="244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37">
                <a:solidFill>
                  <a:srgbClr val="4FD1C5"/>
                </a:solidFill>
                <a:latin typeface="Liter"/>
                <a:ea typeface="Liter"/>
                <a:cs typeface="Liter"/>
                <a:sym typeface="Liter"/>
              </a:rPr>
              <a:t>Benefits of Data Reduction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5"/>
          <p:cNvSpPr/>
          <p:nvPr/>
        </p:nvSpPr>
        <p:spPr>
          <a:xfrm>
            <a:off x="6366873" y="5513011"/>
            <a:ext cx="106909" cy="122182"/>
          </a:xfrm>
          <a:custGeom>
            <a:rect b="b" l="l" r="r" t="t"/>
            <a:pathLst>
              <a:path extrusionOk="0" h="122182" w="106909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5"/>
          <p:cNvSpPr/>
          <p:nvPr/>
        </p:nvSpPr>
        <p:spPr>
          <a:xfrm>
            <a:off x="6564328" y="5478102"/>
            <a:ext cx="2574545" cy="209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Reduces volume for easier representation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15"/>
          <p:cNvSpPr/>
          <p:nvPr/>
        </p:nvSpPr>
        <p:spPr>
          <a:xfrm>
            <a:off x="6366873" y="5757375"/>
            <a:ext cx="106909" cy="122182"/>
          </a:xfrm>
          <a:custGeom>
            <a:rect b="b" l="l" r="r" t="t"/>
            <a:pathLst>
              <a:path extrusionOk="0" h="122182" w="106909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5"/>
          <p:cNvSpPr/>
          <p:nvPr/>
        </p:nvSpPr>
        <p:spPr>
          <a:xfrm>
            <a:off x="6564328" y="5722466"/>
            <a:ext cx="2434909" cy="209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Enables advanced analytical algorithms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5"/>
          <p:cNvSpPr/>
          <p:nvPr/>
        </p:nvSpPr>
        <p:spPr>
          <a:xfrm>
            <a:off x="6366873" y="6001739"/>
            <a:ext cx="106909" cy="122182"/>
          </a:xfrm>
          <a:custGeom>
            <a:rect b="b" l="l" r="r" t="t"/>
            <a:pathLst>
              <a:path extrusionOk="0" h="122182" w="106909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4FD1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5"/>
          <p:cNvSpPr/>
          <p:nvPr/>
        </p:nvSpPr>
        <p:spPr>
          <a:xfrm>
            <a:off x="6564328" y="5966830"/>
            <a:ext cx="1972364" cy="2094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E2E8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Reduces storage load and costs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2" name="Google Shape;7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8906" y="105968"/>
            <a:ext cx="1502714" cy="56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202C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d82d20d8f33cc9c8ba5caf03d5dc3be37cdd6cdc.jpg" id="788" name="Google Shape;788;p16"/>
          <p:cNvPicPr preferRelativeResize="0"/>
          <p:nvPr/>
        </p:nvPicPr>
        <p:blipFill rotWithShape="1">
          <a:blip r:embed="rId3">
            <a:alphaModFix amt="40000"/>
          </a:blip>
          <a:srcRect b="0" l="1443" r="1444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789" name="Google Shape;789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202C">
                  <a:alpha val="89803"/>
                </a:srgbClr>
              </a:gs>
              <a:gs pos="50000">
                <a:srgbClr val="1A202C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790" name="Google Shape;790;p16"/>
          <p:cNvSpPr/>
          <p:nvPr/>
        </p:nvSpPr>
        <p:spPr>
          <a:xfrm>
            <a:off x="2717613" y="2740867"/>
            <a:ext cx="6756773" cy="1376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0">
                <a:solidFill>
                  <a:srgbClr val="E2E8F0"/>
                </a:solidFill>
                <a:latin typeface="Liter"/>
                <a:ea typeface="Liter"/>
                <a:cs typeface="Liter"/>
                <a:sym typeface="Liter"/>
              </a:rPr>
              <a:t>Thank You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6"/>
          <p:cNvSpPr/>
          <p:nvPr/>
        </p:nvSpPr>
        <p:spPr>
          <a:xfrm>
            <a:off x="2517696" y="5333762"/>
            <a:ext cx="228600" cy="228600"/>
          </a:xfrm>
          <a:custGeom>
            <a:rect b="b" l="l" r="r" t="t"/>
            <a:pathLst>
              <a:path extrusionOk="0" h="228600" w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1A20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2" name="Google Shape;79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08906" y="105968"/>
            <a:ext cx="1502714" cy="563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